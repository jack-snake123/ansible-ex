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8" r:id="rId5"/>
    <p:sldMasterId id="2147483731" r:id="rId6"/>
  </p:sldMasterIdLst>
  <p:notesMasterIdLst>
    <p:notesMasterId r:id="rId17"/>
  </p:notesMasterIdLst>
  <p:sldIdLst>
    <p:sldId id="421" r:id="rId7"/>
    <p:sldId id="419" r:id="rId8"/>
    <p:sldId id="448" r:id="rId9"/>
    <p:sldId id="459" r:id="rId10"/>
    <p:sldId id="458" r:id="rId11"/>
    <p:sldId id="450" r:id="rId12"/>
    <p:sldId id="456" r:id="rId13"/>
    <p:sldId id="452" r:id="rId14"/>
    <p:sldId id="457" r:id="rId15"/>
    <p:sldId id="429"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176FF689-ED8C-406D-BF4B-F4F3A7E717CA}">
          <p14:sldIdLst>
            <p14:sldId id="421"/>
          </p14:sldIdLst>
        </p14:section>
        <p14:section name="目次" id="{FF1C8471-9567-49D6-AB3F-746413ED1C6F}">
          <p14:sldIdLst>
            <p14:sldId id="419"/>
          </p14:sldIdLst>
        </p14:section>
        <p14:section name="コンテンツ" id="{E67998DE-0636-4792-9685-8600D54F98E0}">
          <p14:sldIdLst>
            <p14:sldId id="448"/>
            <p14:sldId id="459"/>
            <p14:sldId id="458"/>
            <p14:sldId id="450"/>
            <p14:sldId id="456"/>
            <p14:sldId id="452"/>
            <p14:sldId id="457"/>
          </p14:sldIdLst>
        </p14:section>
        <p14:section name="クロージング" id="{68801F03-48D9-46D6-A51C-2AA8E3495331}">
          <p14:sldIdLst>
            <p14:sldId id="42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3399FF"/>
    <a:srgbClr val="CCFFCC"/>
    <a:srgbClr val="FFFF99"/>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4161" autoAdjust="0"/>
  </p:normalViewPr>
  <p:slideViewPr>
    <p:cSldViewPr snapToGrid="0" showGuides="1">
      <p:cViewPr varScale="1">
        <p:scale>
          <a:sx n="66" d="100"/>
          <a:sy n="66" d="100"/>
        </p:scale>
        <p:origin x="1412"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overlay val="0"/>
      <c:spPr>
        <a:noFill/>
        <a:ln>
          <a:noFill/>
        </a:ln>
        <a:effectLst/>
      </c:spPr>
      <c:txPr>
        <a:bodyPr rot="0" spcFirstLastPara="1" vertOverflow="ellipsis" vert="horz" wrap="square" anchor="ctr" anchorCtr="1"/>
        <a:lstStyle/>
        <a:p>
          <a:pPr>
            <a:defRPr sz="1050" b="0" i="0" u="none" strike="noStrike" kern="1200" spc="0" baseline="0">
              <a:solidFill>
                <a:schemeClr val="tx1">
                  <a:lumMod val="65000"/>
                  <a:lumOff val="35000"/>
                </a:schemeClr>
              </a:solidFill>
              <a:latin typeface="+mn-lt"/>
              <a:ea typeface="+mn-ea"/>
              <a:cs typeface="+mn-cs"/>
            </a:defRPr>
          </a:pPr>
          <a:endParaRPr lang="ja-JP"/>
        </a:p>
      </c:txPr>
    </c:title>
    <c:autoTitleDeleted val="0"/>
    <c:plotArea>
      <c:layout/>
      <c:barChart>
        <c:barDir val="col"/>
        <c:grouping val="clustered"/>
        <c:varyColors val="0"/>
        <c:ser>
          <c:idx val="0"/>
          <c:order val="0"/>
          <c:tx>
            <c:strRef>
              <c:f>Sheet1!$L$2</c:f>
              <c:strCache>
                <c:ptCount val="1"/>
                <c:pt idx="0">
                  <c:v>売上額(M)</c:v>
                </c:pt>
              </c:strCache>
            </c:strRef>
          </c:tx>
          <c:spPr>
            <a:solidFill>
              <a:schemeClr val="accent1"/>
            </a:solidFill>
            <a:ln>
              <a:noFill/>
            </a:ln>
            <a:effectLst/>
          </c:spPr>
          <c:invertIfNegative val="0"/>
          <c:cat>
            <c:strRef>
              <c:f>Sheet1!$K$3:$K$7</c:f>
              <c:strCache>
                <c:ptCount val="5"/>
                <c:pt idx="0">
                  <c:v>2020年度</c:v>
                </c:pt>
                <c:pt idx="1">
                  <c:v>2021年度</c:v>
                </c:pt>
                <c:pt idx="2">
                  <c:v>2022年度</c:v>
                </c:pt>
                <c:pt idx="3">
                  <c:v>2023年度</c:v>
                </c:pt>
                <c:pt idx="4">
                  <c:v>2024年度</c:v>
                </c:pt>
              </c:strCache>
            </c:strRef>
          </c:cat>
          <c:val>
            <c:numRef>
              <c:f>Sheet1!$L$3:$L$7</c:f>
              <c:numCache>
                <c:formatCode>General</c:formatCode>
                <c:ptCount val="5"/>
                <c:pt idx="0" formatCode="#,##0">
                  <c:v>53</c:v>
                </c:pt>
                <c:pt idx="1">
                  <c:v>105</c:v>
                </c:pt>
                <c:pt idx="2">
                  <c:v>162</c:v>
                </c:pt>
                <c:pt idx="3">
                  <c:v>218</c:v>
                </c:pt>
                <c:pt idx="4">
                  <c:v>246</c:v>
                </c:pt>
              </c:numCache>
            </c:numRef>
          </c:val>
          <c:extLst>
            <c:ext xmlns:c16="http://schemas.microsoft.com/office/drawing/2014/chart" uri="{C3380CC4-5D6E-409C-BE32-E72D297353CC}">
              <c16:uniqueId val="{00000000-F796-411A-BBF9-9D640D45E654}"/>
            </c:ext>
          </c:extLst>
        </c:ser>
        <c:dLbls>
          <c:showLegendKey val="0"/>
          <c:showVal val="0"/>
          <c:showCatName val="0"/>
          <c:showSerName val="0"/>
          <c:showPercent val="0"/>
          <c:showBubbleSize val="0"/>
        </c:dLbls>
        <c:gapWidth val="219"/>
        <c:overlap val="-27"/>
        <c:axId val="556026120"/>
        <c:axId val="556026840"/>
      </c:barChart>
      <c:catAx>
        <c:axId val="5560261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56026840"/>
        <c:crosses val="autoZero"/>
        <c:auto val="1"/>
        <c:lblAlgn val="ctr"/>
        <c:lblOffset val="100"/>
        <c:noMultiLvlLbl val="0"/>
      </c:catAx>
      <c:valAx>
        <c:axId val="556026840"/>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ja-JP"/>
          </a:p>
        </c:txPr>
        <c:crossAx val="5560261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r>
              <a:rPr lang="ja-JP" altLang="en-US" dirty="0">
                <a:solidFill>
                  <a:schemeClr val="tx1"/>
                </a:solidFill>
              </a:rPr>
              <a:t>運用システム先進</a:t>
            </a:r>
            <a:r>
              <a:rPr lang="en-US" altLang="ja-JP" dirty="0">
                <a:solidFill>
                  <a:schemeClr val="tx1"/>
                </a:solidFill>
              </a:rPr>
              <a:t>G</a:t>
            </a:r>
          </a:p>
          <a:p>
            <a:pPr>
              <a:defRPr sz="1600" b="1">
                <a:solidFill>
                  <a:schemeClr val="tx1"/>
                </a:solidFill>
              </a:defRPr>
            </a:pPr>
            <a:r>
              <a:rPr lang="ja-JP" altLang="en-US" dirty="0">
                <a:solidFill>
                  <a:schemeClr val="tx1"/>
                </a:solidFill>
              </a:rPr>
              <a:t>年代別人数</a:t>
            </a:r>
          </a:p>
        </c:rich>
      </c:tx>
      <c:layout>
        <c:manualLayout>
          <c:xMode val="edge"/>
          <c:yMode val="edge"/>
          <c:x val="0.14293363157806482"/>
          <c:y val="3.9958534883734451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solidFill>
              <a:latin typeface="+mn-lt"/>
              <a:ea typeface="+mn-ea"/>
              <a:cs typeface="+mn-cs"/>
            </a:defRPr>
          </a:pPr>
          <a:endParaRPr lang="ja-JP"/>
        </a:p>
      </c:txPr>
    </c:title>
    <c:autoTitleDeleted val="0"/>
    <c:plotArea>
      <c:layout/>
      <c:pieChart>
        <c:varyColors val="1"/>
        <c:ser>
          <c:idx val="0"/>
          <c:order val="0"/>
          <c:tx>
            <c:strRef>
              <c:f>Sheet1!$G$2</c:f>
              <c:strCache>
                <c:ptCount val="1"/>
                <c:pt idx="0">
                  <c:v>年代別人数</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379-4B6C-9C83-093029179C4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379-4B6C-9C83-093029179C4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379-4B6C-9C83-093029179C4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0379-4B6C-9C83-093029179C46}"/>
              </c:ext>
            </c:extLst>
          </c:dPt>
          <c:dLbls>
            <c:dLbl>
              <c:idx val="0"/>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379-4B6C-9C83-093029179C46}"/>
                </c:ext>
              </c:extLst>
            </c:dLbl>
            <c:dLbl>
              <c:idx val="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379-4B6C-9C83-093029179C46}"/>
                </c:ext>
              </c:extLst>
            </c:dLbl>
            <c:dLbl>
              <c:idx val="2"/>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379-4B6C-9C83-093029179C46}"/>
                </c:ext>
              </c:extLst>
            </c:dLbl>
            <c:dLbl>
              <c:idx val="3"/>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0379-4B6C-9C83-093029179C46}"/>
                </c:ext>
              </c:extLst>
            </c:dLbl>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75000"/>
                        <a:lumOff val="25000"/>
                      </a:schemeClr>
                    </a:solidFill>
                    <a:latin typeface="+mn-lt"/>
                    <a:ea typeface="+mn-ea"/>
                    <a:cs typeface="+mn-cs"/>
                  </a:defRPr>
                </a:pPr>
                <a:endParaRPr lang="ja-JP"/>
              </a:p>
            </c:txPr>
            <c:showLegendKey val="0"/>
            <c:showVal val="0"/>
            <c:showCatName val="0"/>
            <c:showSerName val="0"/>
            <c:showPercent val="0"/>
            <c:showBubbleSize val="0"/>
            <c:extLst>
              <c:ext xmlns:c15="http://schemas.microsoft.com/office/drawing/2012/chart" uri="{CE6537A1-D6FC-4f65-9D91-7224C49458BB}"/>
            </c:extLst>
          </c:dLbls>
          <c:cat>
            <c:strRef>
              <c:f>Sheet1!$F$3:$F$6</c:f>
              <c:strCache>
                <c:ptCount val="4"/>
                <c:pt idx="0">
                  <c:v>～29</c:v>
                </c:pt>
                <c:pt idx="1">
                  <c:v>30～39</c:v>
                </c:pt>
                <c:pt idx="2">
                  <c:v>40～49</c:v>
                </c:pt>
                <c:pt idx="3">
                  <c:v>50～シニア</c:v>
                </c:pt>
              </c:strCache>
            </c:strRef>
          </c:cat>
          <c:val>
            <c:numRef>
              <c:f>Sheet1!$G$3:$G$6</c:f>
              <c:numCache>
                <c:formatCode>General</c:formatCode>
                <c:ptCount val="4"/>
                <c:pt idx="0">
                  <c:v>7</c:v>
                </c:pt>
                <c:pt idx="1">
                  <c:v>1</c:v>
                </c:pt>
                <c:pt idx="2">
                  <c:v>1</c:v>
                </c:pt>
                <c:pt idx="3">
                  <c:v>2</c:v>
                </c:pt>
              </c:numCache>
            </c:numRef>
          </c:val>
          <c:extLst>
            <c:ext xmlns:c16="http://schemas.microsoft.com/office/drawing/2014/chart" uri="{C3380CC4-5D6E-409C-BE32-E72D297353CC}">
              <c16:uniqueId val="{00000008-0379-4B6C-9C83-093029179C46}"/>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5.0000058494651826E-2"/>
          <c:y val="0.82632256467959808"/>
          <c:w val="0.89999988301069633"/>
          <c:h val="6.6703476784356411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ja-JP"/>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ja-JP"/>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894C02-1956-4164-AB22-74F2809D272D}" type="doc">
      <dgm:prSet loTypeId="urn:microsoft.com/office/officeart/2005/8/layout/arrow2" loCatId="process" qsTypeId="urn:microsoft.com/office/officeart/2005/8/quickstyle/simple1" qsCatId="simple" csTypeId="urn:microsoft.com/office/officeart/2005/8/colors/accent1_2" csCatId="accent1" phldr="1"/>
      <dgm:spPr/>
      <dgm:t>
        <a:bodyPr/>
        <a:lstStyle/>
        <a:p>
          <a:endParaRPr kumimoji="1" lang="ja-JP" altLang="en-US"/>
        </a:p>
      </dgm:t>
    </dgm:pt>
    <dgm:pt modelId="{D4DE339C-6C74-4A0A-90B6-43B094270D95}">
      <dgm:prSet phldrT="[テキスト]"/>
      <dgm:spPr/>
      <dgm:t>
        <a:bodyPr/>
        <a:lstStyle/>
        <a:p>
          <a:endParaRPr kumimoji="1" lang="ja-JP" altLang="en-US"/>
        </a:p>
      </dgm:t>
    </dgm:pt>
    <dgm:pt modelId="{DB2A7C65-936B-4378-B38B-82B5A983E6C2}" type="sibTrans" cxnId="{11604C8C-E71D-427C-931B-378B23658D64}">
      <dgm:prSet/>
      <dgm:spPr/>
      <dgm:t>
        <a:bodyPr/>
        <a:lstStyle/>
        <a:p>
          <a:endParaRPr kumimoji="1" lang="ja-JP" altLang="en-US"/>
        </a:p>
      </dgm:t>
    </dgm:pt>
    <dgm:pt modelId="{22C1FC08-2CB8-4533-A22B-1CEC32D79C7B}" type="parTrans" cxnId="{11604C8C-E71D-427C-931B-378B23658D64}">
      <dgm:prSet/>
      <dgm:spPr/>
      <dgm:t>
        <a:bodyPr/>
        <a:lstStyle/>
        <a:p>
          <a:endParaRPr kumimoji="1" lang="ja-JP" altLang="en-US"/>
        </a:p>
      </dgm:t>
    </dgm:pt>
    <dgm:pt modelId="{1F6E8B17-2E59-42F0-854B-050F2295BE89}">
      <dgm:prSet phldrT="[テキスト]"/>
      <dgm:spPr/>
      <dgm:t>
        <a:bodyPr/>
        <a:lstStyle/>
        <a:p>
          <a:endParaRPr kumimoji="1" lang="en-US" altLang="ja-JP" dirty="0"/>
        </a:p>
        <a:p>
          <a:endParaRPr kumimoji="1" lang="ja-JP" altLang="en-US" dirty="0"/>
        </a:p>
      </dgm:t>
    </dgm:pt>
    <dgm:pt modelId="{4132D1E7-4626-4D38-941C-215DF5C2B5BE}" type="sibTrans" cxnId="{EB6C6C8E-5CCF-41C4-990E-9757F9810167}">
      <dgm:prSet/>
      <dgm:spPr/>
      <dgm:t>
        <a:bodyPr/>
        <a:lstStyle/>
        <a:p>
          <a:endParaRPr kumimoji="1" lang="ja-JP" altLang="en-US"/>
        </a:p>
      </dgm:t>
    </dgm:pt>
    <dgm:pt modelId="{9393A171-D891-4874-A94D-85962924A928}" type="parTrans" cxnId="{EB6C6C8E-5CCF-41C4-990E-9757F9810167}">
      <dgm:prSet/>
      <dgm:spPr/>
      <dgm:t>
        <a:bodyPr/>
        <a:lstStyle/>
        <a:p>
          <a:endParaRPr kumimoji="1" lang="ja-JP" altLang="en-US"/>
        </a:p>
      </dgm:t>
    </dgm:pt>
    <dgm:pt modelId="{A61FD969-1FB1-47B9-B3E0-FE3C6F592572}">
      <dgm:prSet phldrT="[テキスト]"/>
      <dgm:spPr/>
      <dgm:t>
        <a:bodyPr/>
        <a:lstStyle/>
        <a:p>
          <a:endParaRPr kumimoji="1" lang="ja-JP" altLang="en-US" dirty="0"/>
        </a:p>
      </dgm:t>
    </dgm:pt>
    <dgm:pt modelId="{3AF581A8-5B3A-4A10-9308-8C9DE6C81B34}" type="sibTrans" cxnId="{533E1CBA-F3B0-4D75-BC13-7A4E88222C11}">
      <dgm:prSet/>
      <dgm:spPr/>
      <dgm:t>
        <a:bodyPr/>
        <a:lstStyle/>
        <a:p>
          <a:endParaRPr kumimoji="1" lang="ja-JP" altLang="en-US"/>
        </a:p>
      </dgm:t>
    </dgm:pt>
    <dgm:pt modelId="{CC73F2DA-7B29-4232-8C00-E8A49C329862}" type="parTrans" cxnId="{533E1CBA-F3B0-4D75-BC13-7A4E88222C11}">
      <dgm:prSet/>
      <dgm:spPr/>
      <dgm:t>
        <a:bodyPr/>
        <a:lstStyle/>
        <a:p>
          <a:endParaRPr kumimoji="1" lang="ja-JP" altLang="en-US"/>
        </a:p>
      </dgm:t>
    </dgm:pt>
    <dgm:pt modelId="{3B123136-77E3-45D5-8E4D-382E222CCAF4}" type="pres">
      <dgm:prSet presAssocID="{5C894C02-1956-4164-AB22-74F2809D272D}" presName="arrowDiagram" presStyleCnt="0">
        <dgm:presLayoutVars>
          <dgm:chMax val="5"/>
          <dgm:dir/>
          <dgm:resizeHandles val="exact"/>
        </dgm:presLayoutVars>
      </dgm:prSet>
      <dgm:spPr/>
    </dgm:pt>
    <dgm:pt modelId="{12BF770D-A2A8-4595-AC0A-570DCD54ACEA}" type="pres">
      <dgm:prSet presAssocID="{5C894C02-1956-4164-AB22-74F2809D272D}" presName="arrow" presStyleLbl="bgShp" presStyleIdx="0" presStyleCnt="1" custScaleX="153676" custLinFactNeighborX="1583" custLinFactNeighborY="517"/>
      <dgm:spPr>
        <a:solidFill>
          <a:srgbClr val="3399FF"/>
        </a:solidFill>
      </dgm:spPr>
    </dgm:pt>
    <dgm:pt modelId="{42B41206-E6DB-4D5E-B09D-AC408F5724D4}" type="pres">
      <dgm:prSet presAssocID="{5C894C02-1956-4164-AB22-74F2809D272D}" presName="arrowDiagram3" presStyleCnt="0"/>
      <dgm:spPr/>
    </dgm:pt>
    <dgm:pt modelId="{6BB58ED0-7FA8-46AF-8BBA-653DC25CCD14}" type="pres">
      <dgm:prSet presAssocID="{A61FD969-1FB1-47B9-B3E0-FE3C6F592572}" presName="bullet3a" presStyleLbl="node1" presStyleIdx="0" presStyleCnt="3" custLinFactX="-170469" custLinFactY="-64849" custLinFactNeighborX="-200000" custLinFactNeighborY="-100000"/>
      <dgm:spPr/>
    </dgm:pt>
    <dgm:pt modelId="{D19CD2E1-DEDA-456F-903B-234C5CEECB61}" type="pres">
      <dgm:prSet presAssocID="{A61FD969-1FB1-47B9-B3E0-FE3C6F592572}" presName="textBox3a" presStyleLbl="revTx" presStyleIdx="0" presStyleCnt="3">
        <dgm:presLayoutVars>
          <dgm:bulletEnabled val="1"/>
        </dgm:presLayoutVars>
      </dgm:prSet>
      <dgm:spPr/>
    </dgm:pt>
    <dgm:pt modelId="{50F05CD7-B49E-4DFD-BCA7-4F3007FEEF85}" type="pres">
      <dgm:prSet presAssocID="{D4DE339C-6C74-4A0A-90B6-43B094270D95}" presName="bullet3b" presStyleLbl="node1" presStyleIdx="1" presStyleCnt="3" custLinFactX="42884" custLinFactNeighborX="100000"/>
      <dgm:spPr/>
    </dgm:pt>
    <dgm:pt modelId="{A7F76890-FA96-47FD-8649-9B55409E8A3A}" type="pres">
      <dgm:prSet presAssocID="{D4DE339C-6C74-4A0A-90B6-43B094270D95}" presName="textBox3b" presStyleLbl="revTx" presStyleIdx="1" presStyleCnt="3">
        <dgm:presLayoutVars>
          <dgm:bulletEnabled val="1"/>
        </dgm:presLayoutVars>
      </dgm:prSet>
      <dgm:spPr/>
    </dgm:pt>
    <dgm:pt modelId="{69F92C14-2BDE-49F5-9DBF-86D8EF4C71D5}" type="pres">
      <dgm:prSet presAssocID="{1F6E8B17-2E59-42F0-854B-050F2295BE89}" presName="bullet3c" presStyleLbl="node1" presStyleIdx="2" presStyleCnt="3" custLinFactX="165038" custLinFactNeighborX="200000" custLinFactNeighborY="-16351"/>
      <dgm:spPr/>
    </dgm:pt>
    <dgm:pt modelId="{988FAAEB-5D17-4497-8D33-14B51A11A99E}" type="pres">
      <dgm:prSet presAssocID="{1F6E8B17-2E59-42F0-854B-050F2295BE89}" presName="textBox3c" presStyleLbl="revTx" presStyleIdx="2" presStyleCnt="3">
        <dgm:presLayoutVars>
          <dgm:bulletEnabled val="1"/>
        </dgm:presLayoutVars>
      </dgm:prSet>
      <dgm:spPr/>
    </dgm:pt>
  </dgm:ptLst>
  <dgm:cxnLst>
    <dgm:cxn modelId="{1D730527-352D-4B9A-83E2-079811E16279}" type="presOf" srcId="{D4DE339C-6C74-4A0A-90B6-43B094270D95}" destId="{A7F76890-FA96-47FD-8649-9B55409E8A3A}" srcOrd="0" destOrd="0" presId="urn:microsoft.com/office/officeart/2005/8/layout/arrow2"/>
    <dgm:cxn modelId="{0BD4876E-1D90-4E29-9200-37701501CD22}" type="presOf" srcId="{1F6E8B17-2E59-42F0-854B-050F2295BE89}" destId="{988FAAEB-5D17-4497-8D33-14B51A11A99E}" srcOrd="0" destOrd="0" presId="urn:microsoft.com/office/officeart/2005/8/layout/arrow2"/>
    <dgm:cxn modelId="{3AE1A883-9C35-4F8E-BCB4-387D6ABC4DFE}" type="presOf" srcId="{A61FD969-1FB1-47B9-B3E0-FE3C6F592572}" destId="{D19CD2E1-DEDA-456F-903B-234C5CEECB61}" srcOrd="0" destOrd="0" presId="urn:microsoft.com/office/officeart/2005/8/layout/arrow2"/>
    <dgm:cxn modelId="{11604C8C-E71D-427C-931B-378B23658D64}" srcId="{5C894C02-1956-4164-AB22-74F2809D272D}" destId="{D4DE339C-6C74-4A0A-90B6-43B094270D95}" srcOrd="1" destOrd="0" parTransId="{22C1FC08-2CB8-4533-A22B-1CEC32D79C7B}" sibTransId="{DB2A7C65-936B-4378-B38B-82B5A983E6C2}"/>
    <dgm:cxn modelId="{EB6C6C8E-5CCF-41C4-990E-9757F9810167}" srcId="{5C894C02-1956-4164-AB22-74F2809D272D}" destId="{1F6E8B17-2E59-42F0-854B-050F2295BE89}" srcOrd="2" destOrd="0" parTransId="{9393A171-D891-4874-A94D-85962924A928}" sibTransId="{4132D1E7-4626-4D38-941C-215DF5C2B5BE}"/>
    <dgm:cxn modelId="{533E1CBA-F3B0-4D75-BC13-7A4E88222C11}" srcId="{5C894C02-1956-4164-AB22-74F2809D272D}" destId="{A61FD969-1FB1-47B9-B3E0-FE3C6F592572}" srcOrd="0" destOrd="0" parTransId="{CC73F2DA-7B29-4232-8C00-E8A49C329862}" sibTransId="{3AF581A8-5B3A-4A10-9308-8C9DE6C81B34}"/>
    <dgm:cxn modelId="{0802AAC5-8D45-46AC-B935-66781A6DC536}" type="presOf" srcId="{5C894C02-1956-4164-AB22-74F2809D272D}" destId="{3B123136-77E3-45D5-8E4D-382E222CCAF4}" srcOrd="0" destOrd="0" presId="urn:microsoft.com/office/officeart/2005/8/layout/arrow2"/>
    <dgm:cxn modelId="{7CA297E2-2302-400A-8819-6E2FED99F05B}" type="presParOf" srcId="{3B123136-77E3-45D5-8E4D-382E222CCAF4}" destId="{12BF770D-A2A8-4595-AC0A-570DCD54ACEA}" srcOrd="0" destOrd="0" presId="urn:microsoft.com/office/officeart/2005/8/layout/arrow2"/>
    <dgm:cxn modelId="{EDC239D8-CB6E-45EB-B0D1-1903DED70577}" type="presParOf" srcId="{3B123136-77E3-45D5-8E4D-382E222CCAF4}" destId="{42B41206-E6DB-4D5E-B09D-AC408F5724D4}" srcOrd="1" destOrd="0" presId="urn:microsoft.com/office/officeart/2005/8/layout/arrow2"/>
    <dgm:cxn modelId="{E33BB273-D60C-46E2-B644-F5DA9EF72BD1}" type="presParOf" srcId="{42B41206-E6DB-4D5E-B09D-AC408F5724D4}" destId="{6BB58ED0-7FA8-46AF-8BBA-653DC25CCD14}" srcOrd="0" destOrd="0" presId="urn:microsoft.com/office/officeart/2005/8/layout/arrow2"/>
    <dgm:cxn modelId="{50D19623-F9A8-47D4-BEB7-EEE584E43E2B}" type="presParOf" srcId="{42B41206-E6DB-4D5E-B09D-AC408F5724D4}" destId="{D19CD2E1-DEDA-456F-903B-234C5CEECB61}" srcOrd="1" destOrd="0" presId="urn:microsoft.com/office/officeart/2005/8/layout/arrow2"/>
    <dgm:cxn modelId="{A9D0428A-A2A0-4809-B81D-A23D06EB0A4E}" type="presParOf" srcId="{42B41206-E6DB-4D5E-B09D-AC408F5724D4}" destId="{50F05CD7-B49E-4DFD-BCA7-4F3007FEEF85}" srcOrd="2" destOrd="0" presId="urn:microsoft.com/office/officeart/2005/8/layout/arrow2"/>
    <dgm:cxn modelId="{E27897D1-67A0-4C3D-806E-AC52F4913BBC}" type="presParOf" srcId="{42B41206-E6DB-4D5E-B09D-AC408F5724D4}" destId="{A7F76890-FA96-47FD-8649-9B55409E8A3A}" srcOrd="3" destOrd="0" presId="urn:microsoft.com/office/officeart/2005/8/layout/arrow2"/>
    <dgm:cxn modelId="{7780BC17-A101-4B13-8D6A-4B3003E5D1DC}" type="presParOf" srcId="{42B41206-E6DB-4D5E-B09D-AC408F5724D4}" destId="{69F92C14-2BDE-49F5-9DBF-86D8EF4C71D5}" srcOrd="4" destOrd="0" presId="urn:microsoft.com/office/officeart/2005/8/layout/arrow2"/>
    <dgm:cxn modelId="{CF75768E-FD6E-4351-94FD-7D38C2004C84}" type="presParOf" srcId="{42B41206-E6DB-4D5E-B09D-AC408F5724D4}" destId="{988FAAEB-5D17-4497-8D33-14B51A11A99E}" srcOrd="5" destOrd="0" presId="urn:microsoft.com/office/officeart/2005/8/layout/arrow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F770D-A2A8-4595-AC0A-570DCD54ACEA}">
      <dsp:nvSpPr>
        <dsp:cNvPr id="0" name=""/>
        <dsp:cNvSpPr/>
      </dsp:nvSpPr>
      <dsp:spPr>
        <a:xfrm>
          <a:off x="947258" y="0"/>
          <a:ext cx="6527539" cy="2654749"/>
        </a:xfrm>
        <a:prstGeom prst="swooshArrow">
          <a:avLst>
            <a:gd name="adj1" fmla="val 25000"/>
            <a:gd name="adj2" fmla="val 25000"/>
          </a:avLst>
        </a:prstGeom>
        <a:solidFill>
          <a:srgbClr val="3399FF"/>
        </a:solidFill>
        <a:ln>
          <a:noFill/>
        </a:ln>
        <a:effectLst/>
      </dsp:spPr>
      <dsp:style>
        <a:lnRef idx="0">
          <a:scrgbClr r="0" g="0" b="0"/>
        </a:lnRef>
        <a:fillRef idx="1">
          <a:scrgbClr r="0" g="0" b="0"/>
        </a:fillRef>
        <a:effectRef idx="0">
          <a:scrgbClr r="0" g="0" b="0"/>
        </a:effectRef>
        <a:fontRef idx="minor"/>
      </dsp:style>
    </dsp:sp>
    <dsp:sp modelId="{6BB58ED0-7FA8-46AF-8BBA-653DC25CCD14}">
      <dsp:nvSpPr>
        <dsp:cNvPr id="0" name=""/>
        <dsp:cNvSpPr/>
      </dsp:nvSpPr>
      <dsp:spPr>
        <a:xfrm>
          <a:off x="2150297" y="1650252"/>
          <a:ext cx="110437" cy="11043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9CD2E1-DEDA-456F-903B-234C5CEECB61}">
      <dsp:nvSpPr>
        <dsp:cNvPr id="0" name=""/>
        <dsp:cNvSpPr/>
      </dsp:nvSpPr>
      <dsp:spPr>
        <a:xfrm>
          <a:off x="2614653" y="1887526"/>
          <a:ext cx="989690" cy="7672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519" tIns="0" rIns="0" bIns="0" numCol="1" spcCol="1270" anchor="t" anchorCtr="0">
          <a:noAutofit/>
        </a:bodyPr>
        <a:lstStyle/>
        <a:p>
          <a:pPr marL="0" lvl="0" indent="0" algn="l" defTabSz="1644650">
            <a:lnSpc>
              <a:spcPct val="90000"/>
            </a:lnSpc>
            <a:spcBef>
              <a:spcPct val="0"/>
            </a:spcBef>
            <a:spcAft>
              <a:spcPct val="35000"/>
            </a:spcAft>
            <a:buNone/>
          </a:pPr>
          <a:endParaRPr kumimoji="1" lang="ja-JP" altLang="en-US" sz="3700" kern="1200" dirty="0"/>
        </a:p>
      </dsp:txBody>
      <dsp:txXfrm>
        <a:off x="2614653" y="1887526"/>
        <a:ext cx="989690" cy="767222"/>
      </dsp:txXfrm>
    </dsp:sp>
    <dsp:sp modelId="{50F05CD7-B49E-4DFD-BCA7-4F3007FEEF85}">
      <dsp:nvSpPr>
        <dsp:cNvPr id="0" name=""/>
        <dsp:cNvSpPr/>
      </dsp:nvSpPr>
      <dsp:spPr>
        <a:xfrm>
          <a:off x="3819508" y="1110746"/>
          <a:ext cx="199637" cy="199637"/>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7F76890-FA96-47FD-8649-9B55409E8A3A}">
      <dsp:nvSpPr>
        <dsp:cNvPr id="0" name=""/>
        <dsp:cNvSpPr/>
      </dsp:nvSpPr>
      <dsp:spPr>
        <a:xfrm>
          <a:off x="3634077" y="1210565"/>
          <a:ext cx="1019423" cy="14441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5784" tIns="0" rIns="0" bIns="0" numCol="1" spcCol="1270" anchor="t" anchorCtr="0">
          <a:noAutofit/>
        </a:bodyPr>
        <a:lstStyle/>
        <a:p>
          <a:pPr marL="0" lvl="0" indent="0" algn="l" defTabSz="1689100">
            <a:lnSpc>
              <a:spcPct val="90000"/>
            </a:lnSpc>
            <a:spcBef>
              <a:spcPct val="0"/>
            </a:spcBef>
            <a:spcAft>
              <a:spcPct val="35000"/>
            </a:spcAft>
            <a:buNone/>
          </a:pPr>
          <a:endParaRPr kumimoji="1" lang="ja-JP" altLang="en-US" sz="3800" kern="1200"/>
        </a:p>
      </dsp:txBody>
      <dsp:txXfrm>
        <a:off x="3634077" y="1210565"/>
        <a:ext cx="1019423" cy="1444183"/>
      </dsp:txXfrm>
    </dsp:sp>
    <dsp:sp modelId="{69F92C14-2BDE-49F5-9DBF-86D8EF4C71D5}">
      <dsp:nvSpPr>
        <dsp:cNvPr id="0" name=""/>
        <dsp:cNvSpPr/>
      </dsp:nvSpPr>
      <dsp:spPr>
        <a:xfrm>
          <a:off x="5714443" y="626507"/>
          <a:ext cx="276093" cy="27609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8FAAEB-5D17-4497-8D33-14B51A11A99E}">
      <dsp:nvSpPr>
        <dsp:cNvPr id="0" name=""/>
        <dsp:cNvSpPr/>
      </dsp:nvSpPr>
      <dsp:spPr>
        <a:xfrm>
          <a:off x="4844642" y="809698"/>
          <a:ext cx="1019423" cy="1845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6296" tIns="0" rIns="0" bIns="0" numCol="1" spcCol="1270" anchor="t" anchorCtr="0">
          <a:noAutofit/>
        </a:bodyPr>
        <a:lstStyle/>
        <a:p>
          <a:pPr marL="0" lvl="0" indent="0" algn="l" defTabSz="1689100">
            <a:lnSpc>
              <a:spcPct val="90000"/>
            </a:lnSpc>
            <a:spcBef>
              <a:spcPct val="0"/>
            </a:spcBef>
            <a:spcAft>
              <a:spcPct val="35000"/>
            </a:spcAft>
            <a:buNone/>
          </a:pPr>
          <a:endParaRPr kumimoji="1" lang="en-US" altLang="ja-JP" sz="3800" kern="1200" dirty="0"/>
        </a:p>
        <a:p>
          <a:pPr marL="0" lvl="0" indent="0" algn="l" defTabSz="1689100">
            <a:lnSpc>
              <a:spcPct val="90000"/>
            </a:lnSpc>
            <a:spcBef>
              <a:spcPct val="0"/>
            </a:spcBef>
            <a:spcAft>
              <a:spcPct val="35000"/>
            </a:spcAft>
            <a:buNone/>
          </a:pPr>
          <a:endParaRPr kumimoji="1" lang="ja-JP" altLang="en-US" sz="3800" kern="1200" dirty="0"/>
        </a:p>
      </dsp:txBody>
      <dsp:txXfrm>
        <a:off x="4844642" y="809698"/>
        <a:ext cx="1019423" cy="1845050"/>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Yu Gothic UI" pitchFamily="2"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Yu Gothic UI" pitchFamily="2" charset="0"/>
              </a:defRPr>
            </a:lvl1pPr>
          </a:lstStyle>
          <a:p>
            <a:fld id="{6EB418D2-6CC8-4835-9C14-6C5E91E6DCA9}" type="datetimeFigureOut">
              <a:rPr lang="en-GB" smtClean="0"/>
              <a:pPr/>
              <a:t>20/01/2026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Yu Gothic UI" pitchFamily="2"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Yu Gothic UI" pitchFamily="2" charset="0"/>
              </a:defRPr>
            </a:lvl1pPr>
          </a:lstStyle>
          <a:p>
            <a:fld id="{D031864C-0A57-49E1-8FDC-7624A9AEBDB8}" type="slidenum">
              <a:rPr lang="en-GB" smtClean="0"/>
              <a:pPr/>
              <a:t>‹#›</a:t>
            </a:fld>
            <a:endParaRPr lang="en-GB"/>
          </a:p>
        </p:txBody>
      </p:sp>
    </p:spTree>
    <p:extLst>
      <p:ext uri="{BB962C8B-B14F-4D97-AF65-F5344CB8AC3E}">
        <p14:creationId xmlns:p14="http://schemas.microsoft.com/office/powerpoint/2010/main" val="2062623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Yu Gothic UI" pitchFamily="2" charset="0"/>
        <a:ea typeface="+mn-ea"/>
        <a:cs typeface="+mn-cs"/>
      </a:defRPr>
    </a:lvl1pPr>
    <a:lvl2pPr marL="457200" algn="l" defTabSz="914400" rtl="0" eaLnBrk="1" latinLnBrk="0" hangingPunct="1">
      <a:defRPr sz="1200" kern="1200">
        <a:solidFill>
          <a:schemeClr val="tx1"/>
        </a:solidFill>
        <a:latin typeface="Yu Gothic UI" pitchFamily="2" charset="0"/>
        <a:ea typeface="+mn-ea"/>
        <a:cs typeface="+mn-cs"/>
      </a:defRPr>
    </a:lvl2pPr>
    <a:lvl3pPr marL="914400" algn="l" defTabSz="914400" rtl="0" eaLnBrk="1" latinLnBrk="0" hangingPunct="1">
      <a:defRPr sz="1200" kern="1200">
        <a:solidFill>
          <a:schemeClr val="tx1"/>
        </a:solidFill>
        <a:latin typeface="Yu Gothic UI" pitchFamily="2" charset="0"/>
        <a:ea typeface="+mn-ea"/>
        <a:cs typeface="+mn-cs"/>
      </a:defRPr>
    </a:lvl3pPr>
    <a:lvl4pPr marL="1371600" algn="l" defTabSz="914400" rtl="0" eaLnBrk="1" latinLnBrk="0" hangingPunct="1">
      <a:defRPr sz="1200" kern="1200">
        <a:solidFill>
          <a:schemeClr val="tx1"/>
        </a:solidFill>
        <a:latin typeface="Yu Gothic UI" pitchFamily="2" charset="0"/>
        <a:ea typeface="+mn-ea"/>
        <a:cs typeface="+mn-cs"/>
      </a:defRPr>
    </a:lvl4pPr>
    <a:lvl5pPr marL="1828800" algn="l" defTabSz="914400" rtl="0" eaLnBrk="1" latinLnBrk="0" hangingPunct="1">
      <a:defRPr sz="1200" kern="1200">
        <a:solidFill>
          <a:schemeClr val="tx1"/>
        </a:solidFill>
        <a:latin typeface="Yu Gothic UI"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D031864C-0A57-49E1-8FDC-7624A9AEBDB8}" type="slidenum">
              <a:rPr lang="en-GB" smtClean="0"/>
              <a:pPr/>
              <a:t>2</a:t>
            </a:fld>
            <a:endParaRPr lang="en-GB"/>
          </a:p>
        </p:txBody>
      </p:sp>
    </p:spTree>
    <p:extLst>
      <p:ext uri="{BB962C8B-B14F-4D97-AF65-F5344CB8AC3E}">
        <p14:creationId xmlns:p14="http://schemas.microsoft.com/office/powerpoint/2010/main" val="10720756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12C5F8F8-CA3E-B71A-490F-1F29A48729D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68896" y="324000"/>
            <a:ext cx="2921000" cy="647700"/>
          </a:xfrm>
          <a:prstGeom prst="rect">
            <a:avLst/>
          </a:prstGeom>
        </p:spPr>
      </p:pic>
      <p:sp>
        <p:nvSpPr>
          <p:cNvPr id="7" name="Title 4">
            <a:extLst>
              <a:ext uri="{FF2B5EF4-FFF2-40B4-BE49-F238E27FC236}">
                <a16:creationId xmlns:a16="http://schemas.microsoft.com/office/drawing/2014/main" id="{AD6B1063-E262-6777-4E40-04A75FE9ABE5}"/>
              </a:ext>
            </a:extLst>
          </p:cNvPr>
          <p:cNvSpPr>
            <a:spLocks noGrp="1"/>
          </p:cNvSpPr>
          <p:nvPr>
            <p:ph type="title" hasCustomPrompt="1"/>
          </p:nvPr>
        </p:nvSpPr>
        <p:spPr>
          <a:xfrm>
            <a:off x="473075" y="2412000"/>
            <a:ext cx="6913146" cy="769441"/>
          </a:xfrm>
        </p:spPr>
        <p:txBody>
          <a:bodyPr>
            <a:spAutoFit/>
          </a:bodyPr>
          <a:lstStyle>
            <a:lvl1pPr>
              <a:lnSpc>
                <a:spcPct val="100000"/>
              </a:lnSpc>
              <a:defRPr sz="5000">
                <a:solidFill>
                  <a:schemeClr val="tx1"/>
                </a:solidFill>
              </a:defRPr>
            </a:lvl1pPr>
          </a:lstStyle>
          <a:p>
            <a:r>
              <a:rPr lang="ja-JP" altLang="en-US" dirty="0"/>
              <a:t>プレゼンタイトル</a:t>
            </a:r>
            <a:endParaRPr lang="en-GB" dirty="0"/>
          </a:p>
        </p:txBody>
      </p:sp>
      <p:sp>
        <p:nvSpPr>
          <p:cNvPr id="8" name="Text Placeholder 3">
            <a:extLst>
              <a:ext uri="{FF2B5EF4-FFF2-40B4-BE49-F238E27FC236}">
                <a16:creationId xmlns:a16="http://schemas.microsoft.com/office/drawing/2014/main" id="{273852CF-7392-A4DA-899F-6EF40AA99D92}"/>
              </a:ext>
            </a:extLst>
          </p:cNvPr>
          <p:cNvSpPr>
            <a:spLocks noGrp="1"/>
          </p:cNvSpPr>
          <p:nvPr>
            <p:ph type="body" sz="half" idx="2" hasCustomPrompt="1"/>
          </p:nvPr>
        </p:nvSpPr>
        <p:spPr>
          <a:xfrm>
            <a:off x="473075" y="1996989"/>
            <a:ext cx="3800475" cy="332399"/>
          </a:xfrm>
          <a:prstGeom prst="rect">
            <a:avLst/>
          </a:prstGeom>
        </p:spPr>
        <p:txBody>
          <a:bodyPr wrap="square">
            <a:spAutoFit/>
          </a:bodyPr>
          <a:lstStyle>
            <a:lvl1pPr marL="0" indent="0">
              <a:lnSpc>
                <a:spcPct val="90000"/>
              </a:lnSpc>
              <a:buNone/>
              <a:defRPr sz="2400" b="1">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Hitachi Group Company</a:t>
            </a:r>
          </a:p>
        </p:txBody>
      </p:sp>
      <p:sp>
        <p:nvSpPr>
          <p:cNvPr id="9" name="Text Placeholder 3">
            <a:extLst>
              <a:ext uri="{FF2B5EF4-FFF2-40B4-BE49-F238E27FC236}">
                <a16:creationId xmlns:a16="http://schemas.microsoft.com/office/drawing/2014/main" id="{E5E8C366-767C-79E1-379D-578E912F4363}"/>
              </a:ext>
            </a:extLst>
          </p:cNvPr>
          <p:cNvSpPr>
            <a:spLocks noGrp="1"/>
          </p:cNvSpPr>
          <p:nvPr>
            <p:ph type="body" sz="half" idx="15" hasCustomPrompt="1"/>
          </p:nvPr>
        </p:nvSpPr>
        <p:spPr>
          <a:xfrm>
            <a:off x="5444754" y="4043737"/>
            <a:ext cx="3619470" cy="215444"/>
          </a:xfrm>
          <a:prstGeom prst="rect">
            <a:avLst/>
          </a:prstGeom>
        </p:spPr>
        <p:txBody>
          <a:bodyPr wrap="square">
            <a:spAutoFit/>
          </a:bodyPr>
          <a:lstStyle>
            <a:lvl1pPr marL="0" indent="0">
              <a:lnSpc>
                <a:spcPct val="100000"/>
              </a:lnSpc>
              <a:buNone/>
              <a:defRPr sz="1400" b="1">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Confidentiality Notice If Needed</a:t>
            </a:r>
          </a:p>
        </p:txBody>
      </p:sp>
      <p:sp>
        <p:nvSpPr>
          <p:cNvPr id="3" name="Text Placeholder 18">
            <a:extLst>
              <a:ext uri="{FF2B5EF4-FFF2-40B4-BE49-F238E27FC236}">
                <a16:creationId xmlns:a16="http://schemas.microsoft.com/office/drawing/2014/main" id="{7CFA5731-FE68-CDE7-7F56-DA09D03E34B2}"/>
              </a:ext>
            </a:extLst>
          </p:cNvPr>
          <p:cNvSpPr>
            <a:spLocks noGrp="1"/>
          </p:cNvSpPr>
          <p:nvPr>
            <p:ph type="body" sz="quarter" idx="13" hasCustomPrompt="1"/>
          </p:nvPr>
        </p:nvSpPr>
        <p:spPr>
          <a:xfrm>
            <a:off x="463550" y="5840698"/>
            <a:ext cx="2641600" cy="362984"/>
          </a:xfrm>
          <a:prstGeom prst="rect">
            <a:avLst/>
          </a:prstGeom>
        </p:spPr>
        <p:txBody>
          <a:bodyPr wrap="square" anchor="b" anchorCtr="0">
            <a:spAutoFit/>
          </a:bodyPr>
          <a:lstStyle>
            <a:lvl1pPr marL="0" indent="0">
              <a:lnSpc>
                <a:spcPct val="110000"/>
              </a:lnSpc>
              <a:buNone/>
              <a:defRPr sz="900" b="1">
                <a:solidFill>
                  <a:schemeClr val="tx1"/>
                </a:solidFill>
              </a:defRPr>
            </a:lvl1pPr>
            <a:lvl2pPr marL="0" indent="0">
              <a:lnSpc>
                <a:spcPct val="110000"/>
              </a:lnSpc>
              <a:spcAft>
                <a:spcPts val="450"/>
              </a:spcAft>
              <a:buNone/>
              <a:defRPr sz="1350">
                <a:solidFill>
                  <a:schemeClr val="tx1"/>
                </a:solidFill>
              </a:defRPr>
            </a:lvl2pPr>
            <a:lvl3pPr marL="81000">
              <a:defRPr sz="900">
                <a:solidFill>
                  <a:schemeClr val="bg1"/>
                </a:solidFill>
              </a:defRPr>
            </a:lvl3pPr>
            <a:lvl4pPr marL="162000">
              <a:defRPr sz="900">
                <a:solidFill>
                  <a:schemeClr val="bg1"/>
                </a:solidFill>
              </a:defRPr>
            </a:lvl4pPr>
            <a:lvl5pPr>
              <a:defRPr sz="900">
                <a:solidFill>
                  <a:schemeClr val="bg1"/>
                </a:solidFill>
              </a:defRPr>
            </a:lvl5pPr>
          </a:lstStyle>
          <a:p>
            <a:pPr lvl="0"/>
            <a:r>
              <a:rPr lang="ja-JP" altLang="en-US" dirty="0"/>
              <a:t>ダミーテキスト</a:t>
            </a:r>
            <a:endParaRPr lang="en-GB" dirty="0"/>
          </a:p>
          <a:p>
            <a:pPr lvl="1"/>
            <a:r>
              <a:rPr lang="ja-JP" altLang="en-US" dirty="0"/>
              <a:t>ダミーテキスト</a:t>
            </a:r>
            <a:endParaRPr lang="en-GB" dirty="0"/>
          </a:p>
        </p:txBody>
      </p:sp>
      <p:sp>
        <p:nvSpPr>
          <p:cNvPr id="10" name="Text Placeholder 18">
            <a:extLst>
              <a:ext uri="{FF2B5EF4-FFF2-40B4-BE49-F238E27FC236}">
                <a16:creationId xmlns:a16="http://schemas.microsoft.com/office/drawing/2014/main" id="{49550823-00C3-45D3-E976-D4F7C9165539}"/>
              </a:ext>
            </a:extLst>
          </p:cNvPr>
          <p:cNvSpPr>
            <a:spLocks noGrp="1"/>
          </p:cNvSpPr>
          <p:nvPr>
            <p:ph type="body" sz="quarter" idx="14" hasCustomPrompt="1"/>
          </p:nvPr>
        </p:nvSpPr>
        <p:spPr>
          <a:xfrm>
            <a:off x="3248024" y="5840698"/>
            <a:ext cx="2641600" cy="362984"/>
          </a:xfrm>
          <a:prstGeom prst="rect">
            <a:avLst/>
          </a:prstGeom>
        </p:spPr>
        <p:txBody>
          <a:bodyPr wrap="square" anchor="b" anchorCtr="0">
            <a:spAutoFit/>
          </a:bodyPr>
          <a:lstStyle>
            <a:lvl1pPr marL="0" indent="0">
              <a:lnSpc>
                <a:spcPct val="110000"/>
              </a:lnSpc>
              <a:buNone/>
              <a:defRPr sz="900" b="1">
                <a:solidFill>
                  <a:schemeClr val="tx1"/>
                </a:solidFill>
              </a:defRPr>
            </a:lvl1pPr>
            <a:lvl2pPr marL="0" indent="0">
              <a:lnSpc>
                <a:spcPct val="110000"/>
              </a:lnSpc>
              <a:spcAft>
                <a:spcPts val="450"/>
              </a:spcAft>
              <a:buNone/>
              <a:defRPr sz="1350">
                <a:solidFill>
                  <a:schemeClr val="tx1"/>
                </a:solidFill>
              </a:defRPr>
            </a:lvl2pPr>
            <a:lvl3pPr marL="81000">
              <a:defRPr sz="900">
                <a:solidFill>
                  <a:schemeClr val="bg1"/>
                </a:solidFill>
              </a:defRPr>
            </a:lvl3pPr>
            <a:lvl4pPr marL="162000">
              <a:defRPr sz="900">
                <a:solidFill>
                  <a:schemeClr val="bg1"/>
                </a:solidFill>
              </a:defRPr>
            </a:lvl4pPr>
            <a:lvl5pPr>
              <a:defRPr sz="900">
                <a:solidFill>
                  <a:schemeClr val="bg1"/>
                </a:solidFill>
              </a:defRPr>
            </a:lvl5pPr>
          </a:lstStyle>
          <a:p>
            <a:pPr lvl="0"/>
            <a:r>
              <a:rPr lang="ja-JP" altLang="en-US" dirty="0"/>
              <a:t>ダミーテキスト</a:t>
            </a:r>
            <a:endParaRPr lang="en-GB" dirty="0"/>
          </a:p>
          <a:p>
            <a:pPr lvl="1"/>
            <a:r>
              <a:rPr lang="ja-JP" altLang="en-US" dirty="0"/>
              <a:t>ダミーテキスト</a:t>
            </a:r>
            <a:endParaRPr lang="en-GB" dirty="0"/>
          </a:p>
        </p:txBody>
      </p:sp>
      <p:sp>
        <p:nvSpPr>
          <p:cNvPr id="2" name="TextBox 6">
            <a:extLst>
              <a:ext uri="{FF2B5EF4-FFF2-40B4-BE49-F238E27FC236}">
                <a16:creationId xmlns:a16="http://schemas.microsoft.com/office/drawing/2014/main" id="{0053807B-238D-6DAE-024B-4E84CE32433B}"/>
              </a:ext>
            </a:extLst>
          </p:cNvPr>
          <p:cNvSpPr txBox="1"/>
          <p:nvPr userDrawn="1"/>
        </p:nvSpPr>
        <p:spPr>
          <a:xfrm>
            <a:off x="5408763" y="6361200"/>
            <a:ext cx="3271688" cy="134491"/>
          </a:xfrm>
          <a:prstGeom prst="rect">
            <a:avLst/>
          </a:prstGeom>
          <a:noFill/>
        </p:spPr>
        <p:txBody>
          <a:bodyPr wrap="square" lIns="0" tIns="0" rIns="0" bIns="0" rtlCol="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ja-JP" sz="800" b="1" i="0" u="none" strike="noStrike" kern="1200" cap="none" spc="0" normalizeH="0" baseline="0" noProof="0" dirty="0">
                <a:ln>
                  <a:noFill/>
                </a:ln>
                <a:solidFill>
                  <a:schemeClr val="tx1"/>
                </a:solidFill>
                <a:effectLst/>
                <a:uLnTx/>
                <a:uFillTx/>
                <a:latin typeface="+mn-lt"/>
                <a:ea typeface="+mn-ea"/>
                <a:cs typeface="+mn-cs"/>
              </a:rPr>
              <a:t>© Hitachi Systems Power Services, Ltd. 2025. All rights reserved.</a:t>
            </a:r>
            <a:endParaRPr kumimoji="0" lang="en-GB" altLang="ja-JP" sz="800" b="1"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60532376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目次">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9BBC678B-7561-911A-B801-DAEC180FB3C8}"/>
              </a:ext>
            </a:extLst>
          </p:cNvPr>
          <p:cNvSpPr>
            <a:spLocks noGrp="1"/>
          </p:cNvSpPr>
          <p:nvPr>
            <p:ph type="body" sz="quarter" idx="15" hasCustomPrompt="1"/>
          </p:nvPr>
        </p:nvSpPr>
        <p:spPr>
          <a:xfrm>
            <a:off x="4645025" y="711641"/>
            <a:ext cx="4032250" cy="408189"/>
          </a:xfrm>
          <a:prstGeom prst="rect">
            <a:avLst/>
          </a:prstGeom>
        </p:spPr>
        <p:txBody>
          <a:bodyPr wrap="square">
            <a:spAutoFit/>
          </a:bodyPr>
          <a:lstStyle>
            <a:lvl1pPr marL="0" indent="0">
              <a:lnSpc>
                <a:spcPct val="110000"/>
              </a:lnSpc>
              <a:spcBef>
                <a:spcPts val="900"/>
              </a:spcBef>
              <a:buNone/>
              <a:defRPr sz="900" b="1">
                <a:solidFill>
                  <a:schemeClr val="tx1"/>
                </a:solidFill>
              </a:defRPr>
            </a:lvl1pPr>
            <a:lvl2pPr marL="0" indent="0">
              <a:lnSpc>
                <a:spcPct val="110000"/>
              </a:lnSpc>
              <a:spcAft>
                <a:spcPts val="0"/>
              </a:spcAft>
              <a:buNone/>
              <a:tabLst>
                <a:tab pos="261938" algn="l"/>
              </a:tabLst>
              <a:defRPr sz="1234">
                <a:solidFill>
                  <a:schemeClr val="tx1"/>
                </a:solidFill>
              </a:defRPr>
            </a:lvl2pPr>
            <a:lvl3pPr marL="81000">
              <a:defRPr sz="600">
                <a:solidFill>
                  <a:schemeClr val="bg1"/>
                </a:solidFill>
              </a:defRPr>
            </a:lvl3pPr>
            <a:lvl4pPr marL="162000">
              <a:defRPr sz="600">
                <a:solidFill>
                  <a:schemeClr val="bg1"/>
                </a:solidFill>
              </a:defRPr>
            </a:lvl4pPr>
            <a:lvl5pPr>
              <a:defRPr sz="600">
                <a:solidFill>
                  <a:schemeClr val="bg1"/>
                </a:solidFill>
              </a:defRPr>
            </a:lvl5pPr>
          </a:lstStyle>
          <a:p>
            <a:pPr lvl="0"/>
            <a:r>
              <a:rPr lang="ja-JP" altLang="en-US" dirty="0"/>
              <a:t>目次</a:t>
            </a:r>
            <a:endParaRPr lang="en-US" altLang="ja-JP" dirty="0"/>
          </a:p>
          <a:p>
            <a:pPr lvl="0"/>
            <a:r>
              <a:rPr lang="ja-JP" altLang="en-US" dirty="0"/>
              <a:t>こちらに目次やページ番号を入れてください</a:t>
            </a:r>
            <a:endParaRPr lang="en-GB" dirty="0"/>
          </a:p>
        </p:txBody>
      </p:sp>
      <p:sp>
        <p:nvSpPr>
          <p:cNvPr id="11" name="Title 8">
            <a:extLst>
              <a:ext uri="{FF2B5EF4-FFF2-40B4-BE49-F238E27FC236}">
                <a16:creationId xmlns:a16="http://schemas.microsoft.com/office/drawing/2014/main" id="{AD3B7543-DF1F-F195-D162-8D6D4BD9C9C9}"/>
              </a:ext>
            </a:extLst>
          </p:cNvPr>
          <p:cNvSpPr>
            <a:spLocks noGrp="1"/>
          </p:cNvSpPr>
          <p:nvPr>
            <p:ph type="title" hasCustomPrompt="1"/>
          </p:nvPr>
        </p:nvSpPr>
        <p:spPr>
          <a:xfrm>
            <a:off x="463550" y="695477"/>
            <a:ext cx="2089150" cy="342786"/>
          </a:xfrm>
          <a:prstGeom prst="rect">
            <a:avLst/>
          </a:prstGeom>
        </p:spPr>
        <p:txBody>
          <a:bodyPr/>
          <a:lstStyle>
            <a:lvl1pPr>
              <a:defRPr sz="2475">
                <a:solidFill>
                  <a:schemeClr val="accent1"/>
                </a:solidFill>
              </a:defRPr>
            </a:lvl1pPr>
          </a:lstStyle>
          <a:p>
            <a:r>
              <a:rPr lang="ja-JP" altLang="en-US" dirty="0"/>
              <a:t>コンテンツ</a:t>
            </a:r>
            <a:endParaRPr lang="en-GB" dirty="0"/>
          </a:p>
        </p:txBody>
      </p:sp>
      <p:sp>
        <p:nvSpPr>
          <p:cNvPr id="7" name="Footer Placeholder 6">
            <a:extLst>
              <a:ext uri="{FF2B5EF4-FFF2-40B4-BE49-F238E27FC236}">
                <a16:creationId xmlns:a16="http://schemas.microsoft.com/office/drawing/2014/main" id="{80F4A733-3AF9-2E9F-DD5C-83A6DFAA471B}"/>
              </a:ext>
            </a:extLst>
          </p:cNvPr>
          <p:cNvSpPr>
            <a:spLocks noGrp="1"/>
          </p:cNvSpPr>
          <p:nvPr>
            <p:ph type="ftr" sz="quarter" idx="17"/>
          </p:nvPr>
        </p:nvSpPr>
        <p:spPr>
          <a:xfrm>
            <a:off x="809998" y="6356729"/>
            <a:ext cx="4797172" cy="151200"/>
          </a:xfrm>
          <a:prstGeom prst="rect">
            <a:avLst/>
          </a:prstGeom>
        </p:spPr>
        <p:txBody>
          <a:bodyPr/>
          <a:lstStyle>
            <a:lvl1pPr>
              <a:defRPr sz="700">
                <a:latin typeface="+mn-ea"/>
                <a:ea typeface="+mn-ea"/>
              </a:defRPr>
            </a:lvl1pPr>
          </a:lstStyle>
          <a:p>
            <a:r>
              <a:rPr lang="en-US" altLang="ja-JP" dirty="0"/>
              <a:t>Hitachi Systems Power Services </a:t>
            </a:r>
            <a:r>
              <a:rPr lang="ja-JP" altLang="en-US" dirty="0"/>
              <a:t>　</a:t>
            </a:r>
            <a:r>
              <a:rPr lang="en-US" altLang="ja-JP" dirty="0"/>
              <a:t>|   (HISYS-PS)</a:t>
            </a:r>
            <a:r>
              <a:rPr lang="ja-JP" altLang="en-US" dirty="0"/>
              <a:t>版テンプレート   </a:t>
            </a:r>
            <a:r>
              <a:rPr lang="en-US" altLang="ja-JP" dirty="0"/>
              <a:t>| </a:t>
            </a:r>
            <a:r>
              <a:rPr lang="ja-JP" altLang="en-US" dirty="0"/>
              <a:t>［社外秘］開示範囲：〇〇〇限り </a:t>
            </a:r>
            <a:endParaRPr lang="en-GB" altLang="ja-JP" dirty="0"/>
          </a:p>
        </p:txBody>
      </p:sp>
      <p:sp>
        <p:nvSpPr>
          <p:cNvPr id="8" name="Slide Number Placeholder 7">
            <a:extLst>
              <a:ext uri="{FF2B5EF4-FFF2-40B4-BE49-F238E27FC236}">
                <a16:creationId xmlns:a16="http://schemas.microsoft.com/office/drawing/2014/main" id="{04641A2C-63AE-9868-4373-E99CA558AA8D}"/>
              </a:ext>
            </a:extLst>
          </p:cNvPr>
          <p:cNvSpPr>
            <a:spLocks noGrp="1"/>
          </p:cNvSpPr>
          <p:nvPr>
            <p:ph type="sldNum" sz="quarter" idx="18"/>
          </p:nvPr>
        </p:nvSpPr>
        <p:spPr>
          <a:xfrm>
            <a:off x="463550" y="6354000"/>
            <a:ext cx="346450" cy="1440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Yu Gothic U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GB" sz="800" b="1" i="0" u="none" strike="noStrike" kern="1200" cap="none" spc="0" normalizeH="0" baseline="0" noProof="0" dirty="0">
              <a:ln>
                <a:noFill/>
              </a:ln>
              <a:solidFill>
                <a:prstClr val="black"/>
              </a:solidFill>
              <a:effectLst/>
              <a:uLnTx/>
              <a:uFillTx/>
              <a:latin typeface="Yu Gothic UI"/>
              <a:ea typeface="+mn-ea"/>
              <a:cs typeface="+mn-cs"/>
            </a:endParaRPr>
          </a:p>
        </p:txBody>
      </p:sp>
      <p:pic>
        <p:nvPicPr>
          <p:cNvPr id="9" name="Graphic 8">
            <a:extLst>
              <a:ext uri="{FF2B5EF4-FFF2-40B4-BE49-F238E27FC236}">
                <a16:creationId xmlns:a16="http://schemas.microsoft.com/office/drawing/2014/main" id="{BF961863-728E-EC78-922C-227443581E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7694188" y="388801"/>
            <a:ext cx="1022350" cy="226695"/>
          </a:xfrm>
          <a:prstGeom prst="rect">
            <a:avLst/>
          </a:prstGeom>
        </p:spPr>
      </p:pic>
      <p:sp>
        <p:nvSpPr>
          <p:cNvPr id="2" name="TextBox 6">
            <a:extLst>
              <a:ext uri="{FF2B5EF4-FFF2-40B4-BE49-F238E27FC236}">
                <a16:creationId xmlns:a16="http://schemas.microsoft.com/office/drawing/2014/main" id="{D25FAB5B-63A1-02CE-6706-1F58A554D114}"/>
              </a:ext>
            </a:extLst>
          </p:cNvPr>
          <p:cNvSpPr txBox="1"/>
          <p:nvPr userDrawn="1"/>
        </p:nvSpPr>
        <p:spPr>
          <a:xfrm>
            <a:off x="5408763" y="6369826"/>
            <a:ext cx="3271688" cy="134491"/>
          </a:xfrm>
          <a:prstGeom prst="rect">
            <a:avLst/>
          </a:prstGeom>
          <a:noFill/>
        </p:spPr>
        <p:txBody>
          <a:bodyPr wrap="square" lIns="0" tIns="0" rIns="0" bIns="0" rtlCol="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ja-JP" sz="800" b="1" i="0" u="none" strike="noStrike" kern="1200" cap="none" spc="0" normalizeH="0" baseline="0" noProof="0" dirty="0">
                <a:ln>
                  <a:noFill/>
                </a:ln>
                <a:solidFill>
                  <a:schemeClr val="tx1"/>
                </a:solidFill>
                <a:effectLst/>
                <a:uLnTx/>
                <a:uFillTx/>
                <a:latin typeface="+mn-lt"/>
                <a:ea typeface="+mn-ea"/>
                <a:cs typeface="+mn-cs"/>
              </a:rPr>
              <a:t>© Hitachi Systems Power Services, Ltd. 2025. All rights reserved.</a:t>
            </a:r>
            <a:endParaRPr kumimoji="0" lang="en-GB" altLang="ja-JP" sz="800" b="1"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203723438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導入">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D01D18-73E6-8329-C0B6-96EC2EAD46A9}"/>
              </a:ext>
            </a:extLst>
          </p:cNvPr>
          <p:cNvSpPr>
            <a:spLocks noGrp="1"/>
          </p:cNvSpPr>
          <p:nvPr>
            <p:ph type="body" sz="quarter" idx="13" hasCustomPrompt="1"/>
          </p:nvPr>
        </p:nvSpPr>
        <p:spPr>
          <a:xfrm>
            <a:off x="463550" y="3429000"/>
            <a:ext cx="4882034" cy="285656"/>
          </a:xfrm>
          <a:prstGeom prst="rect">
            <a:avLst/>
          </a:prstGeom>
        </p:spPr>
        <p:txBody>
          <a:bodyPr wrap="square">
            <a:spAutoFit/>
          </a:bodyPr>
          <a:lstStyle>
            <a:lvl1pPr marL="0" indent="0" algn="l">
              <a:lnSpc>
                <a:spcPct val="110000"/>
              </a:lnSpc>
              <a:spcBef>
                <a:spcPts val="0"/>
              </a:spcBef>
              <a:spcAft>
                <a:spcPts val="1125"/>
              </a:spcAft>
              <a:buNone/>
              <a:defRPr sz="1800"/>
            </a:lvl1pPr>
            <a:lvl2pPr marL="0" indent="0" algn="l">
              <a:spcBef>
                <a:spcPts val="0"/>
              </a:spcBef>
              <a:spcAft>
                <a:spcPts val="900"/>
              </a:spcAft>
              <a:buNone/>
              <a:defRPr sz="1800"/>
            </a:lvl2pPr>
            <a:lvl3pPr marL="0" indent="0" algn="l">
              <a:spcBef>
                <a:spcPts val="0"/>
              </a:spcBef>
              <a:spcAft>
                <a:spcPts val="900"/>
              </a:spcAft>
              <a:buNone/>
              <a:defRPr sz="1800"/>
            </a:lvl3pPr>
            <a:lvl4pPr marL="0" indent="0" algn="l">
              <a:spcBef>
                <a:spcPts val="0"/>
              </a:spcBef>
              <a:spcAft>
                <a:spcPts val="900"/>
              </a:spcAft>
              <a:buNone/>
              <a:defRPr sz="1800"/>
            </a:lvl4pPr>
            <a:lvl5pPr marL="0" indent="0" algn="l">
              <a:spcBef>
                <a:spcPts val="0"/>
              </a:spcBef>
              <a:spcAft>
                <a:spcPts val="900"/>
              </a:spcAft>
              <a:buFont typeface="Arial" panose="020B0604020202020204" pitchFamily="34" charset="0"/>
              <a:buNone/>
              <a:defRPr sz="1800"/>
            </a:lvl5pPr>
          </a:lstStyle>
          <a:p>
            <a:pPr lvl="0"/>
            <a:r>
              <a:rPr lang="ja-JP" altLang="en-US" dirty="0"/>
              <a:t>テキストを入れてください</a:t>
            </a:r>
            <a:endParaRPr lang="en-GB" dirty="0"/>
          </a:p>
        </p:txBody>
      </p:sp>
      <p:sp>
        <p:nvSpPr>
          <p:cNvPr id="4" name="Text Placeholder 2">
            <a:extLst>
              <a:ext uri="{FF2B5EF4-FFF2-40B4-BE49-F238E27FC236}">
                <a16:creationId xmlns:a16="http://schemas.microsoft.com/office/drawing/2014/main" id="{CF05E062-2325-4F56-1A65-5A580A67A505}"/>
              </a:ext>
            </a:extLst>
          </p:cNvPr>
          <p:cNvSpPr>
            <a:spLocks noGrp="1"/>
          </p:cNvSpPr>
          <p:nvPr>
            <p:ph type="body" sz="quarter" idx="14" hasCustomPrompt="1"/>
          </p:nvPr>
        </p:nvSpPr>
        <p:spPr>
          <a:xfrm>
            <a:off x="463550" y="698501"/>
            <a:ext cx="4882034" cy="373115"/>
          </a:xfrm>
          <a:prstGeom prst="rect">
            <a:avLst/>
          </a:prstGeom>
        </p:spPr>
        <p:txBody>
          <a:bodyPr wrap="square">
            <a:spAutoFit/>
          </a:bodyPr>
          <a:lstStyle>
            <a:lvl1pPr marL="0" indent="0" algn="l">
              <a:lnSpc>
                <a:spcPct val="110000"/>
              </a:lnSpc>
              <a:spcBef>
                <a:spcPts val="0"/>
              </a:spcBef>
              <a:spcAft>
                <a:spcPts val="1125"/>
              </a:spcAft>
              <a:buNone/>
              <a:defRPr sz="1800">
                <a:solidFill>
                  <a:schemeClr val="accent1"/>
                </a:solidFill>
              </a:defRPr>
            </a:lvl1pPr>
            <a:lvl2pPr marL="0" indent="0" algn="l">
              <a:spcBef>
                <a:spcPts val="0"/>
              </a:spcBef>
              <a:spcAft>
                <a:spcPts val="900"/>
              </a:spcAft>
              <a:buNone/>
              <a:defRPr sz="1800"/>
            </a:lvl2pPr>
            <a:lvl3pPr marL="0" indent="0" algn="l">
              <a:spcBef>
                <a:spcPts val="0"/>
              </a:spcBef>
              <a:spcAft>
                <a:spcPts val="900"/>
              </a:spcAft>
              <a:buNone/>
              <a:defRPr sz="1800"/>
            </a:lvl3pPr>
            <a:lvl4pPr marL="0" indent="0" algn="l">
              <a:spcBef>
                <a:spcPts val="0"/>
              </a:spcBef>
              <a:spcAft>
                <a:spcPts val="900"/>
              </a:spcAft>
              <a:buNone/>
              <a:defRPr sz="1800"/>
            </a:lvl4pPr>
            <a:lvl5pPr marL="0" indent="0" algn="l">
              <a:spcBef>
                <a:spcPts val="0"/>
              </a:spcBef>
              <a:spcAft>
                <a:spcPts val="900"/>
              </a:spcAft>
              <a:buFont typeface="Arial" panose="020B0604020202020204" pitchFamily="34" charset="0"/>
              <a:buNone/>
              <a:defRPr sz="1800"/>
            </a:lvl5pPr>
          </a:lstStyle>
          <a:p>
            <a:pPr lvl="0"/>
            <a:r>
              <a:rPr lang="ja-JP" altLang="en-US" dirty="0"/>
              <a:t>導入タイトル</a:t>
            </a:r>
            <a:endParaRPr lang="en-GB" dirty="0"/>
          </a:p>
        </p:txBody>
      </p:sp>
      <p:sp>
        <p:nvSpPr>
          <p:cNvPr id="12" name="Slide Number Placeholder 11">
            <a:extLst>
              <a:ext uri="{FF2B5EF4-FFF2-40B4-BE49-F238E27FC236}">
                <a16:creationId xmlns:a16="http://schemas.microsoft.com/office/drawing/2014/main" id="{E76D9932-B680-00C0-A02B-8FE0045784DC}"/>
              </a:ext>
            </a:extLst>
          </p:cNvPr>
          <p:cNvSpPr>
            <a:spLocks noGrp="1"/>
          </p:cNvSpPr>
          <p:nvPr>
            <p:ph type="sldNum" sz="quarter" idx="17"/>
          </p:nvPr>
        </p:nvSpPr>
        <p:spPr>
          <a:xfrm>
            <a:off x="463550" y="6354000"/>
            <a:ext cx="346450" cy="1440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Yu Gothic U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GB" sz="800" b="1" i="0" u="none" strike="noStrike" kern="1200" cap="none" spc="0" normalizeH="0" baseline="0" noProof="0" dirty="0">
              <a:ln>
                <a:noFill/>
              </a:ln>
              <a:solidFill>
                <a:prstClr val="black"/>
              </a:solidFill>
              <a:effectLst/>
              <a:uLnTx/>
              <a:uFillTx/>
              <a:latin typeface="Yu Gothic UI"/>
              <a:ea typeface="+mn-ea"/>
              <a:cs typeface="+mn-cs"/>
            </a:endParaRPr>
          </a:p>
        </p:txBody>
      </p:sp>
      <p:sp>
        <p:nvSpPr>
          <p:cNvPr id="13" name="Text Placeholder 3">
            <a:extLst>
              <a:ext uri="{FF2B5EF4-FFF2-40B4-BE49-F238E27FC236}">
                <a16:creationId xmlns:a16="http://schemas.microsoft.com/office/drawing/2014/main" id="{15DA0DBF-D408-93AA-DF3D-CCDC6D0A75F4}"/>
              </a:ext>
            </a:extLst>
          </p:cNvPr>
          <p:cNvSpPr>
            <a:spLocks noGrp="1"/>
          </p:cNvSpPr>
          <p:nvPr>
            <p:ph type="body" sz="half" idx="2" hasCustomPrompt="1"/>
          </p:nvPr>
        </p:nvSpPr>
        <p:spPr>
          <a:xfrm>
            <a:off x="463550" y="388801"/>
            <a:ext cx="3456000" cy="190437"/>
          </a:xfrm>
          <a:prstGeom prst="rect">
            <a:avLst/>
          </a:prstGeom>
        </p:spPr>
        <p:txBody>
          <a:bodyPr wrap="square">
            <a:spAutoFit/>
          </a:bodyPr>
          <a:lstStyle>
            <a:lvl1pPr marL="0" indent="0">
              <a:buNone/>
              <a:defRPr sz="1200" b="1">
                <a:solidFill>
                  <a:schemeClr val="tx1"/>
                </a:solidFill>
                <a:latin typeface="+mj-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Running header</a:t>
            </a:r>
            <a:r>
              <a:rPr lang="ja-JP" altLang="en-US" dirty="0"/>
              <a:t>（不要でしたら削除してください）</a:t>
            </a:r>
            <a:endParaRPr lang="en-GB" dirty="0"/>
          </a:p>
        </p:txBody>
      </p:sp>
      <p:pic>
        <p:nvPicPr>
          <p:cNvPr id="14" name="Graphic 13">
            <a:extLst>
              <a:ext uri="{FF2B5EF4-FFF2-40B4-BE49-F238E27FC236}">
                <a16:creationId xmlns:a16="http://schemas.microsoft.com/office/drawing/2014/main" id="{9F9C247F-CAFE-2C5E-38E7-62A80F9DA7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94188" y="388801"/>
            <a:ext cx="1022350" cy="226695"/>
          </a:xfrm>
          <a:prstGeom prst="rect">
            <a:avLst/>
          </a:prstGeom>
        </p:spPr>
      </p:pic>
      <p:sp>
        <p:nvSpPr>
          <p:cNvPr id="5" name="Footer Placeholder 6">
            <a:extLst>
              <a:ext uri="{FF2B5EF4-FFF2-40B4-BE49-F238E27FC236}">
                <a16:creationId xmlns:a16="http://schemas.microsoft.com/office/drawing/2014/main" id="{3E3F6A1B-44B2-7456-1BA6-155921A2676D}"/>
              </a:ext>
            </a:extLst>
          </p:cNvPr>
          <p:cNvSpPr>
            <a:spLocks noGrp="1"/>
          </p:cNvSpPr>
          <p:nvPr>
            <p:ph type="ftr" sz="quarter" idx="18"/>
          </p:nvPr>
        </p:nvSpPr>
        <p:spPr>
          <a:xfrm>
            <a:off x="809998" y="6356729"/>
            <a:ext cx="4798800" cy="151200"/>
          </a:xfrm>
          <a:prstGeom prst="rect">
            <a:avLst/>
          </a:prstGeom>
        </p:spPr>
        <p:txBody>
          <a:bodyPr/>
          <a:lstStyle>
            <a:lvl1pPr>
              <a:defRPr lang="en-US" altLang="ja-JP" sz="700" smtClean="0">
                <a:latin typeface="+mn-ea"/>
                <a:ea typeface="+mn-ea"/>
              </a:defRPr>
            </a:lvl1pPr>
          </a:lstStyle>
          <a:p>
            <a:r>
              <a:rPr lang="en-US" dirty="0"/>
              <a:t>Hitachi Systems Power Services </a:t>
            </a:r>
            <a:r>
              <a:rPr lang="ja-JP" altLang="en-US" dirty="0"/>
              <a:t>　</a:t>
            </a:r>
            <a:r>
              <a:rPr lang="en-US" dirty="0"/>
              <a:t>|   (HISYS-PS)</a:t>
            </a:r>
            <a:r>
              <a:rPr lang="ja-JP" altLang="en-US" dirty="0"/>
              <a:t>版テンプレート   </a:t>
            </a:r>
            <a:r>
              <a:rPr lang="en-US" altLang="ja-JP" dirty="0"/>
              <a:t>| </a:t>
            </a:r>
            <a:r>
              <a:rPr lang="ja-JP" altLang="en-US" dirty="0"/>
              <a:t>［社外秘］開示範囲：〇〇〇限り </a:t>
            </a:r>
          </a:p>
        </p:txBody>
      </p:sp>
    </p:spTree>
    <p:extLst>
      <p:ext uri="{BB962C8B-B14F-4D97-AF65-F5344CB8AC3E}">
        <p14:creationId xmlns:p14="http://schemas.microsoft.com/office/powerpoint/2010/main" val="271603375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扉">
    <p:spTree>
      <p:nvGrpSpPr>
        <p:cNvPr id="1" name=""/>
        <p:cNvGrpSpPr/>
        <p:nvPr/>
      </p:nvGrpSpPr>
      <p:grpSpPr>
        <a:xfrm>
          <a:off x="0" y="0"/>
          <a:ext cx="0" cy="0"/>
          <a:chOff x="0" y="0"/>
          <a:chExt cx="0" cy="0"/>
        </a:xfrm>
      </p:grpSpPr>
      <p:sp>
        <p:nvSpPr>
          <p:cNvPr id="7" name="Slide Number Placeholder 9">
            <a:extLst>
              <a:ext uri="{FF2B5EF4-FFF2-40B4-BE49-F238E27FC236}">
                <a16:creationId xmlns:a16="http://schemas.microsoft.com/office/drawing/2014/main" id="{76759A4A-3610-1BEA-1B5E-7E47451FB154}"/>
              </a:ext>
            </a:extLst>
          </p:cNvPr>
          <p:cNvSpPr>
            <a:spLocks noGrp="1"/>
          </p:cNvSpPr>
          <p:nvPr>
            <p:ph type="sldNum" sz="quarter" idx="12"/>
          </p:nvPr>
        </p:nvSpPr>
        <p:spPr>
          <a:xfrm>
            <a:off x="463550" y="6354000"/>
            <a:ext cx="346450" cy="1440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Yu Gothic U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GB" sz="800" b="1" i="0" u="none" strike="noStrike" kern="1200" cap="none" spc="0" normalizeH="0" baseline="0" noProof="0" dirty="0">
              <a:ln>
                <a:noFill/>
              </a:ln>
              <a:solidFill>
                <a:prstClr val="black"/>
              </a:solidFill>
              <a:effectLst/>
              <a:uLnTx/>
              <a:uFillTx/>
              <a:latin typeface="Yu Gothic UI"/>
              <a:ea typeface="+mn-ea"/>
              <a:cs typeface="+mn-cs"/>
            </a:endParaRPr>
          </a:p>
        </p:txBody>
      </p:sp>
      <p:sp>
        <p:nvSpPr>
          <p:cNvPr id="8" name="Text Placeholder 3">
            <a:extLst>
              <a:ext uri="{FF2B5EF4-FFF2-40B4-BE49-F238E27FC236}">
                <a16:creationId xmlns:a16="http://schemas.microsoft.com/office/drawing/2014/main" id="{FAF37080-3E23-A24C-A5F9-D80B420C0D48}"/>
              </a:ext>
            </a:extLst>
          </p:cNvPr>
          <p:cNvSpPr>
            <a:spLocks noGrp="1"/>
          </p:cNvSpPr>
          <p:nvPr>
            <p:ph type="body" sz="half" idx="2" hasCustomPrompt="1"/>
          </p:nvPr>
        </p:nvSpPr>
        <p:spPr>
          <a:xfrm>
            <a:off x="463550" y="388801"/>
            <a:ext cx="3600000" cy="279500"/>
          </a:xfrm>
          <a:prstGeom prst="rect">
            <a:avLst/>
          </a:prstGeom>
        </p:spPr>
        <p:txBody>
          <a:bodyPr wrap="square">
            <a:spAutoFit/>
          </a:bodyPr>
          <a:lstStyle>
            <a:lvl1pPr marL="0" indent="0">
              <a:buNone/>
              <a:defRPr sz="1200" b="1">
                <a:solidFill>
                  <a:schemeClr val="tx1"/>
                </a:solidFill>
                <a:latin typeface="+mj-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Running header</a:t>
            </a:r>
            <a:r>
              <a:rPr lang="ja-JP" altLang="en-US" dirty="0"/>
              <a:t>（不要でしたら削除してください）</a:t>
            </a:r>
            <a:endParaRPr lang="en-GB" dirty="0"/>
          </a:p>
        </p:txBody>
      </p:sp>
      <p:pic>
        <p:nvPicPr>
          <p:cNvPr id="9" name="Graphic 12">
            <a:extLst>
              <a:ext uri="{FF2B5EF4-FFF2-40B4-BE49-F238E27FC236}">
                <a16:creationId xmlns:a16="http://schemas.microsoft.com/office/drawing/2014/main" id="{E158E5B1-380E-CD17-F677-379C89D6E3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94188" y="388801"/>
            <a:ext cx="1022350" cy="226695"/>
          </a:xfrm>
          <a:prstGeom prst="rect">
            <a:avLst/>
          </a:prstGeom>
        </p:spPr>
      </p:pic>
      <p:sp>
        <p:nvSpPr>
          <p:cNvPr id="2" name="Title 11">
            <a:extLst>
              <a:ext uri="{FF2B5EF4-FFF2-40B4-BE49-F238E27FC236}">
                <a16:creationId xmlns:a16="http://schemas.microsoft.com/office/drawing/2014/main" id="{AFCE240A-7C8C-C55D-91FC-45D1E5EEF25E}"/>
              </a:ext>
            </a:extLst>
          </p:cNvPr>
          <p:cNvSpPr>
            <a:spLocks noGrp="1"/>
          </p:cNvSpPr>
          <p:nvPr>
            <p:ph type="title" hasCustomPrompt="1"/>
          </p:nvPr>
        </p:nvSpPr>
        <p:spPr>
          <a:xfrm>
            <a:off x="463549" y="698500"/>
            <a:ext cx="4873626" cy="311624"/>
          </a:xfrm>
          <a:prstGeom prst="rect">
            <a:avLst/>
          </a:prstGeom>
        </p:spPr>
        <p:txBody>
          <a:bodyPr/>
          <a:lstStyle>
            <a:lvl1pPr>
              <a:defRPr sz="2250">
                <a:solidFill>
                  <a:schemeClr val="tx1"/>
                </a:solidFill>
              </a:defRPr>
            </a:lvl1pPr>
          </a:lstStyle>
          <a:p>
            <a:r>
              <a:rPr lang="ja-JP" altLang="en-US" dirty="0"/>
              <a:t>章タイトル</a:t>
            </a:r>
            <a:endParaRPr lang="en-GB" dirty="0"/>
          </a:p>
        </p:txBody>
      </p:sp>
      <p:sp>
        <p:nvSpPr>
          <p:cNvPr id="3" name="Footer Placeholder 6">
            <a:extLst>
              <a:ext uri="{FF2B5EF4-FFF2-40B4-BE49-F238E27FC236}">
                <a16:creationId xmlns:a16="http://schemas.microsoft.com/office/drawing/2014/main" id="{32656CEA-B2C3-0808-9F5D-38FAF26F79E8}"/>
              </a:ext>
            </a:extLst>
          </p:cNvPr>
          <p:cNvSpPr>
            <a:spLocks noGrp="1"/>
          </p:cNvSpPr>
          <p:nvPr>
            <p:ph type="ftr" sz="quarter" idx="17"/>
          </p:nvPr>
        </p:nvSpPr>
        <p:spPr>
          <a:xfrm>
            <a:off x="809998" y="6356729"/>
            <a:ext cx="4797172" cy="151200"/>
          </a:xfrm>
          <a:prstGeom prst="rect">
            <a:avLst/>
          </a:prstGeom>
        </p:spPr>
        <p:txBody>
          <a:bodyPr/>
          <a:lstStyle>
            <a:lvl1pPr>
              <a:defRPr sz="700">
                <a:latin typeface="+mn-ea"/>
                <a:ea typeface="+mn-ea"/>
              </a:defRPr>
            </a:lvl1pPr>
          </a:lstStyle>
          <a:p>
            <a:r>
              <a:rPr lang="en-US" altLang="ja-JP" dirty="0"/>
              <a:t>Hitachi Systems Power Services </a:t>
            </a:r>
            <a:r>
              <a:rPr lang="ja-JP" altLang="en-US" dirty="0"/>
              <a:t>　</a:t>
            </a:r>
            <a:r>
              <a:rPr lang="en-US" altLang="ja-JP" dirty="0"/>
              <a:t>|   (HISYS-PS)</a:t>
            </a:r>
            <a:r>
              <a:rPr lang="ja-JP" altLang="en-US" dirty="0"/>
              <a:t>版テンプレート   </a:t>
            </a:r>
            <a:r>
              <a:rPr lang="en-US" altLang="ja-JP" dirty="0"/>
              <a:t>| </a:t>
            </a:r>
            <a:r>
              <a:rPr lang="ja-JP" altLang="en-US" dirty="0"/>
              <a:t>［社外秘］開示範囲：〇〇〇限り </a:t>
            </a:r>
            <a:endParaRPr lang="en-GB" altLang="ja-JP" dirty="0"/>
          </a:p>
        </p:txBody>
      </p:sp>
    </p:spTree>
    <p:extLst>
      <p:ext uri="{BB962C8B-B14F-4D97-AF65-F5344CB8AC3E}">
        <p14:creationId xmlns:p14="http://schemas.microsoft.com/office/powerpoint/2010/main" val="4142346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bg>
      <p:bgPr>
        <a:solidFill>
          <a:schemeClr val="bg1"/>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2A3E3D5-B7AF-B9BF-1418-806BA6C67D8F}"/>
              </a:ext>
            </a:extLst>
          </p:cNvPr>
          <p:cNvSpPr>
            <a:spLocks noGrp="1"/>
          </p:cNvSpPr>
          <p:nvPr>
            <p:ph type="title" hasCustomPrompt="1"/>
          </p:nvPr>
        </p:nvSpPr>
        <p:spPr>
          <a:xfrm>
            <a:off x="463550" y="698500"/>
            <a:ext cx="8213725" cy="5461000"/>
          </a:xfrm>
          <a:prstGeom prst="rect">
            <a:avLst/>
          </a:prstGeom>
        </p:spPr>
        <p:txBody>
          <a:bodyPr anchor="ctr">
            <a:noAutofit/>
          </a:bodyPr>
          <a:lstStyle>
            <a:lvl1pPr algn="ctr">
              <a:lnSpc>
                <a:spcPct val="95000"/>
              </a:lnSpc>
              <a:defRPr sz="3600"/>
            </a:lvl1pPr>
          </a:lstStyle>
          <a:p>
            <a:r>
              <a:rPr lang="ja-JP" altLang="en-US" dirty="0"/>
              <a:t>ダミーテキスト</a:t>
            </a:r>
            <a:endParaRPr lang="en-GB" dirty="0"/>
          </a:p>
        </p:txBody>
      </p:sp>
      <p:sp>
        <p:nvSpPr>
          <p:cNvPr id="10" name="Slide Number Placeholder 9">
            <a:extLst>
              <a:ext uri="{FF2B5EF4-FFF2-40B4-BE49-F238E27FC236}">
                <a16:creationId xmlns:a16="http://schemas.microsoft.com/office/drawing/2014/main" id="{F4898898-D774-7E8F-996C-E2E6E778A310}"/>
              </a:ext>
            </a:extLst>
          </p:cNvPr>
          <p:cNvSpPr>
            <a:spLocks noGrp="1"/>
          </p:cNvSpPr>
          <p:nvPr>
            <p:ph type="sldNum" sz="quarter" idx="12"/>
          </p:nvPr>
        </p:nvSpPr>
        <p:spPr>
          <a:xfrm>
            <a:off x="463550" y="6354000"/>
            <a:ext cx="346450" cy="144000"/>
          </a:xfrm>
          <a:prstGeom prst="rect">
            <a:avLst/>
          </a:prstGeo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Yu Gothic U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GB" sz="800" b="1" i="0" u="none" strike="noStrike" kern="1200" cap="none" spc="0" normalizeH="0" baseline="0" noProof="0" dirty="0">
              <a:ln>
                <a:noFill/>
              </a:ln>
              <a:solidFill>
                <a:prstClr val="black"/>
              </a:solidFill>
              <a:effectLst/>
              <a:uLnTx/>
              <a:uFillTx/>
              <a:latin typeface="Yu Gothic UI"/>
              <a:ea typeface="+mn-ea"/>
              <a:cs typeface="+mn-cs"/>
            </a:endParaRPr>
          </a:p>
        </p:txBody>
      </p:sp>
      <p:sp>
        <p:nvSpPr>
          <p:cNvPr id="11" name="Text Placeholder 3">
            <a:extLst>
              <a:ext uri="{FF2B5EF4-FFF2-40B4-BE49-F238E27FC236}">
                <a16:creationId xmlns:a16="http://schemas.microsoft.com/office/drawing/2014/main" id="{41A5D5B6-3570-8A2B-DCC9-5A5521187601}"/>
              </a:ext>
            </a:extLst>
          </p:cNvPr>
          <p:cNvSpPr>
            <a:spLocks noGrp="1"/>
          </p:cNvSpPr>
          <p:nvPr>
            <p:ph type="body" sz="half" idx="2" hasCustomPrompt="1"/>
          </p:nvPr>
        </p:nvSpPr>
        <p:spPr>
          <a:xfrm>
            <a:off x="463550" y="388801"/>
            <a:ext cx="3600000" cy="190437"/>
          </a:xfrm>
          <a:prstGeom prst="rect">
            <a:avLst/>
          </a:prstGeom>
        </p:spPr>
        <p:txBody>
          <a:bodyPr wrap="square">
            <a:spAutoFit/>
          </a:bodyPr>
          <a:lstStyle>
            <a:lvl1pPr marL="0" indent="0">
              <a:buNone/>
              <a:defRPr sz="1200" b="1">
                <a:solidFill>
                  <a:schemeClr val="tx1"/>
                </a:solidFill>
                <a:latin typeface="+mj-lt"/>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dirty="0"/>
              <a:t>Running header</a:t>
            </a:r>
            <a:r>
              <a:rPr lang="ja-JP" altLang="en-US" dirty="0"/>
              <a:t>　（不要でしたら削除してください）</a:t>
            </a:r>
            <a:endParaRPr lang="en-GB" dirty="0"/>
          </a:p>
        </p:txBody>
      </p:sp>
      <p:pic>
        <p:nvPicPr>
          <p:cNvPr id="13" name="Graphic 12">
            <a:extLst>
              <a:ext uri="{FF2B5EF4-FFF2-40B4-BE49-F238E27FC236}">
                <a16:creationId xmlns:a16="http://schemas.microsoft.com/office/drawing/2014/main" id="{C83261BF-A23E-BF49-205F-665A0A5688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94188" y="388801"/>
            <a:ext cx="1022350" cy="226695"/>
          </a:xfrm>
          <a:prstGeom prst="rect">
            <a:avLst/>
          </a:prstGeom>
        </p:spPr>
      </p:pic>
      <p:sp>
        <p:nvSpPr>
          <p:cNvPr id="2" name="Footer Placeholder 6">
            <a:extLst>
              <a:ext uri="{FF2B5EF4-FFF2-40B4-BE49-F238E27FC236}">
                <a16:creationId xmlns:a16="http://schemas.microsoft.com/office/drawing/2014/main" id="{68E29DDD-C13D-14A2-A6B6-1E9F5F82CCD9}"/>
              </a:ext>
            </a:extLst>
          </p:cNvPr>
          <p:cNvSpPr>
            <a:spLocks noGrp="1"/>
          </p:cNvSpPr>
          <p:nvPr>
            <p:ph type="ftr" sz="quarter" idx="17"/>
          </p:nvPr>
        </p:nvSpPr>
        <p:spPr>
          <a:xfrm>
            <a:off x="809998" y="6356729"/>
            <a:ext cx="4797172" cy="151200"/>
          </a:xfrm>
          <a:prstGeom prst="rect">
            <a:avLst/>
          </a:prstGeom>
        </p:spPr>
        <p:txBody>
          <a:bodyPr/>
          <a:lstStyle>
            <a:lvl1pPr>
              <a:defRPr sz="700">
                <a:latin typeface="+mn-ea"/>
                <a:ea typeface="+mn-ea"/>
              </a:defRPr>
            </a:lvl1pPr>
          </a:lstStyle>
          <a:p>
            <a:r>
              <a:rPr lang="en-US" altLang="ja-JP" dirty="0"/>
              <a:t>Hitachi Systems Power Services </a:t>
            </a:r>
            <a:r>
              <a:rPr lang="ja-JP" altLang="en-US" dirty="0"/>
              <a:t>　</a:t>
            </a:r>
            <a:r>
              <a:rPr lang="en-US" altLang="ja-JP" dirty="0"/>
              <a:t>|   (HISYS-PS)</a:t>
            </a:r>
            <a:r>
              <a:rPr lang="ja-JP" altLang="en-US" dirty="0"/>
              <a:t>版テンプレート   </a:t>
            </a:r>
            <a:r>
              <a:rPr lang="en-US" altLang="ja-JP" dirty="0"/>
              <a:t>| </a:t>
            </a:r>
            <a:r>
              <a:rPr lang="ja-JP" altLang="en-US" dirty="0"/>
              <a:t>［社外秘］開示範囲：〇〇〇限り </a:t>
            </a:r>
            <a:endParaRPr lang="en-GB" altLang="ja-JP" dirty="0"/>
          </a:p>
        </p:txBody>
      </p:sp>
    </p:spTree>
    <p:extLst>
      <p:ext uri="{BB962C8B-B14F-4D97-AF65-F5344CB8AC3E}">
        <p14:creationId xmlns:p14="http://schemas.microsoft.com/office/powerpoint/2010/main" val="2236725965"/>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クロージング">
    <p:bg>
      <p:bgPr>
        <a:solidFill>
          <a:schemeClr val="bg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5B67D6BA-0D97-2FB2-2A3C-DBD02F81E3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24941" y="2711508"/>
            <a:ext cx="6494118" cy="1440000"/>
          </a:xfrm>
          <a:prstGeom prst="rect">
            <a:avLst/>
          </a:prstGeom>
        </p:spPr>
      </p:pic>
    </p:spTree>
    <p:extLst>
      <p:ext uri="{BB962C8B-B14F-4D97-AF65-F5344CB8AC3E}">
        <p14:creationId xmlns:p14="http://schemas.microsoft.com/office/powerpoint/2010/main" val="1513505555"/>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713128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chemeClr val="bg1"/>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5B67D6BA-0D97-2FB2-2A3C-DBD02F81E3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324941" y="2711508"/>
            <a:ext cx="6494118" cy="1440000"/>
          </a:xfrm>
          <a:prstGeom prst="rect">
            <a:avLst/>
          </a:prstGeom>
        </p:spPr>
      </p:pic>
    </p:spTree>
    <p:extLst>
      <p:ext uri="{BB962C8B-B14F-4D97-AF65-F5344CB8AC3E}">
        <p14:creationId xmlns:p14="http://schemas.microsoft.com/office/powerpoint/2010/main" val="82001569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k">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3064192"/>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681037"/>
            <a:ext cx="7518400" cy="278794"/>
          </a:xfrm>
          <a:prstGeom prst="rect">
            <a:avLst/>
          </a:prstGeom>
        </p:spPr>
        <p:txBody>
          <a:bodyPr vert="horz" wrap="square" lIns="0" tIns="0" rIns="0" bIns="0" rtlCol="0" anchor="t">
            <a:spAutoFit/>
          </a:bodyPr>
          <a:lstStyle/>
          <a:p>
            <a:r>
              <a:rPr lang="ja-JP" altLang="en-US" dirty="0"/>
              <a:t>日立システムズパワーサービス版スライドマスター</a:t>
            </a:r>
            <a:endParaRPr lang="en-US" dirty="0"/>
          </a:p>
        </p:txBody>
      </p:sp>
      <p:sp>
        <p:nvSpPr>
          <p:cNvPr id="8" name="TextBox 6">
            <a:extLst>
              <a:ext uri="{FF2B5EF4-FFF2-40B4-BE49-F238E27FC236}">
                <a16:creationId xmlns:a16="http://schemas.microsoft.com/office/drawing/2014/main" id="{B84071F8-1125-37DC-FE4A-CAF332558D0F}"/>
              </a:ext>
            </a:extLst>
          </p:cNvPr>
          <p:cNvSpPr txBox="1"/>
          <p:nvPr userDrawn="1"/>
        </p:nvSpPr>
        <p:spPr>
          <a:xfrm>
            <a:off x="5408763" y="6361200"/>
            <a:ext cx="3271688" cy="134491"/>
          </a:xfrm>
          <a:prstGeom prst="rect">
            <a:avLst/>
          </a:prstGeom>
          <a:noFill/>
        </p:spPr>
        <p:txBody>
          <a:bodyPr wrap="square" lIns="0" tIns="0" rIns="0" bIns="0" rtlCol="0">
            <a:no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ja-JP" sz="800" b="1" i="0" u="none" strike="noStrike" kern="1200" cap="none" spc="0" normalizeH="0" baseline="0" noProof="0" dirty="0">
                <a:ln>
                  <a:noFill/>
                </a:ln>
                <a:solidFill>
                  <a:schemeClr val="tx1"/>
                </a:solidFill>
                <a:effectLst/>
                <a:uLnTx/>
                <a:uFillTx/>
                <a:latin typeface="+mn-lt"/>
                <a:ea typeface="+mn-ea"/>
                <a:cs typeface="+mn-cs"/>
              </a:rPr>
              <a:t>© Hitachi Systems Power Services, Ltd. 2025. All rights reserved.</a:t>
            </a:r>
            <a:endParaRPr kumimoji="0" lang="en-GB" altLang="ja-JP" sz="800" b="1"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730169479"/>
      </p:ext>
    </p:extLst>
  </p:cSld>
  <p:clrMap bg1="lt1" tx1="dk1" bg2="lt2" tx2="dk2" accent1="accent1" accent2="accent2" accent3="accent3" accent4="accent4" accent5="accent5" accent6="accent6" hlink="hlink" folHlink="folHlink"/>
  <p:sldLayoutIdLst>
    <p:sldLayoutId id="2147483779" r:id="rId1"/>
    <p:sldLayoutId id="2147483782" r:id="rId2"/>
    <p:sldLayoutId id="2147483848" r:id="rId3"/>
    <p:sldLayoutId id="2147483783" r:id="rId4"/>
    <p:sldLayoutId id="2147483784" r:id="rId5"/>
    <p:sldLayoutId id="2147483785" r:id="rId6"/>
    <p:sldLayoutId id="2147483786" r:id="rId7"/>
  </p:sldLayoutIdLst>
  <p:hf hdr="0" dt="0"/>
  <p:txStyles>
    <p:titleStyle>
      <a:lvl1pPr algn="l" defTabSz="914400" rtl="0" eaLnBrk="1" latinLnBrk="0" hangingPunct="1">
        <a:lnSpc>
          <a:spcPct val="90000"/>
        </a:lnSpc>
        <a:spcBef>
          <a:spcPct val="0"/>
        </a:spcBef>
        <a:buNone/>
        <a:defRPr sz="2000" kern="1200">
          <a:solidFill>
            <a:schemeClr val="tx1"/>
          </a:solidFill>
          <a:latin typeface="+mj-lt"/>
          <a:ea typeface="+mj-ea"/>
          <a:cs typeface="+mj-cs"/>
        </a:defRPr>
      </a:lvl1pPr>
    </p:titleStyle>
    <p:bodyStyle>
      <a:lvl1pPr marL="108000" indent="-108000" algn="l" defTabSz="914400" rtl="0" eaLnBrk="1" latinLnBrk="0" hangingPunct="1">
        <a:lnSpc>
          <a:spcPct val="110000"/>
        </a:lnSpc>
        <a:spcBef>
          <a:spcPts val="600"/>
        </a:spcBef>
        <a:buFont typeface="Yu Gothic UI"/>
        <a:buChar char="–"/>
        <a:defRPr sz="1000" kern="1200" baseline="0">
          <a:solidFill>
            <a:schemeClr val="tx1"/>
          </a:solidFill>
          <a:latin typeface="+mn-lt"/>
          <a:ea typeface="+mn-ea"/>
          <a:cs typeface="+mn-cs"/>
        </a:defRPr>
      </a:lvl1pPr>
      <a:lvl2pPr marL="108000" indent="-108000" algn="l" defTabSz="914400" rtl="0" eaLnBrk="1" latinLnBrk="0" hangingPunct="1">
        <a:lnSpc>
          <a:spcPct val="110000"/>
        </a:lnSpc>
        <a:spcBef>
          <a:spcPts val="0"/>
        </a:spcBef>
        <a:buFont typeface="Yu Gothic UI"/>
        <a:buChar char="–"/>
        <a:defRPr sz="1000" kern="1200" baseline="0">
          <a:solidFill>
            <a:schemeClr val="tx1"/>
          </a:solidFill>
          <a:latin typeface="+mn-lt"/>
          <a:ea typeface="+mn-ea"/>
          <a:cs typeface="+mn-cs"/>
        </a:defRPr>
      </a:lvl2pPr>
      <a:lvl3pPr marL="216000" indent="-108000" algn="l" defTabSz="914400" rtl="0" eaLnBrk="1" latinLnBrk="0" hangingPunct="1">
        <a:lnSpc>
          <a:spcPct val="110000"/>
        </a:lnSpc>
        <a:spcBef>
          <a:spcPts val="0"/>
        </a:spcBef>
        <a:buFont typeface="Yu Gothic UI"/>
        <a:buChar char="–"/>
        <a:defRPr sz="1000" kern="1200" baseline="0">
          <a:solidFill>
            <a:schemeClr val="tx1"/>
          </a:solidFill>
          <a:latin typeface="+mn-lt"/>
          <a:ea typeface="+mn-ea"/>
          <a:cs typeface="+mn-cs"/>
        </a:defRPr>
      </a:lvl3pPr>
      <a:lvl4pPr marL="324000" indent="-108000" algn="l" defTabSz="914400" rtl="0" eaLnBrk="1" latinLnBrk="0" hangingPunct="1">
        <a:lnSpc>
          <a:spcPct val="110000"/>
        </a:lnSpc>
        <a:spcBef>
          <a:spcPts val="0"/>
        </a:spcBef>
        <a:buFont typeface="Yu Gothic UI"/>
        <a:buChar char="–"/>
        <a:defRPr sz="1000" kern="1200" baseline="0">
          <a:solidFill>
            <a:schemeClr val="tx1"/>
          </a:solidFill>
          <a:latin typeface="+mn-lt"/>
          <a:ea typeface="+mn-ea"/>
          <a:cs typeface="+mn-cs"/>
        </a:defRPr>
      </a:lvl4pPr>
      <a:lvl5pPr marL="0" indent="0" algn="l" defTabSz="914400" rtl="0" eaLnBrk="1" latinLnBrk="0" hangingPunct="1">
        <a:lnSpc>
          <a:spcPct val="110000"/>
        </a:lnSpc>
        <a:spcBef>
          <a:spcPts val="0"/>
        </a:spcBef>
        <a:buFont typeface="Yu Gothic UI"/>
        <a:buNone/>
        <a:defRPr sz="1000" kern="1200" baseline="0">
          <a:solidFill>
            <a:schemeClr val="tx1"/>
          </a:solidFill>
          <a:latin typeface="+mn-lt"/>
          <a:ea typeface="+mn-ea"/>
          <a:cs typeface="+mn-cs"/>
        </a:defRPr>
      </a:lvl5pPr>
      <a:lvl6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6pPr>
      <a:lvl7pPr marL="216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7pPr>
      <a:lvl8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8pPr>
      <a:lvl9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12">
          <p15:clr>
            <a:srgbClr val="F26B43"/>
          </p15:clr>
        </p15:guide>
        <p15:guide id="2" pos="292">
          <p15:clr>
            <a:srgbClr val="F26B43"/>
          </p15:clr>
        </p15:guide>
        <p15:guide id="3" pos="5466">
          <p15:clr>
            <a:srgbClr val="F26B43"/>
          </p15:clr>
        </p15:guide>
        <p15:guide id="4" orient="horz" pos="1298">
          <p15:clr>
            <a:srgbClr val="F26B43"/>
          </p15:clr>
        </p15:guide>
        <p15:guide id="5" orient="horz" pos="726">
          <p15:clr>
            <a:srgbClr val="F26B43"/>
          </p15:clr>
        </p15:guide>
        <p15:guide id="6" pos="642">
          <p15:clr>
            <a:srgbClr val="F26B43"/>
          </p15:clr>
        </p15:guide>
        <p15:guide id="7" pos="730">
          <p15:clr>
            <a:srgbClr val="F26B43"/>
          </p15:clr>
        </p15:guide>
        <p15:guide id="8" pos="1078">
          <p15:clr>
            <a:srgbClr val="F26B43"/>
          </p15:clr>
        </p15:guide>
        <p15:guide id="9" pos="1170">
          <p15:clr>
            <a:srgbClr val="F26B43"/>
          </p15:clr>
        </p15:guide>
        <p15:guide id="10" pos="1518">
          <p15:clr>
            <a:srgbClr val="F26B43"/>
          </p15:clr>
        </p15:guide>
        <p15:guide id="11" pos="1608">
          <p15:clr>
            <a:srgbClr val="F26B43"/>
          </p15:clr>
        </p15:guide>
        <p15:guide id="12" pos="1956">
          <p15:clr>
            <a:srgbClr val="F26B43"/>
          </p15:clr>
        </p15:guide>
        <p15:guide id="13" pos="2048">
          <p15:clr>
            <a:srgbClr val="F26B43"/>
          </p15:clr>
        </p15:guide>
        <p15:guide id="14" pos="2396">
          <p15:clr>
            <a:srgbClr val="F26B43"/>
          </p15:clr>
        </p15:guide>
        <p15:guide id="15" pos="2484">
          <p15:clr>
            <a:srgbClr val="F26B43"/>
          </p15:clr>
        </p15:guide>
        <p15:guide id="16" pos="2834">
          <p15:clr>
            <a:srgbClr val="F26B43"/>
          </p15:clr>
        </p15:guide>
        <p15:guide id="17" pos="2926">
          <p15:clr>
            <a:srgbClr val="F26B43"/>
          </p15:clr>
        </p15:guide>
        <p15:guide id="18" pos="3272">
          <p15:clr>
            <a:srgbClr val="F26B43"/>
          </p15:clr>
        </p15:guide>
        <p15:guide id="19" pos="3362">
          <p15:clr>
            <a:srgbClr val="F26B43"/>
          </p15:clr>
        </p15:guide>
        <p15:guide id="20" pos="3710">
          <p15:clr>
            <a:srgbClr val="F26B43"/>
          </p15:clr>
        </p15:guide>
        <p15:guide id="21" pos="3802">
          <p15:clr>
            <a:srgbClr val="F26B43"/>
          </p15:clr>
        </p15:guide>
        <p15:guide id="22" pos="4150">
          <p15:clr>
            <a:srgbClr val="F26B43"/>
          </p15:clr>
        </p15:guide>
        <p15:guide id="23" pos="4240">
          <p15:clr>
            <a:srgbClr val="F26B43"/>
          </p15:clr>
        </p15:guide>
        <p15:guide id="24" pos="4588">
          <p15:clr>
            <a:srgbClr val="F26B43"/>
          </p15:clr>
        </p15:guide>
        <p15:guide id="25" pos="4680">
          <p15:clr>
            <a:srgbClr val="F26B43"/>
          </p15:clr>
        </p15:guide>
        <p15:guide id="26" pos="5028">
          <p15:clr>
            <a:srgbClr val="F26B43"/>
          </p15:clr>
        </p15:guide>
        <p15:guide id="27" pos="5118">
          <p15:clr>
            <a:srgbClr val="F26B43"/>
          </p15:clr>
        </p15:guide>
        <p15:guide id="28" orient="horz" pos="1586">
          <p15:clr>
            <a:srgbClr val="F26B43"/>
          </p15:clr>
        </p15:guide>
        <p15:guide id="29" orient="horz" pos="1872">
          <p15:clr>
            <a:srgbClr val="F26B43"/>
          </p15:clr>
        </p15:guide>
        <p15:guide id="30" orient="horz" pos="2158">
          <p15:clr>
            <a:srgbClr val="F26B43"/>
          </p15:clr>
        </p15:guide>
        <p15:guide id="31" orient="horz" pos="2446">
          <p15:clr>
            <a:srgbClr val="F26B43"/>
          </p15:clr>
        </p15:guide>
        <p15:guide id="32" orient="horz" pos="2732">
          <p15:clr>
            <a:srgbClr val="F26B43"/>
          </p15:clr>
        </p15:guide>
        <p15:guide id="33" orient="horz" pos="3018">
          <p15:clr>
            <a:srgbClr val="F26B43"/>
          </p15:clr>
        </p15:guide>
        <p15:guide id="34" orient="horz" pos="3306">
          <p15:clr>
            <a:srgbClr val="F26B43"/>
          </p15:clr>
        </p15:guide>
        <p15:guide id="35" orient="horz" pos="3592">
          <p15:clr>
            <a:srgbClr val="F26B43"/>
          </p15:clr>
        </p15:guide>
        <p15:guide id="36" orient="horz" pos="3880">
          <p15:clr>
            <a:srgbClr val="F26B43"/>
          </p15:clr>
        </p15:guide>
        <p15:guide id="37" orient="horz" pos="43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681037"/>
            <a:ext cx="7518400" cy="278794"/>
          </a:xfrm>
          <a:prstGeom prst="rect">
            <a:avLst/>
          </a:prstGeom>
        </p:spPr>
        <p:txBody>
          <a:bodyPr vert="horz" wrap="square" lIns="0" tIns="0" rIns="0" bIns="0" rtlCol="0" anchor="t">
            <a:spAutoFit/>
          </a:bodyPr>
          <a:lstStyle/>
          <a:p>
            <a:r>
              <a:rPr lang="en-GB" dirty="0"/>
              <a:t>Click to edit Master title style</a:t>
            </a:r>
            <a:endParaRPr lang="en-US" dirty="0"/>
          </a:p>
        </p:txBody>
      </p:sp>
      <p:sp>
        <p:nvSpPr>
          <p:cNvPr id="3" name="Text Placeholder 2"/>
          <p:cNvSpPr>
            <a:spLocks noGrp="1"/>
          </p:cNvSpPr>
          <p:nvPr>
            <p:ph type="body" idx="1"/>
          </p:nvPr>
        </p:nvSpPr>
        <p:spPr>
          <a:xfrm>
            <a:off x="463550" y="1606551"/>
            <a:ext cx="7518400" cy="1226530"/>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4" name="Date Placeholder 3"/>
          <p:cNvSpPr>
            <a:spLocks noGrp="1"/>
          </p:cNvSpPr>
          <p:nvPr>
            <p:ph type="dt" sz="half" idx="2"/>
          </p:nvPr>
        </p:nvSpPr>
        <p:spPr>
          <a:xfrm>
            <a:off x="7283450" y="6354000"/>
            <a:ext cx="1397000" cy="144000"/>
          </a:xfrm>
          <a:prstGeom prst="rect">
            <a:avLst/>
          </a:prstGeom>
        </p:spPr>
        <p:txBody>
          <a:bodyPr vert="horz" lIns="0" tIns="0" rIns="0" bIns="0" rtlCol="0" anchor="b" anchorCtr="0"/>
          <a:lstStyle>
            <a:lvl1pPr algn="r">
              <a:defRPr sz="800" b="1">
                <a:solidFill>
                  <a:schemeClr val="tx1"/>
                </a:solidFill>
              </a:defRPr>
            </a:lvl1pPr>
          </a:lstStyle>
          <a:p>
            <a:endParaRPr lang="en-GB" dirty="0"/>
          </a:p>
        </p:txBody>
      </p:sp>
      <p:sp>
        <p:nvSpPr>
          <p:cNvPr id="6" name="Slide Number Placeholder 5"/>
          <p:cNvSpPr>
            <a:spLocks noGrp="1"/>
          </p:cNvSpPr>
          <p:nvPr>
            <p:ph type="sldNum" sz="quarter" idx="4"/>
          </p:nvPr>
        </p:nvSpPr>
        <p:spPr>
          <a:xfrm>
            <a:off x="463550" y="6354000"/>
            <a:ext cx="346450" cy="144000"/>
          </a:xfrm>
          <a:prstGeom prst="rect">
            <a:avLst/>
          </a:prstGeom>
        </p:spPr>
        <p:txBody>
          <a:bodyPr vert="horz" lIns="0" tIns="0" rIns="0" bIns="0" rtlCol="0" anchor="b" anchorCtr="0"/>
          <a:lstStyle>
            <a:lvl1pPr algn="l">
              <a:defRPr sz="800" b="1">
                <a:solidFill>
                  <a:schemeClr val="tx1"/>
                </a:solidFill>
              </a:defRPr>
            </a:lvl1pPr>
          </a:lstStyle>
          <a:p>
            <a:fld id="{29F4BC05-462B-4F19-BE6B-A1043C81AA78}" type="slidenum">
              <a:rPr lang="en-GB" smtClean="0"/>
              <a:pPr/>
              <a:t>‹#›</a:t>
            </a:fld>
            <a:endParaRPr lang="en-GB" dirty="0"/>
          </a:p>
        </p:txBody>
      </p:sp>
      <p:sp>
        <p:nvSpPr>
          <p:cNvPr id="7" name="Footer Placeholder 6">
            <a:extLst>
              <a:ext uri="{FF2B5EF4-FFF2-40B4-BE49-F238E27FC236}">
                <a16:creationId xmlns:a16="http://schemas.microsoft.com/office/drawing/2014/main" id="{1809EA9C-E5F7-5C54-53AD-920CF0006F5C}"/>
              </a:ext>
            </a:extLst>
          </p:cNvPr>
          <p:cNvSpPr>
            <a:spLocks noGrp="1"/>
          </p:cNvSpPr>
          <p:nvPr>
            <p:ph type="ftr" sz="quarter" idx="3"/>
          </p:nvPr>
        </p:nvSpPr>
        <p:spPr>
          <a:xfrm>
            <a:off x="809998" y="6356729"/>
            <a:ext cx="4797172" cy="151200"/>
          </a:xfrm>
          <a:prstGeom prst="rect">
            <a:avLst/>
          </a:prstGeom>
        </p:spPr>
        <p:txBody>
          <a:bodyPr/>
          <a:lstStyle>
            <a:lvl1pPr>
              <a:defRPr sz="700">
                <a:latin typeface="+mn-ea"/>
                <a:ea typeface="+mn-ea"/>
              </a:defRPr>
            </a:lvl1pPr>
          </a:lstStyle>
          <a:p>
            <a:r>
              <a:rPr lang="en-US" altLang="ja-JP" dirty="0"/>
              <a:t>Hitachi Systems Power Services </a:t>
            </a:r>
            <a:r>
              <a:rPr lang="ja-JP" altLang="en-US" dirty="0"/>
              <a:t>　</a:t>
            </a:r>
            <a:r>
              <a:rPr lang="en-US" altLang="ja-JP" dirty="0"/>
              <a:t>|   (HISYS-PS)</a:t>
            </a:r>
            <a:r>
              <a:rPr lang="ja-JP" altLang="en-US" dirty="0"/>
              <a:t>版テンプレート   </a:t>
            </a:r>
            <a:r>
              <a:rPr lang="en-US" altLang="ja-JP" dirty="0"/>
              <a:t>| </a:t>
            </a:r>
            <a:r>
              <a:rPr lang="ja-JP" altLang="en-US" dirty="0"/>
              <a:t>［社外秘］開示範囲：〇〇〇限り </a:t>
            </a:r>
            <a:endParaRPr lang="en-GB" altLang="ja-JP" dirty="0"/>
          </a:p>
        </p:txBody>
      </p:sp>
    </p:spTree>
    <p:extLst>
      <p:ext uri="{BB962C8B-B14F-4D97-AF65-F5344CB8AC3E}">
        <p14:creationId xmlns:p14="http://schemas.microsoft.com/office/powerpoint/2010/main" val="363405116"/>
      </p:ext>
    </p:extLst>
  </p:cSld>
  <p:clrMap bg1="lt1" tx1="dk1" bg2="lt2" tx2="dk2" accent1="accent1" accent2="accent2" accent3="accent3" accent4="accent4" accent5="accent5" accent6="accent6" hlink="hlink" folHlink="folHlink"/>
  <p:sldLayoutIdLst>
    <p:sldLayoutId id="2147483846" r:id="rId1"/>
    <p:sldLayoutId id="2147483730" r:id="rId2"/>
  </p:sldLayoutIdLst>
  <p:hf hdr="0" dt="0"/>
  <p:txStyles>
    <p:titleStyle>
      <a:lvl1pPr algn="l" defTabSz="914400" rtl="0" eaLnBrk="1" latinLnBrk="0" hangingPunct="1">
        <a:lnSpc>
          <a:spcPct val="90000"/>
        </a:lnSpc>
        <a:spcBef>
          <a:spcPct val="0"/>
        </a:spcBef>
        <a:buNone/>
        <a:defRPr sz="2000" kern="1200">
          <a:solidFill>
            <a:schemeClr val="tx1"/>
          </a:solidFill>
          <a:latin typeface="+mj-lt"/>
          <a:ea typeface="+mj-ea"/>
          <a:cs typeface="+mj-cs"/>
        </a:defRPr>
      </a:lvl1pPr>
    </p:titleStyle>
    <p:bodyStyle>
      <a:lvl1pPr marL="108000" indent="-108000" algn="l" defTabSz="914400" rtl="0" eaLnBrk="1" latinLnBrk="0" hangingPunct="1">
        <a:lnSpc>
          <a:spcPct val="110000"/>
        </a:lnSpc>
        <a:spcBef>
          <a:spcPts val="600"/>
        </a:spcBef>
        <a:buFont typeface="Yu Gothic UI"/>
        <a:buChar char="–"/>
        <a:defRPr sz="1000" kern="1200" baseline="0">
          <a:solidFill>
            <a:schemeClr val="tx1"/>
          </a:solidFill>
          <a:latin typeface="+mn-lt"/>
          <a:ea typeface="+mn-ea"/>
          <a:cs typeface="+mn-cs"/>
        </a:defRPr>
      </a:lvl1pPr>
      <a:lvl2pPr marL="108000" indent="-108000" algn="l" defTabSz="914400" rtl="0" eaLnBrk="1" latinLnBrk="0" hangingPunct="1">
        <a:lnSpc>
          <a:spcPct val="110000"/>
        </a:lnSpc>
        <a:spcBef>
          <a:spcPts val="0"/>
        </a:spcBef>
        <a:buFont typeface="Yu Gothic UI"/>
        <a:buChar char="–"/>
        <a:defRPr sz="1000" kern="1200" baseline="0">
          <a:solidFill>
            <a:schemeClr val="tx1"/>
          </a:solidFill>
          <a:latin typeface="+mn-lt"/>
          <a:ea typeface="+mn-ea"/>
          <a:cs typeface="+mn-cs"/>
        </a:defRPr>
      </a:lvl2pPr>
      <a:lvl3pPr marL="216000" indent="-108000" algn="l" defTabSz="914400" rtl="0" eaLnBrk="1" latinLnBrk="0" hangingPunct="1">
        <a:lnSpc>
          <a:spcPct val="110000"/>
        </a:lnSpc>
        <a:spcBef>
          <a:spcPts val="0"/>
        </a:spcBef>
        <a:buFont typeface="Yu Gothic UI"/>
        <a:buChar char="–"/>
        <a:defRPr sz="1000" kern="1200" baseline="0">
          <a:solidFill>
            <a:schemeClr val="tx1"/>
          </a:solidFill>
          <a:latin typeface="+mn-lt"/>
          <a:ea typeface="+mn-ea"/>
          <a:cs typeface="+mn-cs"/>
        </a:defRPr>
      </a:lvl3pPr>
      <a:lvl4pPr marL="324000" indent="-108000" algn="l" defTabSz="914400" rtl="0" eaLnBrk="1" latinLnBrk="0" hangingPunct="1">
        <a:lnSpc>
          <a:spcPct val="110000"/>
        </a:lnSpc>
        <a:spcBef>
          <a:spcPts val="0"/>
        </a:spcBef>
        <a:buFont typeface="Yu Gothic UI"/>
        <a:buChar char="–"/>
        <a:defRPr sz="1000" kern="1200" baseline="0">
          <a:solidFill>
            <a:schemeClr val="tx1"/>
          </a:solidFill>
          <a:latin typeface="+mn-lt"/>
          <a:ea typeface="+mn-ea"/>
          <a:cs typeface="+mn-cs"/>
        </a:defRPr>
      </a:lvl4pPr>
      <a:lvl5pPr marL="0" indent="0" algn="l" defTabSz="914400" rtl="0" eaLnBrk="1" latinLnBrk="0" hangingPunct="1">
        <a:lnSpc>
          <a:spcPct val="110000"/>
        </a:lnSpc>
        <a:spcBef>
          <a:spcPts val="0"/>
        </a:spcBef>
        <a:buFont typeface="Yu Gothic UI"/>
        <a:buNone/>
        <a:defRPr sz="1000" kern="1200" baseline="0">
          <a:solidFill>
            <a:schemeClr val="tx1"/>
          </a:solidFill>
          <a:latin typeface="+mn-lt"/>
          <a:ea typeface="+mn-ea"/>
          <a:cs typeface="+mn-cs"/>
        </a:defRPr>
      </a:lvl5pPr>
      <a:lvl6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6pPr>
      <a:lvl7pPr marL="216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7pPr>
      <a:lvl8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8pPr>
      <a:lvl9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12" userDrawn="1">
          <p15:clr>
            <a:srgbClr val="F26B43"/>
          </p15:clr>
        </p15:guide>
        <p15:guide id="2" pos="292" userDrawn="1">
          <p15:clr>
            <a:srgbClr val="F26B43"/>
          </p15:clr>
        </p15:guide>
        <p15:guide id="3" pos="5466" userDrawn="1">
          <p15:clr>
            <a:srgbClr val="F26B43"/>
          </p15:clr>
        </p15:guide>
        <p15:guide id="4" orient="horz" pos="1298" userDrawn="1">
          <p15:clr>
            <a:srgbClr val="F26B43"/>
          </p15:clr>
        </p15:guide>
        <p15:guide id="5" orient="horz" pos="726" userDrawn="1">
          <p15:clr>
            <a:srgbClr val="F26B43"/>
          </p15:clr>
        </p15:guide>
        <p15:guide id="6" pos="642" userDrawn="1">
          <p15:clr>
            <a:srgbClr val="F26B43"/>
          </p15:clr>
        </p15:guide>
        <p15:guide id="7" pos="730" userDrawn="1">
          <p15:clr>
            <a:srgbClr val="F26B43"/>
          </p15:clr>
        </p15:guide>
        <p15:guide id="8" pos="1078" userDrawn="1">
          <p15:clr>
            <a:srgbClr val="F26B43"/>
          </p15:clr>
        </p15:guide>
        <p15:guide id="9" pos="1170" userDrawn="1">
          <p15:clr>
            <a:srgbClr val="F26B43"/>
          </p15:clr>
        </p15:guide>
        <p15:guide id="10" pos="1518" userDrawn="1">
          <p15:clr>
            <a:srgbClr val="F26B43"/>
          </p15:clr>
        </p15:guide>
        <p15:guide id="11" pos="1608" userDrawn="1">
          <p15:clr>
            <a:srgbClr val="F26B43"/>
          </p15:clr>
        </p15:guide>
        <p15:guide id="12" pos="1956" userDrawn="1">
          <p15:clr>
            <a:srgbClr val="F26B43"/>
          </p15:clr>
        </p15:guide>
        <p15:guide id="13" pos="2048" userDrawn="1">
          <p15:clr>
            <a:srgbClr val="F26B43"/>
          </p15:clr>
        </p15:guide>
        <p15:guide id="14" pos="2396" userDrawn="1">
          <p15:clr>
            <a:srgbClr val="F26B43"/>
          </p15:clr>
        </p15:guide>
        <p15:guide id="15" pos="2484" userDrawn="1">
          <p15:clr>
            <a:srgbClr val="F26B43"/>
          </p15:clr>
        </p15:guide>
        <p15:guide id="16" pos="2834" userDrawn="1">
          <p15:clr>
            <a:srgbClr val="F26B43"/>
          </p15:clr>
        </p15:guide>
        <p15:guide id="17" pos="2926" userDrawn="1">
          <p15:clr>
            <a:srgbClr val="F26B43"/>
          </p15:clr>
        </p15:guide>
        <p15:guide id="18" pos="3272" userDrawn="1">
          <p15:clr>
            <a:srgbClr val="F26B43"/>
          </p15:clr>
        </p15:guide>
        <p15:guide id="19" pos="3362" userDrawn="1">
          <p15:clr>
            <a:srgbClr val="F26B43"/>
          </p15:clr>
        </p15:guide>
        <p15:guide id="20" pos="3710" userDrawn="1">
          <p15:clr>
            <a:srgbClr val="F26B43"/>
          </p15:clr>
        </p15:guide>
        <p15:guide id="21" pos="3802" userDrawn="1">
          <p15:clr>
            <a:srgbClr val="F26B43"/>
          </p15:clr>
        </p15:guide>
        <p15:guide id="22" pos="4150" userDrawn="1">
          <p15:clr>
            <a:srgbClr val="F26B43"/>
          </p15:clr>
        </p15:guide>
        <p15:guide id="23" pos="4240" userDrawn="1">
          <p15:clr>
            <a:srgbClr val="F26B43"/>
          </p15:clr>
        </p15:guide>
        <p15:guide id="24" pos="4588" userDrawn="1">
          <p15:clr>
            <a:srgbClr val="F26B43"/>
          </p15:clr>
        </p15:guide>
        <p15:guide id="25" pos="4680" userDrawn="1">
          <p15:clr>
            <a:srgbClr val="F26B43"/>
          </p15:clr>
        </p15:guide>
        <p15:guide id="26" pos="5028" userDrawn="1">
          <p15:clr>
            <a:srgbClr val="F26B43"/>
          </p15:clr>
        </p15:guide>
        <p15:guide id="27" pos="5118" userDrawn="1">
          <p15:clr>
            <a:srgbClr val="F26B43"/>
          </p15:clr>
        </p15:guide>
        <p15:guide id="28" orient="horz" pos="1586" userDrawn="1">
          <p15:clr>
            <a:srgbClr val="F26B43"/>
          </p15:clr>
        </p15:guide>
        <p15:guide id="29" orient="horz" pos="1872" userDrawn="1">
          <p15:clr>
            <a:srgbClr val="F26B43"/>
          </p15:clr>
        </p15:guide>
        <p15:guide id="30" orient="horz" pos="2158" userDrawn="1">
          <p15:clr>
            <a:srgbClr val="F26B43"/>
          </p15:clr>
        </p15:guide>
        <p15:guide id="31" orient="horz" pos="2446" userDrawn="1">
          <p15:clr>
            <a:srgbClr val="F26B43"/>
          </p15:clr>
        </p15:guide>
        <p15:guide id="32" orient="horz" pos="2732" userDrawn="1">
          <p15:clr>
            <a:srgbClr val="F26B43"/>
          </p15:clr>
        </p15:guide>
        <p15:guide id="33" orient="horz" pos="3018" userDrawn="1">
          <p15:clr>
            <a:srgbClr val="F26B43"/>
          </p15:clr>
        </p15:guide>
        <p15:guide id="34" orient="horz" pos="3306" userDrawn="1">
          <p15:clr>
            <a:srgbClr val="F26B43"/>
          </p15:clr>
        </p15:guide>
        <p15:guide id="35" orient="horz" pos="3592" userDrawn="1">
          <p15:clr>
            <a:srgbClr val="F26B43"/>
          </p15:clr>
        </p15:guide>
        <p15:guide id="36" orient="horz" pos="3880" userDrawn="1">
          <p15:clr>
            <a:srgbClr val="F26B43"/>
          </p15:clr>
        </p15:guide>
        <p15:guide id="37" orient="horz" pos="43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wmf"/><Relationship Id="rId1" Type="http://schemas.openxmlformats.org/officeDocument/2006/relationships/slideLayout" Target="../slideLayouts/slideLayout5.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wmf"/><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490E6862-7019-922A-C95D-0B1EECE288C0}"/>
              </a:ext>
            </a:extLst>
          </p:cNvPr>
          <p:cNvSpPr>
            <a:spLocks noGrp="1"/>
          </p:cNvSpPr>
          <p:nvPr>
            <p:ph type="title"/>
          </p:nvPr>
        </p:nvSpPr>
        <p:spPr>
          <a:xfrm>
            <a:off x="473074" y="2412000"/>
            <a:ext cx="7386655" cy="1107996"/>
          </a:xfrm>
        </p:spPr>
        <p:txBody>
          <a:bodyPr/>
          <a:lstStyle/>
          <a:p>
            <a:r>
              <a:rPr lang="ja-JP" altLang="en-US" sz="3600" dirty="0">
                <a:latin typeface="Yu Gothic UI" panose="020B0500000000000000" pitchFamily="50" charset="-128"/>
                <a:ea typeface="Yu Gothic UI" panose="020B0500000000000000" pitchFamily="50" charset="-128"/>
              </a:rPr>
              <a:t>運用システム先進グループの現状と課題、成長に向けた戦略について</a:t>
            </a:r>
          </a:p>
        </p:txBody>
      </p:sp>
      <p:sp>
        <p:nvSpPr>
          <p:cNvPr id="3" name="テキスト プレースホルダー 2">
            <a:extLst>
              <a:ext uri="{FF2B5EF4-FFF2-40B4-BE49-F238E27FC236}">
                <a16:creationId xmlns:a16="http://schemas.microsoft.com/office/drawing/2014/main" id="{A382BB29-B3A8-5D92-0B86-08D4B5F4FE02}"/>
              </a:ext>
            </a:extLst>
          </p:cNvPr>
          <p:cNvSpPr>
            <a:spLocks noGrp="1"/>
          </p:cNvSpPr>
          <p:nvPr>
            <p:ph type="body" sz="half" idx="2"/>
          </p:nvPr>
        </p:nvSpPr>
        <p:spPr>
          <a:xfrm>
            <a:off x="473075" y="1996989"/>
            <a:ext cx="5643713" cy="424732"/>
          </a:xfrm>
        </p:spPr>
        <p:txBody>
          <a:bodyPr/>
          <a:lstStyle/>
          <a:p>
            <a:r>
              <a:rPr kumimoji="1" lang="ja-JP" altLang="en-US" dirty="0">
                <a:latin typeface="Yu Gothic UI" panose="020B0500000000000000" pitchFamily="50" charset="-128"/>
                <a:ea typeface="Yu Gothic UI" panose="020B0500000000000000" pitchFamily="50" charset="-128"/>
              </a:rPr>
              <a:t>株式会社 日立システムズパワーサービス</a:t>
            </a:r>
          </a:p>
        </p:txBody>
      </p:sp>
      <p:sp>
        <p:nvSpPr>
          <p:cNvPr id="26" name="テキスト プレースホルダー 4">
            <a:extLst>
              <a:ext uri="{FF2B5EF4-FFF2-40B4-BE49-F238E27FC236}">
                <a16:creationId xmlns:a16="http://schemas.microsoft.com/office/drawing/2014/main" id="{AFE4CA04-6299-0040-569C-E9048DD324C2}"/>
              </a:ext>
            </a:extLst>
          </p:cNvPr>
          <p:cNvSpPr txBox="1">
            <a:spLocks/>
          </p:cNvSpPr>
          <p:nvPr/>
        </p:nvSpPr>
        <p:spPr>
          <a:xfrm>
            <a:off x="463550" y="4963021"/>
            <a:ext cx="5426074" cy="1240661"/>
          </a:xfrm>
          <a:prstGeom prst="rect">
            <a:avLst/>
          </a:prstGeom>
        </p:spPr>
        <p:txBody>
          <a:bodyPr wrap="square" anchor="b" anchorCtr="0">
            <a:spAutoFit/>
          </a:bodyPr>
          <a:lstStyle>
            <a:lvl1pPr marL="0" indent="0" algn="l" defTabSz="914400" rtl="0" eaLnBrk="1" latinLnBrk="0" hangingPunct="1">
              <a:lnSpc>
                <a:spcPct val="110000"/>
              </a:lnSpc>
              <a:spcBef>
                <a:spcPts val="600"/>
              </a:spcBef>
              <a:buFont typeface="Yu Gothic UI"/>
              <a:buNone/>
              <a:defRPr sz="900" b="1" kern="1200" baseline="0">
                <a:solidFill>
                  <a:schemeClr val="tx1"/>
                </a:solidFill>
                <a:latin typeface="+mn-lt"/>
                <a:ea typeface="+mn-ea"/>
                <a:cs typeface="+mn-cs"/>
              </a:defRPr>
            </a:lvl1pPr>
            <a:lvl2pPr marL="0" indent="0" algn="l" defTabSz="914400" rtl="0" eaLnBrk="1" latinLnBrk="0" hangingPunct="1">
              <a:lnSpc>
                <a:spcPct val="110000"/>
              </a:lnSpc>
              <a:spcBef>
                <a:spcPts val="0"/>
              </a:spcBef>
              <a:spcAft>
                <a:spcPts val="450"/>
              </a:spcAft>
              <a:buFont typeface="Yu Gothic UI"/>
              <a:buNone/>
              <a:defRPr sz="1350" kern="1200" baseline="0">
                <a:solidFill>
                  <a:schemeClr val="tx1"/>
                </a:solidFill>
                <a:latin typeface="+mn-lt"/>
                <a:ea typeface="+mn-ea"/>
                <a:cs typeface="+mn-cs"/>
              </a:defRPr>
            </a:lvl2pPr>
            <a:lvl3pPr marL="81000" indent="-108000" algn="l" defTabSz="914400" rtl="0" eaLnBrk="1" latinLnBrk="0" hangingPunct="1">
              <a:lnSpc>
                <a:spcPct val="110000"/>
              </a:lnSpc>
              <a:spcBef>
                <a:spcPts val="0"/>
              </a:spcBef>
              <a:buFont typeface="Yu Gothic UI"/>
              <a:buChar char="–"/>
              <a:defRPr sz="900" kern="1200" baseline="0">
                <a:solidFill>
                  <a:schemeClr val="bg1"/>
                </a:solidFill>
                <a:latin typeface="+mn-lt"/>
                <a:ea typeface="+mn-ea"/>
                <a:cs typeface="+mn-cs"/>
              </a:defRPr>
            </a:lvl3pPr>
            <a:lvl4pPr marL="162000" indent="-108000" algn="l" defTabSz="914400" rtl="0" eaLnBrk="1" latinLnBrk="0" hangingPunct="1">
              <a:lnSpc>
                <a:spcPct val="110000"/>
              </a:lnSpc>
              <a:spcBef>
                <a:spcPts val="0"/>
              </a:spcBef>
              <a:buFont typeface="Yu Gothic UI"/>
              <a:buChar char="–"/>
              <a:defRPr sz="900" kern="1200" baseline="0">
                <a:solidFill>
                  <a:schemeClr val="bg1"/>
                </a:solidFill>
                <a:latin typeface="+mn-lt"/>
                <a:ea typeface="+mn-ea"/>
                <a:cs typeface="+mn-cs"/>
              </a:defRPr>
            </a:lvl4pPr>
            <a:lvl5pPr marL="0" indent="0" algn="l" defTabSz="914400" rtl="0" eaLnBrk="1" latinLnBrk="0" hangingPunct="1">
              <a:lnSpc>
                <a:spcPct val="110000"/>
              </a:lnSpc>
              <a:spcBef>
                <a:spcPts val="0"/>
              </a:spcBef>
              <a:buFont typeface="Yu Gothic UI"/>
              <a:buNone/>
              <a:defRPr sz="900" kern="1200" baseline="0">
                <a:solidFill>
                  <a:schemeClr val="bg1"/>
                </a:solidFill>
                <a:latin typeface="+mn-lt"/>
                <a:ea typeface="+mn-ea"/>
                <a:cs typeface="+mn-cs"/>
              </a:defRPr>
            </a:lvl5pPr>
            <a:lvl6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6pPr>
            <a:lvl7pPr marL="216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7pPr>
            <a:lvl8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8pPr>
            <a:lvl9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US" altLang="ja-JP" sz="1600" b="0" dirty="0">
                <a:latin typeface="Yu Gothic UI" panose="020B0500000000000000" pitchFamily="50" charset="-128"/>
                <a:ea typeface="Yu Gothic UI" panose="020B0500000000000000" pitchFamily="50" charset="-128"/>
              </a:rPr>
              <a:t>ICT</a:t>
            </a:r>
            <a:r>
              <a:rPr lang="ja-JP" altLang="en-US" sz="1600" b="0" dirty="0">
                <a:latin typeface="Yu Gothic UI" panose="020B0500000000000000" pitchFamily="50" charset="-128"/>
                <a:ea typeface="Yu Gothic UI" panose="020B0500000000000000" pitchFamily="50" charset="-128"/>
              </a:rPr>
              <a:t>サービス事業部　データセンタ運営本部</a:t>
            </a:r>
            <a:endParaRPr lang="en-US" altLang="ja-JP" sz="1600" b="0" dirty="0">
              <a:latin typeface="Yu Gothic UI" panose="020B0500000000000000" pitchFamily="50" charset="-128"/>
              <a:ea typeface="Yu Gothic UI" panose="020B0500000000000000" pitchFamily="50" charset="-128"/>
            </a:endParaRPr>
          </a:p>
          <a:p>
            <a:r>
              <a:rPr lang="ja-JP" altLang="en-US" sz="1600" b="0" dirty="0">
                <a:latin typeface="Yu Gothic UI" panose="020B0500000000000000" pitchFamily="50" charset="-128"/>
                <a:ea typeface="Yu Gothic UI" panose="020B0500000000000000" pitchFamily="50" charset="-128"/>
              </a:rPr>
              <a:t>システム先進技術部　運用システム先進グループ</a:t>
            </a:r>
            <a:endParaRPr lang="en-US" altLang="ja-JP" sz="1600" b="0" dirty="0">
              <a:latin typeface="Yu Gothic UI" panose="020B0500000000000000" pitchFamily="50" charset="-128"/>
              <a:ea typeface="Yu Gothic UI" panose="020B0500000000000000" pitchFamily="50" charset="-128"/>
            </a:endParaRPr>
          </a:p>
          <a:p>
            <a:r>
              <a:rPr lang="en-GB" altLang="ja-JP" sz="1000" b="0" dirty="0">
                <a:latin typeface="Yu Gothic UI" panose="020B0500000000000000" pitchFamily="50" charset="-128"/>
                <a:ea typeface="Yu Gothic UI" panose="020B0500000000000000" pitchFamily="50" charset="-128"/>
              </a:rPr>
              <a:t> </a:t>
            </a:r>
            <a:br>
              <a:rPr lang="en-GB" altLang="ja-JP" sz="1600" b="0" dirty="0">
                <a:latin typeface="Yu Gothic UI" panose="020B0500000000000000" pitchFamily="50" charset="-128"/>
                <a:ea typeface="Yu Gothic UI" panose="020B0500000000000000" pitchFamily="50" charset="-128"/>
              </a:rPr>
            </a:br>
            <a:r>
              <a:rPr lang="ja-JP" altLang="en-US" sz="1600" b="0" dirty="0">
                <a:latin typeface="Yu Gothic UI" panose="020B0500000000000000" pitchFamily="50" charset="-128"/>
                <a:ea typeface="Yu Gothic UI" panose="020B0500000000000000" pitchFamily="50" charset="-128"/>
              </a:rPr>
              <a:t>尾方哲紀</a:t>
            </a:r>
            <a:endParaRPr lang="en-GB" altLang="ja-JP" sz="1600" b="0" dirty="0">
              <a:solidFill>
                <a:srgbClr val="000000"/>
              </a:solidFill>
              <a:latin typeface="Yu Gothic UI" panose="020B0500000000000000" pitchFamily="50" charset="-128"/>
              <a:ea typeface="Yu Gothic UI" panose="020B0500000000000000" pitchFamily="50" charset="-128"/>
            </a:endParaRPr>
          </a:p>
        </p:txBody>
      </p:sp>
      <p:sp>
        <p:nvSpPr>
          <p:cNvPr id="27" name="テキスト プレースホルダー 5">
            <a:extLst>
              <a:ext uri="{FF2B5EF4-FFF2-40B4-BE49-F238E27FC236}">
                <a16:creationId xmlns:a16="http://schemas.microsoft.com/office/drawing/2014/main" id="{9990A5F7-FC15-3185-BC5F-643C5AC142CD}"/>
              </a:ext>
            </a:extLst>
          </p:cNvPr>
          <p:cNvSpPr txBox="1">
            <a:spLocks/>
          </p:cNvSpPr>
          <p:nvPr/>
        </p:nvSpPr>
        <p:spPr>
          <a:xfrm>
            <a:off x="3248024" y="5748365"/>
            <a:ext cx="2641600" cy="455317"/>
          </a:xfrm>
          <a:prstGeom prst="rect">
            <a:avLst/>
          </a:prstGeom>
        </p:spPr>
        <p:txBody>
          <a:bodyPr wrap="square" anchor="b" anchorCtr="0">
            <a:spAutoFit/>
          </a:bodyPr>
          <a:lstStyle>
            <a:lvl1pPr marL="0" indent="0" algn="l" defTabSz="914400" rtl="0" eaLnBrk="1" latinLnBrk="0" hangingPunct="1">
              <a:lnSpc>
                <a:spcPct val="110000"/>
              </a:lnSpc>
              <a:spcBef>
                <a:spcPts val="600"/>
              </a:spcBef>
              <a:buFont typeface="Yu Gothic UI"/>
              <a:buNone/>
              <a:defRPr sz="900" b="1" kern="1200" baseline="0">
                <a:solidFill>
                  <a:schemeClr val="tx1"/>
                </a:solidFill>
                <a:latin typeface="+mn-lt"/>
                <a:ea typeface="+mn-ea"/>
                <a:cs typeface="+mn-cs"/>
              </a:defRPr>
            </a:lvl1pPr>
            <a:lvl2pPr marL="0" indent="0" algn="l" defTabSz="914400" rtl="0" eaLnBrk="1" latinLnBrk="0" hangingPunct="1">
              <a:lnSpc>
                <a:spcPct val="110000"/>
              </a:lnSpc>
              <a:spcBef>
                <a:spcPts val="0"/>
              </a:spcBef>
              <a:spcAft>
                <a:spcPts val="450"/>
              </a:spcAft>
              <a:buFont typeface="Yu Gothic UI"/>
              <a:buNone/>
              <a:defRPr sz="1350" kern="1200" baseline="0">
                <a:solidFill>
                  <a:schemeClr val="tx1"/>
                </a:solidFill>
                <a:latin typeface="+mn-lt"/>
                <a:ea typeface="+mn-ea"/>
                <a:cs typeface="+mn-cs"/>
              </a:defRPr>
            </a:lvl2pPr>
            <a:lvl3pPr marL="81000" indent="-108000" algn="l" defTabSz="914400" rtl="0" eaLnBrk="1" latinLnBrk="0" hangingPunct="1">
              <a:lnSpc>
                <a:spcPct val="110000"/>
              </a:lnSpc>
              <a:spcBef>
                <a:spcPts val="0"/>
              </a:spcBef>
              <a:buFont typeface="Yu Gothic UI"/>
              <a:buChar char="–"/>
              <a:defRPr sz="900" kern="1200" baseline="0">
                <a:solidFill>
                  <a:schemeClr val="bg1"/>
                </a:solidFill>
                <a:latin typeface="+mn-lt"/>
                <a:ea typeface="+mn-ea"/>
                <a:cs typeface="+mn-cs"/>
              </a:defRPr>
            </a:lvl3pPr>
            <a:lvl4pPr marL="162000" indent="-108000" algn="l" defTabSz="914400" rtl="0" eaLnBrk="1" latinLnBrk="0" hangingPunct="1">
              <a:lnSpc>
                <a:spcPct val="110000"/>
              </a:lnSpc>
              <a:spcBef>
                <a:spcPts val="0"/>
              </a:spcBef>
              <a:buFont typeface="Yu Gothic UI"/>
              <a:buChar char="–"/>
              <a:defRPr sz="900" kern="1200" baseline="0">
                <a:solidFill>
                  <a:schemeClr val="bg1"/>
                </a:solidFill>
                <a:latin typeface="+mn-lt"/>
                <a:ea typeface="+mn-ea"/>
                <a:cs typeface="+mn-cs"/>
              </a:defRPr>
            </a:lvl4pPr>
            <a:lvl5pPr marL="0" indent="0" algn="l" defTabSz="914400" rtl="0" eaLnBrk="1" latinLnBrk="0" hangingPunct="1">
              <a:lnSpc>
                <a:spcPct val="110000"/>
              </a:lnSpc>
              <a:spcBef>
                <a:spcPts val="0"/>
              </a:spcBef>
              <a:buFont typeface="Yu Gothic UI"/>
              <a:buNone/>
              <a:defRPr sz="900" kern="1200" baseline="0">
                <a:solidFill>
                  <a:schemeClr val="bg1"/>
                </a:solidFill>
                <a:latin typeface="+mn-lt"/>
                <a:ea typeface="+mn-ea"/>
                <a:cs typeface="+mn-cs"/>
              </a:defRPr>
            </a:lvl5pPr>
            <a:lvl6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6pPr>
            <a:lvl7pPr marL="216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7pPr>
            <a:lvl8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8pPr>
            <a:lvl9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r>
              <a:rPr lang="en-GB" altLang="ja-JP" dirty="0">
                <a:solidFill>
                  <a:srgbClr val="000000"/>
                </a:solidFill>
                <a:latin typeface="Yu Gothic UI" panose="020B0500000000000000" pitchFamily="50" charset="-128"/>
                <a:ea typeface="Yu Gothic UI" panose="020B0500000000000000" pitchFamily="50" charset="-128"/>
              </a:rPr>
              <a:t>Date</a:t>
            </a:r>
          </a:p>
          <a:p>
            <a:pPr lvl="1"/>
            <a:r>
              <a:rPr lang="en-GB" altLang="ja-JP" dirty="0">
                <a:solidFill>
                  <a:srgbClr val="000000"/>
                </a:solidFill>
                <a:latin typeface="Yu Gothic UI" panose="020B0500000000000000" pitchFamily="50" charset="-128"/>
                <a:ea typeface="Yu Gothic UI" panose="020B0500000000000000" pitchFamily="50" charset="-128"/>
              </a:rPr>
              <a:t>2026/1/22</a:t>
            </a:r>
          </a:p>
        </p:txBody>
      </p:sp>
    </p:spTree>
    <p:extLst>
      <p:ext uri="{BB962C8B-B14F-4D97-AF65-F5344CB8AC3E}">
        <p14:creationId xmlns:p14="http://schemas.microsoft.com/office/powerpoint/2010/main" val="1147794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26000" r="-27000" b="-66000"/>
          </a:stretch>
        </a:blipFill>
        <a:effectLst/>
      </p:bgPr>
    </p:bg>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A9BE1B0A-5AED-F5E2-0430-52094346A0FD}"/>
              </a:ext>
            </a:extLst>
          </p:cNvPr>
          <p:cNvSpPr>
            <a:spLocks noGrp="1"/>
          </p:cNvSpPr>
          <p:nvPr>
            <p:ph type="title"/>
          </p:nvPr>
        </p:nvSpPr>
        <p:spPr/>
        <p:txBody>
          <a:bodyPr/>
          <a:lstStyle/>
          <a:p>
            <a:r>
              <a:rPr lang="ja-JP" altLang="en-US" dirty="0">
                <a:latin typeface="Yu Gothic UI" panose="020B0500000000000000" pitchFamily="50" charset="-128"/>
                <a:ea typeface="Yu Gothic UI" panose="020B0500000000000000" pitchFamily="50" charset="-128"/>
              </a:rPr>
              <a:t>目次</a:t>
            </a:r>
          </a:p>
        </p:txBody>
      </p:sp>
      <p:sp>
        <p:nvSpPr>
          <p:cNvPr id="4" name="スライド番号プレースホルダー 3">
            <a:extLst>
              <a:ext uri="{FF2B5EF4-FFF2-40B4-BE49-F238E27FC236}">
                <a16:creationId xmlns:a16="http://schemas.microsoft.com/office/drawing/2014/main" id="{90BAB131-0982-5B61-36F2-21CD73CF2794}"/>
              </a:ext>
            </a:extLst>
          </p:cNvPr>
          <p:cNvSpPr>
            <a:spLocks noGrp="1"/>
          </p:cNvSpPr>
          <p:nvPr>
            <p:ph type="sldNum" sz="quarter" idx="18"/>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Yu Gothic UI" panose="020B0500000000000000" pitchFamily="50" charset="-128"/>
                <a:ea typeface="Yu Gothic UI" panose="020B0500000000000000" pitchFamily="50" charset="-128"/>
              </a:rPr>
              <a:pPr marL="0" marR="0" lvl="0" indent="0" algn="l" defTabSz="457200" rtl="0" eaLnBrk="1" fontAlgn="auto" latinLnBrk="0" hangingPunct="1">
                <a:lnSpc>
                  <a:spcPct val="100000"/>
                </a:lnSpc>
                <a:spcBef>
                  <a:spcPts val="0"/>
                </a:spcBef>
                <a:spcAft>
                  <a:spcPts val="0"/>
                </a:spcAft>
                <a:buClrTx/>
                <a:buSzTx/>
                <a:buFontTx/>
                <a:buNone/>
                <a:tabLst/>
                <a:defRPr/>
              </a:pPr>
              <a:t>2</a:t>
            </a:fld>
            <a:endParaRPr kumimoji="0" lang="en-GB" sz="800" b="1" i="0" u="none" strike="noStrike" kern="1200" cap="none" spc="0" normalizeH="0" baseline="0" noProof="0" dirty="0">
              <a:ln>
                <a:noFill/>
              </a:ln>
              <a:solidFill>
                <a:prstClr val="black"/>
              </a:solidFill>
              <a:effectLst/>
              <a:uLnTx/>
              <a:uFillTx/>
              <a:latin typeface="Yu Gothic UI" panose="020B0500000000000000" pitchFamily="50" charset="-128"/>
              <a:ea typeface="Yu Gothic UI" panose="020B0500000000000000" pitchFamily="50" charset="-128"/>
            </a:endParaRPr>
          </a:p>
        </p:txBody>
      </p:sp>
      <p:sp>
        <p:nvSpPr>
          <p:cNvPr id="2" name="テキスト プレースホルダー 1">
            <a:extLst>
              <a:ext uri="{FF2B5EF4-FFF2-40B4-BE49-F238E27FC236}">
                <a16:creationId xmlns:a16="http://schemas.microsoft.com/office/drawing/2014/main" id="{F2C9E353-F753-B396-6BA5-A184013B5812}"/>
              </a:ext>
            </a:extLst>
          </p:cNvPr>
          <p:cNvSpPr txBox="1">
            <a:spLocks/>
          </p:cNvSpPr>
          <p:nvPr/>
        </p:nvSpPr>
        <p:spPr>
          <a:xfrm>
            <a:off x="766165" y="2236885"/>
            <a:ext cx="5634635" cy="3401915"/>
          </a:xfrm>
          <a:prstGeom prst="rect">
            <a:avLst/>
          </a:prstGeom>
          <a:ln>
            <a:noFill/>
          </a:ln>
        </p:spPr>
        <p:txBody>
          <a:bodyPr/>
          <a:lstStyle>
            <a:lvl1pPr marL="108000" indent="-108000" algn="l" defTabSz="914400" rtl="0" eaLnBrk="1" latinLnBrk="0" hangingPunct="1">
              <a:lnSpc>
                <a:spcPct val="110000"/>
              </a:lnSpc>
              <a:spcBef>
                <a:spcPts val="600"/>
              </a:spcBef>
              <a:buFont typeface="Yu Gothic UI"/>
              <a:buChar char="–"/>
              <a:defRPr sz="1000" kern="1200" baseline="0">
                <a:solidFill>
                  <a:schemeClr val="tx1"/>
                </a:solidFill>
                <a:latin typeface="+mn-lt"/>
                <a:ea typeface="+mn-ea"/>
                <a:cs typeface="+mn-cs"/>
              </a:defRPr>
            </a:lvl1pPr>
            <a:lvl2pPr marL="108000" indent="-108000" algn="l" defTabSz="914400" rtl="0" eaLnBrk="1" latinLnBrk="0" hangingPunct="1">
              <a:lnSpc>
                <a:spcPct val="110000"/>
              </a:lnSpc>
              <a:spcBef>
                <a:spcPts val="0"/>
              </a:spcBef>
              <a:buFont typeface="Yu Gothic UI"/>
              <a:buChar char="–"/>
              <a:defRPr sz="1000" kern="1200" baseline="0">
                <a:solidFill>
                  <a:schemeClr val="tx1"/>
                </a:solidFill>
                <a:latin typeface="+mn-lt"/>
                <a:ea typeface="+mn-ea"/>
                <a:cs typeface="+mn-cs"/>
              </a:defRPr>
            </a:lvl2pPr>
            <a:lvl3pPr marL="216000" indent="-108000" algn="l" defTabSz="914400" rtl="0" eaLnBrk="1" latinLnBrk="0" hangingPunct="1">
              <a:lnSpc>
                <a:spcPct val="110000"/>
              </a:lnSpc>
              <a:spcBef>
                <a:spcPts val="0"/>
              </a:spcBef>
              <a:buFont typeface="Yu Gothic UI"/>
              <a:buChar char="–"/>
              <a:defRPr sz="1000" kern="1200" baseline="0">
                <a:solidFill>
                  <a:schemeClr val="tx1"/>
                </a:solidFill>
                <a:latin typeface="+mn-lt"/>
                <a:ea typeface="+mn-ea"/>
                <a:cs typeface="+mn-cs"/>
              </a:defRPr>
            </a:lvl3pPr>
            <a:lvl4pPr marL="324000" indent="-108000" algn="l" defTabSz="914400" rtl="0" eaLnBrk="1" latinLnBrk="0" hangingPunct="1">
              <a:lnSpc>
                <a:spcPct val="110000"/>
              </a:lnSpc>
              <a:spcBef>
                <a:spcPts val="0"/>
              </a:spcBef>
              <a:buFont typeface="Yu Gothic UI"/>
              <a:buChar char="–"/>
              <a:defRPr sz="1000" kern="1200" baseline="0">
                <a:solidFill>
                  <a:schemeClr val="tx1"/>
                </a:solidFill>
                <a:latin typeface="+mn-lt"/>
                <a:ea typeface="+mn-ea"/>
                <a:cs typeface="+mn-cs"/>
              </a:defRPr>
            </a:lvl4pPr>
            <a:lvl5pPr marL="0" indent="0" algn="l" defTabSz="914400" rtl="0" eaLnBrk="1" latinLnBrk="0" hangingPunct="1">
              <a:lnSpc>
                <a:spcPct val="110000"/>
              </a:lnSpc>
              <a:spcBef>
                <a:spcPts val="0"/>
              </a:spcBef>
              <a:buFont typeface="Yu Gothic UI"/>
              <a:buNone/>
              <a:defRPr sz="1000" kern="1200" baseline="0">
                <a:solidFill>
                  <a:schemeClr val="tx1"/>
                </a:solidFill>
                <a:latin typeface="+mn-lt"/>
                <a:ea typeface="+mn-ea"/>
                <a:cs typeface="+mn-cs"/>
              </a:defRPr>
            </a:lvl5pPr>
            <a:lvl6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6pPr>
            <a:lvl7pPr marL="216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7pPr>
            <a:lvl8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8pPr>
            <a:lvl9pPr marL="108000" indent="-10800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457200" indent="-457200">
              <a:buAutoNum type="arabicPeriod"/>
            </a:pPr>
            <a:r>
              <a:rPr kumimoji="1" lang="ja-JP" altLang="en-US" sz="2400" b="1" dirty="0">
                <a:latin typeface="Yu Gothic UI" panose="020B0500000000000000" pitchFamily="50" charset="-128"/>
                <a:ea typeface="Yu Gothic UI" panose="020B0500000000000000" pitchFamily="50" charset="-128"/>
              </a:rPr>
              <a:t>グループ概要</a:t>
            </a:r>
            <a:endParaRPr kumimoji="1" lang="en-US" altLang="ja-JP" sz="2400" b="1" dirty="0">
              <a:latin typeface="Yu Gothic UI" panose="020B0500000000000000" pitchFamily="50" charset="-128"/>
              <a:ea typeface="Yu Gothic UI" panose="020B0500000000000000" pitchFamily="50" charset="-128"/>
            </a:endParaRPr>
          </a:p>
          <a:p>
            <a:pPr marL="457200" indent="-457200">
              <a:buFont typeface="Yu Gothic UI"/>
              <a:buAutoNum type="arabicPeriod"/>
            </a:pPr>
            <a:r>
              <a:rPr kumimoji="1" lang="ja-JP" altLang="en-US" sz="2400" b="1" dirty="0">
                <a:latin typeface="Yu Gothic UI" panose="020B0500000000000000" pitchFamily="50" charset="-128"/>
                <a:ea typeface="Yu Gothic UI" panose="020B0500000000000000" pitchFamily="50" charset="-128"/>
              </a:rPr>
              <a:t>お客さまの動向分析</a:t>
            </a:r>
            <a:endParaRPr kumimoji="1" lang="en-US" altLang="ja-JP" sz="2400" b="1" dirty="0">
              <a:latin typeface="Yu Gothic UI" panose="020B0500000000000000" pitchFamily="50" charset="-128"/>
              <a:ea typeface="Yu Gothic UI" panose="020B0500000000000000" pitchFamily="50" charset="-128"/>
            </a:endParaRPr>
          </a:p>
          <a:p>
            <a:pPr marL="457200" indent="-457200">
              <a:buAutoNum type="arabicPeriod"/>
            </a:pPr>
            <a:r>
              <a:rPr kumimoji="1" lang="ja-JP" altLang="en-US" sz="2400" b="1" dirty="0">
                <a:latin typeface="Yu Gothic UI" panose="020B0500000000000000" pitchFamily="50" charset="-128"/>
                <a:ea typeface="Yu Gothic UI" panose="020B0500000000000000" pitchFamily="50" charset="-128"/>
              </a:rPr>
              <a:t>主担当の案件について</a:t>
            </a:r>
            <a:endParaRPr kumimoji="1" lang="en-US" altLang="ja-JP" sz="2400" b="1" dirty="0">
              <a:latin typeface="Yu Gothic UI" panose="020B0500000000000000" pitchFamily="50" charset="-128"/>
              <a:ea typeface="Yu Gothic UI" panose="020B0500000000000000" pitchFamily="50" charset="-128"/>
            </a:endParaRPr>
          </a:p>
          <a:p>
            <a:pPr marL="457200" indent="-457200">
              <a:buAutoNum type="arabicPeriod"/>
            </a:pPr>
            <a:r>
              <a:rPr kumimoji="1" lang="ja-JP" altLang="en-US" sz="2400" b="1" dirty="0">
                <a:latin typeface="Yu Gothic UI" panose="020B0500000000000000" pitchFamily="50" charset="-128"/>
                <a:ea typeface="Yu Gothic UI" panose="020B0500000000000000" pitchFamily="50" charset="-128"/>
              </a:rPr>
              <a:t>グループの現状把握</a:t>
            </a:r>
          </a:p>
          <a:p>
            <a:pPr marL="457200" indent="-457200">
              <a:buAutoNum type="arabicPeriod"/>
            </a:pPr>
            <a:r>
              <a:rPr kumimoji="1" lang="ja-JP" altLang="en-US" sz="2400" b="1" dirty="0">
                <a:latin typeface="Yu Gothic UI" panose="020B0500000000000000" pitchFamily="50" charset="-128"/>
                <a:ea typeface="Yu Gothic UI" panose="020B0500000000000000" pitchFamily="50" charset="-128"/>
              </a:rPr>
              <a:t>成長戦略</a:t>
            </a:r>
            <a:endParaRPr kumimoji="1" lang="en-US" altLang="ja-JP" sz="2400" b="1" dirty="0">
              <a:latin typeface="Yu Gothic UI" panose="020B0500000000000000" pitchFamily="50" charset="-128"/>
              <a:ea typeface="Yu Gothic UI" panose="020B0500000000000000" pitchFamily="50" charset="-128"/>
            </a:endParaRPr>
          </a:p>
          <a:p>
            <a:pPr marL="457200" indent="-457200">
              <a:buAutoNum type="arabicPeriod"/>
            </a:pPr>
            <a:r>
              <a:rPr kumimoji="1" lang="ja-JP" altLang="en-US" sz="2400" b="1" dirty="0">
                <a:latin typeface="Yu Gothic UI" panose="020B0500000000000000" pitchFamily="50" charset="-128"/>
                <a:ea typeface="Yu Gothic UI" panose="020B0500000000000000" pitchFamily="50" charset="-128"/>
              </a:rPr>
              <a:t>今後の行動計画</a:t>
            </a:r>
            <a:endParaRPr kumimoji="1" lang="en-US" altLang="ja-JP" sz="2400" b="1" dirty="0">
              <a:latin typeface="Yu Gothic UI" panose="020B0500000000000000" pitchFamily="50" charset="-128"/>
              <a:ea typeface="Yu Gothic UI" panose="020B0500000000000000" pitchFamily="50" charset="-128"/>
            </a:endParaRPr>
          </a:p>
          <a:p>
            <a:pPr marL="457200" indent="-457200">
              <a:buAutoNum type="arabicPeriod"/>
            </a:pPr>
            <a:r>
              <a:rPr kumimoji="1" lang="ja-JP" altLang="en-US" sz="2400" b="1" dirty="0">
                <a:latin typeface="Yu Gothic UI" panose="020B0500000000000000" pitchFamily="50" charset="-128"/>
                <a:ea typeface="Yu Gothic UI" panose="020B0500000000000000" pitchFamily="50" charset="-128"/>
              </a:rPr>
              <a:t>振り返りと今後の目標</a:t>
            </a:r>
            <a:endParaRPr kumimoji="1" lang="en-US" altLang="ja-JP" sz="2400" b="1"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1464773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D432-E8B8-A9D4-AA57-38BAEFE215CE}"/>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E28881BE-B4EC-2369-2ED0-35EE7C3B4F06}"/>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mj-lt"/>
                <a:ea typeface="Yu Gothic UI" panose="020B0500000000000000" pitchFamily="50" charset="-128"/>
              </a:rPr>
              <a:pPr marL="0" marR="0" lvl="0" indent="0" algn="l" defTabSz="457200" rtl="0" eaLnBrk="1" fontAlgn="auto" latinLnBrk="0" hangingPunct="1">
                <a:lnSpc>
                  <a:spcPct val="100000"/>
                </a:lnSpc>
                <a:spcBef>
                  <a:spcPts val="0"/>
                </a:spcBef>
                <a:spcAft>
                  <a:spcPts val="0"/>
                </a:spcAft>
                <a:buClrTx/>
                <a:buSzTx/>
                <a:buFontTx/>
                <a:buNone/>
                <a:tabLst/>
                <a:defRPr/>
              </a:pPr>
              <a:t>3</a:t>
            </a:fld>
            <a:endParaRPr kumimoji="0" lang="en-GB" sz="800" b="1" i="0" u="none" strike="noStrike" kern="1200" cap="none" spc="0" normalizeH="0" baseline="0" noProof="0" dirty="0">
              <a:ln>
                <a:noFill/>
              </a:ln>
              <a:solidFill>
                <a:prstClr val="black"/>
              </a:solidFill>
              <a:effectLst/>
              <a:uLnTx/>
              <a:uFillTx/>
              <a:latin typeface="+mj-lt"/>
              <a:ea typeface="Yu Gothic UI" panose="020B0500000000000000" pitchFamily="50" charset="-128"/>
            </a:endParaRPr>
          </a:p>
        </p:txBody>
      </p:sp>
      <p:sp>
        <p:nvSpPr>
          <p:cNvPr id="18" name="テキスト ボックス 17">
            <a:extLst>
              <a:ext uri="{FF2B5EF4-FFF2-40B4-BE49-F238E27FC236}">
                <a16:creationId xmlns:a16="http://schemas.microsoft.com/office/drawing/2014/main" id="{88E64D59-5899-1C54-5B60-491CF1BC3A86}"/>
              </a:ext>
            </a:extLst>
          </p:cNvPr>
          <p:cNvSpPr txBox="1"/>
          <p:nvPr/>
        </p:nvSpPr>
        <p:spPr>
          <a:xfrm>
            <a:off x="353453" y="1767353"/>
            <a:ext cx="1601882" cy="369332"/>
          </a:xfrm>
          <a:prstGeom prst="rect">
            <a:avLst/>
          </a:prstGeom>
          <a:noFill/>
        </p:spPr>
        <p:txBody>
          <a:bodyPr wrap="square" lIns="91440" tIns="45720" rIns="91440" bIns="45720" rtlCol="0" anchor="t">
            <a:spAutoFit/>
          </a:bodyPr>
          <a:lstStyle/>
          <a:p>
            <a:pPr lvl="0" defTabSz="914400" fontAlgn="base">
              <a:spcBef>
                <a:spcPct val="0"/>
              </a:spcBef>
              <a:spcAft>
                <a:spcPct val="0"/>
              </a:spcAft>
              <a:defRPr/>
            </a:pPr>
            <a:r>
              <a:rPr kumimoji="1" lang="ja-JP" altLang="en-US" dirty="0">
                <a:solidFill>
                  <a:srgbClr val="000000"/>
                </a:solidFill>
                <a:latin typeface="+mj-lt"/>
              </a:rPr>
              <a:t>　</a:t>
            </a:r>
            <a:r>
              <a:rPr kumimoji="1" lang="ja-JP" altLang="en-US" dirty="0">
                <a:solidFill>
                  <a:srgbClr val="000000"/>
                </a:solidFill>
                <a:latin typeface="+mj-lt"/>
                <a:ea typeface="+mj-ea"/>
              </a:rPr>
              <a:t>開発業務</a:t>
            </a:r>
            <a:endParaRPr kumimoji="1" lang="en-US" altLang="ja-JP" dirty="0">
              <a:solidFill>
                <a:srgbClr val="000000"/>
              </a:solidFill>
              <a:latin typeface="+mj-lt"/>
            </a:endParaRPr>
          </a:p>
        </p:txBody>
      </p:sp>
      <p:sp>
        <p:nvSpPr>
          <p:cNvPr id="36" name="テキスト プレースホルダー 4">
            <a:extLst>
              <a:ext uri="{FF2B5EF4-FFF2-40B4-BE49-F238E27FC236}">
                <a16:creationId xmlns:a16="http://schemas.microsoft.com/office/drawing/2014/main" id="{9420977C-C097-BB1C-88DC-BD58C15783B3}"/>
              </a:ext>
            </a:extLst>
          </p:cNvPr>
          <p:cNvSpPr>
            <a:spLocks noGrp="1"/>
          </p:cNvSpPr>
          <p:nvPr>
            <p:ph type="body" sz="half" idx="2"/>
          </p:nvPr>
        </p:nvSpPr>
        <p:spPr>
          <a:xfrm>
            <a:off x="463550" y="260617"/>
            <a:ext cx="3600000" cy="373115"/>
          </a:xfrm>
        </p:spPr>
        <p:txBody>
          <a:bodyPr/>
          <a:lstStyle/>
          <a:p>
            <a:r>
              <a:rPr kumimoji="1" lang="ja-JP" altLang="en-US" sz="1800" dirty="0">
                <a:latin typeface="Yu Gothic UI" panose="020B0500000000000000" pitchFamily="50" charset="-128"/>
                <a:ea typeface="Yu Gothic UI" panose="020B0500000000000000" pitchFamily="50" charset="-128"/>
              </a:rPr>
              <a:t>１．グループ概要</a:t>
            </a:r>
          </a:p>
        </p:txBody>
      </p:sp>
      <p:sp>
        <p:nvSpPr>
          <p:cNvPr id="52" name="テキスト ボックス 51">
            <a:extLst>
              <a:ext uri="{FF2B5EF4-FFF2-40B4-BE49-F238E27FC236}">
                <a16:creationId xmlns:a16="http://schemas.microsoft.com/office/drawing/2014/main" id="{AF7ACFB3-2184-0C10-6DF8-08DFD178ABE3}"/>
              </a:ext>
            </a:extLst>
          </p:cNvPr>
          <p:cNvSpPr txBox="1"/>
          <p:nvPr/>
        </p:nvSpPr>
        <p:spPr>
          <a:xfrm>
            <a:off x="5067773" y="5995258"/>
            <a:ext cx="1828456" cy="276999"/>
          </a:xfrm>
          <a:prstGeom prst="rect">
            <a:avLst/>
          </a:prstGeom>
          <a:noFill/>
        </p:spPr>
        <p:txBody>
          <a:bodyPr wrap="square" lIns="91440" tIns="45720" rIns="91440" bIns="45720" rtlCol="0" anchor="t">
            <a:spAutoFit/>
          </a:bodyPr>
          <a:lstStyle/>
          <a:p>
            <a:pPr lvl="0" defTabSz="914400" fontAlgn="base">
              <a:spcBef>
                <a:spcPct val="0"/>
              </a:spcBef>
              <a:spcAft>
                <a:spcPct val="0"/>
              </a:spcAft>
              <a:defRPr/>
            </a:pPr>
            <a:r>
              <a:rPr kumimoji="1" lang="en-US" altLang="ja-JP" sz="1200" dirty="0">
                <a:solidFill>
                  <a:srgbClr val="000000"/>
                </a:solidFill>
                <a:latin typeface="+mj-lt"/>
              </a:rPr>
              <a:t>※2024</a:t>
            </a:r>
            <a:r>
              <a:rPr kumimoji="1" lang="ja-JP" altLang="en-US" sz="1200" dirty="0">
                <a:solidFill>
                  <a:srgbClr val="000000"/>
                </a:solidFill>
                <a:latin typeface="+mj-lt"/>
              </a:rPr>
              <a:t>年度の受託案件</a:t>
            </a:r>
            <a:endParaRPr kumimoji="1" lang="en-US" altLang="ja-JP" sz="1200" dirty="0">
              <a:solidFill>
                <a:srgbClr val="000000"/>
              </a:solidFill>
              <a:latin typeface="+mj-lt"/>
            </a:endParaRPr>
          </a:p>
        </p:txBody>
      </p:sp>
      <p:sp>
        <p:nvSpPr>
          <p:cNvPr id="53" name="テキスト ボックス 52">
            <a:extLst>
              <a:ext uri="{FF2B5EF4-FFF2-40B4-BE49-F238E27FC236}">
                <a16:creationId xmlns:a16="http://schemas.microsoft.com/office/drawing/2014/main" id="{B064FBDD-B821-D2F0-E85B-DC0A9C3572A3}"/>
              </a:ext>
            </a:extLst>
          </p:cNvPr>
          <p:cNvSpPr txBox="1"/>
          <p:nvPr/>
        </p:nvSpPr>
        <p:spPr>
          <a:xfrm>
            <a:off x="552103" y="862742"/>
            <a:ext cx="8034261" cy="830997"/>
          </a:xfrm>
          <a:prstGeom prst="rect">
            <a:avLst/>
          </a:prstGeom>
          <a:noFill/>
          <a:ln>
            <a:solidFill>
              <a:schemeClr val="tx1"/>
            </a:solidFill>
          </a:ln>
        </p:spPr>
        <p:txBody>
          <a:bodyPr wrap="square" rtlCol="0">
            <a:spAutoFit/>
          </a:bodyPr>
          <a:lstStyle/>
          <a:p>
            <a:pPr defTabSz="914400" fontAlgn="base">
              <a:spcBef>
                <a:spcPct val="0"/>
              </a:spcBef>
              <a:spcAft>
                <a:spcPct val="0"/>
              </a:spcAft>
              <a:defRPr/>
            </a:pPr>
            <a:r>
              <a:rPr kumimoji="1" lang="ja-JP" altLang="en-US" sz="1600" dirty="0">
                <a:latin typeface="+mj-lt"/>
                <a:ea typeface="+mj-ea"/>
              </a:rPr>
              <a:t>運用システム先進グループでは主に</a:t>
            </a:r>
            <a:r>
              <a:rPr kumimoji="1" lang="ja-JP" altLang="en-US" sz="1600" b="1" u="sng" dirty="0">
                <a:latin typeface="+mj-lt"/>
                <a:ea typeface="+mj-ea"/>
              </a:rPr>
              <a:t>開発業務「</a:t>
            </a:r>
            <a:r>
              <a:rPr kumimoji="1" lang="ja-JP" altLang="en-US" sz="1600" b="1" u="sng" dirty="0"/>
              <a:t>システムの要件定義～移行までの開発、運用、維持、保守」</a:t>
            </a:r>
            <a:r>
              <a:rPr kumimoji="1" lang="ja-JP" altLang="en-US" sz="1600" dirty="0"/>
              <a:t>を主要業務としており、主な顧客は</a:t>
            </a:r>
            <a:r>
              <a:rPr kumimoji="1" lang="ja-JP" altLang="en-US" sz="1600" b="1" u="sng" dirty="0"/>
              <a:t>「東京電力</a:t>
            </a:r>
            <a:r>
              <a:rPr kumimoji="1" lang="en-US" altLang="ja-JP" sz="1600" b="1" u="sng" dirty="0"/>
              <a:t>HD</a:t>
            </a:r>
            <a:r>
              <a:rPr kumimoji="1" lang="ja-JP" altLang="en-US" sz="1600" b="1" u="sng" dirty="0"/>
              <a:t>」</a:t>
            </a:r>
            <a:r>
              <a:rPr kumimoji="1" lang="ja-JP" altLang="en-US" sz="1600" dirty="0">
                <a:latin typeface="+mj-lt"/>
                <a:ea typeface="+mj-ea"/>
              </a:rPr>
              <a:t>となる。</a:t>
            </a:r>
            <a:endParaRPr kumimoji="1" lang="en-US" altLang="ja-JP" sz="1600" dirty="0">
              <a:latin typeface="+mj-lt"/>
              <a:ea typeface="+mj-ea"/>
            </a:endParaRPr>
          </a:p>
          <a:p>
            <a:pPr defTabSz="914400" fontAlgn="base">
              <a:spcBef>
                <a:spcPct val="0"/>
              </a:spcBef>
              <a:spcAft>
                <a:spcPct val="0"/>
              </a:spcAft>
              <a:defRPr/>
            </a:pPr>
            <a:r>
              <a:rPr kumimoji="1" lang="ja-JP" altLang="en-US" sz="1600" dirty="0">
                <a:latin typeface="+mj-lt"/>
                <a:ea typeface="+mj-ea"/>
              </a:rPr>
              <a:t>東京電力</a:t>
            </a:r>
            <a:r>
              <a:rPr kumimoji="1" lang="en-US" altLang="ja-JP" sz="1600" dirty="0">
                <a:latin typeface="+mj-lt"/>
                <a:ea typeface="+mj-ea"/>
              </a:rPr>
              <a:t>HD</a:t>
            </a:r>
            <a:r>
              <a:rPr kumimoji="1" lang="ja-JP" altLang="en-US" sz="1600" dirty="0">
                <a:latin typeface="+mj-lt"/>
                <a:ea typeface="+mj-ea"/>
              </a:rPr>
              <a:t>システム統括室の案件を皮切りに順調に売り上げを伸ばしている。</a:t>
            </a:r>
            <a:endParaRPr kumimoji="1" lang="en-US" altLang="ja-JP" sz="1600" dirty="0"/>
          </a:p>
        </p:txBody>
      </p:sp>
      <p:sp>
        <p:nvSpPr>
          <p:cNvPr id="2" name="矢印: 五方向 1">
            <a:extLst>
              <a:ext uri="{FF2B5EF4-FFF2-40B4-BE49-F238E27FC236}">
                <a16:creationId xmlns:a16="http://schemas.microsoft.com/office/drawing/2014/main" id="{4923A39C-919A-634C-E5F4-6B7C204FB08F}"/>
              </a:ext>
            </a:extLst>
          </p:cNvPr>
          <p:cNvSpPr/>
          <p:nvPr/>
        </p:nvSpPr>
        <p:spPr>
          <a:xfrm>
            <a:off x="1154394" y="2168700"/>
            <a:ext cx="904965" cy="369331"/>
          </a:xfrm>
          <a:prstGeom prst="homePlate">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要件定義</a:t>
            </a:r>
          </a:p>
        </p:txBody>
      </p:sp>
      <p:sp>
        <p:nvSpPr>
          <p:cNvPr id="7" name="矢印: 山形 6">
            <a:extLst>
              <a:ext uri="{FF2B5EF4-FFF2-40B4-BE49-F238E27FC236}">
                <a16:creationId xmlns:a16="http://schemas.microsoft.com/office/drawing/2014/main" id="{9811F8CF-E9CC-D0FA-DD1C-B1DBA2041124}"/>
              </a:ext>
            </a:extLst>
          </p:cNvPr>
          <p:cNvSpPr/>
          <p:nvPr/>
        </p:nvSpPr>
        <p:spPr>
          <a:xfrm>
            <a:off x="1916219" y="2177026"/>
            <a:ext cx="1110490" cy="366034"/>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基本設計</a:t>
            </a:r>
          </a:p>
        </p:txBody>
      </p:sp>
      <p:sp>
        <p:nvSpPr>
          <p:cNvPr id="8" name="矢印: 山形 7">
            <a:extLst>
              <a:ext uri="{FF2B5EF4-FFF2-40B4-BE49-F238E27FC236}">
                <a16:creationId xmlns:a16="http://schemas.microsoft.com/office/drawing/2014/main" id="{AA6BCBD7-AB63-C4D6-D928-B158D157BCCE}"/>
              </a:ext>
            </a:extLst>
          </p:cNvPr>
          <p:cNvSpPr/>
          <p:nvPr/>
        </p:nvSpPr>
        <p:spPr>
          <a:xfrm>
            <a:off x="2888695" y="2175356"/>
            <a:ext cx="1110490" cy="366034"/>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詳細設計</a:t>
            </a:r>
          </a:p>
        </p:txBody>
      </p:sp>
      <p:sp>
        <p:nvSpPr>
          <p:cNvPr id="12" name="矢印: 山形 11">
            <a:extLst>
              <a:ext uri="{FF2B5EF4-FFF2-40B4-BE49-F238E27FC236}">
                <a16:creationId xmlns:a16="http://schemas.microsoft.com/office/drawing/2014/main" id="{6A07F213-C366-2E7B-CC84-A49C495C278D}"/>
              </a:ext>
            </a:extLst>
          </p:cNvPr>
          <p:cNvSpPr/>
          <p:nvPr/>
        </p:nvSpPr>
        <p:spPr>
          <a:xfrm>
            <a:off x="3856044" y="2175356"/>
            <a:ext cx="1297159" cy="366034"/>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ﾌﾟﾛｸﾞﾗﾐﾝｸﾞ</a:t>
            </a:r>
          </a:p>
        </p:txBody>
      </p:sp>
      <p:sp>
        <p:nvSpPr>
          <p:cNvPr id="17" name="矢印: 山形 16">
            <a:extLst>
              <a:ext uri="{FF2B5EF4-FFF2-40B4-BE49-F238E27FC236}">
                <a16:creationId xmlns:a16="http://schemas.microsoft.com/office/drawing/2014/main" id="{271F8148-17CA-B97C-7A88-B648CB736A15}"/>
              </a:ext>
            </a:extLst>
          </p:cNvPr>
          <p:cNvSpPr/>
          <p:nvPr/>
        </p:nvSpPr>
        <p:spPr>
          <a:xfrm>
            <a:off x="5018310" y="2175356"/>
            <a:ext cx="858794" cy="366034"/>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テスト</a:t>
            </a:r>
          </a:p>
        </p:txBody>
      </p:sp>
      <p:sp>
        <p:nvSpPr>
          <p:cNvPr id="21" name="矢印: 山形 20">
            <a:extLst>
              <a:ext uri="{FF2B5EF4-FFF2-40B4-BE49-F238E27FC236}">
                <a16:creationId xmlns:a16="http://schemas.microsoft.com/office/drawing/2014/main" id="{8F62CE18-733B-276A-D64E-F55D77F6D41C}"/>
              </a:ext>
            </a:extLst>
          </p:cNvPr>
          <p:cNvSpPr/>
          <p:nvPr/>
        </p:nvSpPr>
        <p:spPr>
          <a:xfrm>
            <a:off x="5742931" y="2180500"/>
            <a:ext cx="858794" cy="366034"/>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移行</a:t>
            </a:r>
          </a:p>
        </p:txBody>
      </p:sp>
      <p:sp>
        <p:nvSpPr>
          <p:cNvPr id="22" name="矢印: 山形 21">
            <a:extLst>
              <a:ext uri="{FF2B5EF4-FFF2-40B4-BE49-F238E27FC236}">
                <a16:creationId xmlns:a16="http://schemas.microsoft.com/office/drawing/2014/main" id="{90E63B6C-FC7F-6F67-785B-E69101C27295}"/>
              </a:ext>
            </a:extLst>
          </p:cNvPr>
          <p:cNvSpPr/>
          <p:nvPr/>
        </p:nvSpPr>
        <p:spPr>
          <a:xfrm>
            <a:off x="6466832" y="2174150"/>
            <a:ext cx="858794" cy="366034"/>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運用</a:t>
            </a:r>
          </a:p>
        </p:txBody>
      </p:sp>
      <p:sp>
        <p:nvSpPr>
          <p:cNvPr id="28" name="矢印: 山形 27">
            <a:extLst>
              <a:ext uri="{FF2B5EF4-FFF2-40B4-BE49-F238E27FC236}">
                <a16:creationId xmlns:a16="http://schemas.microsoft.com/office/drawing/2014/main" id="{6C2D95D3-2373-1109-D20E-521BC7E58D02}"/>
              </a:ext>
            </a:extLst>
          </p:cNvPr>
          <p:cNvSpPr/>
          <p:nvPr/>
        </p:nvSpPr>
        <p:spPr>
          <a:xfrm>
            <a:off x="7186267" y="2171997"/>
            <a:ext cx="858794" cy="366034"/>
          </a:xfrm>
          <a:prstGeom prst="chevron">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bg1"/>
                </a:solidFill>
              </a:rPr>
              <a:t>維持保守</a:t>
            </a:r>
          </a:p>
        </p:txBody>
      </p:sp>
      <p:graphicFrame>
        <p:nvGraphicFramePr>
          <p:cNvPr id="29" name="表 28">
            <a:extLst>
              <a:ext uri="{FF2B5EF4-FFF2-40B4-BE49-F238E27FC236}">
                <a16:creationId xmlns:a16="http://schemas.microsoft.com/office/drawing/2014/main" id="{1322F38A-7537-1F3C-2EBA-F91722B6C9D6}"/>
              </a:ext>
            </a:extLst>
          </p:cNvPr>
          <p:cNvGraphicFramePr>
            <a:graphicFrameLocks noGrp="1"/>
          </p:cNvGraphicFramePr>
          <p:nvPr>
            <p:extLst>
              <p:ext uri="{D42A27DB-BD31-4B8C-83A1-F6EECF244321}">
                <p14:modId xmlns:p14="http://schemas.microsoft.com/office/powerpoint/2010/main" val="1524224068"/>
              </p:ext>
            </p:extLst>
          </p:nvPr>
        </p:nvGraphicFramePr>
        <p:xfrm>
          <a:off x="552103" y="2791079"/>
          <a:ext cx="6125211" cy="3243168"/>
        </p:xfrm>
        <a:graphic>
          <a:graphicData uri="http://schemas.openxmlformats.org/drawingml/2006/table">
            <a:tbl>
              <a:tblPr firstRow="1" bandRow="1">
                <a:tableStyleId>{073A0DAA-6AF3-43AB-8588-CEC1D06C72B9}</a:tableStyleId>
              </a:tblPr>
              <a:tblGrid>
                <a:gridCol w="1552893">
                  <a:extLst>
                    <a:ext uri="{9D8B030D-6E8A-4147-A177-3AD203B41FA5}">
                      <a16:colId xmlns:a16="http://schemas.microsoft.com/office/drawing/2014/main" val="3017635136"/>
                    </a:ext>
                  </a:extLst>
                </a:gridCol>
                <a:gridCol w="3890963">
                  <a:extLst>
                    <a:ext uri="{9D8B030D-6E8A-4147-A177-3AD203B41FA5}">
                      <a16:colId xmlns:a16="http://schemas.microsoft.com/office/drawing/2014/main" val="1307962584"/>
                    </a:ext>
                  </a:extLst>
                </a:gridCol>
                <a:gridCol w="681355">
                  <a:extLst>
                    <a:ext uri="{9D8B030D-6E8A-4147-A177-3AD203B41FA5}">
                      <a16:colId xmlns:a16="http://schemas.microsoft.com/office/drawing/2014/main" val="3382082185"/>
                    </a:ext>
                  </a:extLst>
                </a:gridCol>
              </a:tblGrid>
              <a:tr h="347568">
                <a:tc>
                  <a:txBody>
                    <a:bodyPr/>
                    <a:lstStyle/>
                    <a:p>
                      <a:pPr algn="ctr"/>
                      <a:r>
                        <a:rPr kumimoji="1" lang="ja-JP" altLang="en-US" sz="1200" dirty="0">
                          <a:latin typeface="+mn-lt"/>
                        </a:rPr>
                        <a:t>受託箇所</a:t>
                      </a:r>
                    </a:p>
                  </a:txBody>
                  <a:tcPr>
                    <a:solidFill>
                      <a:srgbClr val="0070C0"/>
                    </a:solidFill>
                  </a:tcPr>
                </a:tc>
                <a:tc>
                  <a:txBody>
                    <a:bodyPr/>
                    <a:lstStyle/>
                    <a:p>
                      <a:pPr algn="ctr"/>
                      <a:r>
                        <a:rPr kumimoji="1" lang="ja-JP" altLang="en-US" sz="1200" dirty="0">
                          <a:latin typeface="+mn-lt"/>
                        </a:rPr>
                        <a:t>受託件名</a:t>
                      </a:r>
                    </a:p>
                  </a:txBody>
                  <a:tcPr>
                    <a:solidFill>
                      <a:srgbClr val="0070C0"/>
                    </a:solidFill>
                  </a:tcPr>
                </a:tc>
                <a:tc>
                  <a:txBody>
                    <a:bodyPr/>
                    <a:lstStyle/>
                    <a:p>
                      <a:pPr algn="ctr"/>
                      <a:r>
                        <a:rPr kumimoji="1" lang="ja-JP" altLang="en-US" sz="1200" dirty="0">
                          <a:latin typeface="+mn-lt"/>
                        </a:rPr>
                        <a:t>売上額</a:t>
                      </a:r>
                    </a:p>
                  </a:txBody>
                  <a:tcPr>
                    <a:solidFill>
                      <a:srgbClr val="0070C0"/>
                    </a:solidFill>
                  </a:tcPr>
                </a:tc>
                <a:extLst>
                  <a:ext uri="{0D108BD9-81ED-4DB2-BD59-A6C34878D82A}">
                    <a16:rowId xmlns:a16="http://schemas.microsoft.com/office/drawing/2014/main" val="2618488754"/>
                  </a:ext>
                </a:extLst>
              </a:tr>
              <a:tr h="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東京電力</a:t>
                      </a:r>
                      <a:r>
                        <a:rPr kumimoji="1" lang="en-US" altLang="ja-JP" sz="1200" dirty="0">
                          <a:latin typeface="+mn-lt"/>
                        </a:rPr>
                        <a:t>HD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dirty="0">
                          <a:latin typeface="+mn-lt"/>
                        </a:rPr>
                        <a:t>柏崎刈羽原子力発電所</a:t>
                      </a:r>
                      <a:endParaRPr kumimoji="1" lang="en-US" altLang="ja-JP" sz="1050" dirty="0">
                        <a:latin typeface="+mn-lt"/>
                      </a:endParaRPr>
                    </a:p>
                  </a:txBody>
                  <a:tcPr anchor="ctr"/>
                </a:tc>
                <a:tc>
                  <a:txBody>
                    <a:bodyPr/>
                    <a:lstStyle/>
                    <a:p>
                      <a:pPr algn="l" fontAlgn="ctr">
                        <a:buNone/>
                      </a:pPr>
                      <a:r>
                        <a:rPr lang="ja-JP" altLang="en-US" sz="1100" b="0" i="0" u="none" strike="noStrike" dirty="0">
                          <a:solidFill>
                            <a:schemeClr val="tx1"/>
                          </a:solidFill>
                          <a:effectLst/>
                          <a:latin typeface="+mn-lt"/>
                          <a:ea typeface="+mj-ea"/>
                        </a:rPr>
                        <a:t>発電所監視装置（ログ監理・分析環境）保守委託</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8.9M\</a:t>
                      </a:r>
                    </a:p>
                  </a:txBody>
                  <a:tcPr marL="0" marR="0" marT="0" marB="0" anchor="ctr"/>
                </a:tc>
                <a:extLst>
                  <a:ext uri="{0D108BD9-81ED-4DB2-BD59-A6C34878D82A}">
                    <a16:rowId xmlns:a16="http://schemas.microsoft.com/office/drawing/2014/main" val="652891657"/>
                  </a:ext>
                </a:extLst>
              </a:tr>
              <a:tr h="0">
                <a:tc vMerge="1">
                  <a:txBody>
                    <a:bodyPr/>
                    <a:lstStyle/>
                    <a:p>
                      <a:pPr algn="ctr"/>
                      <a:endParaRPr kumimoji="1" lang="ja-JP" altLang="en-US" sz="1200" dirty="0"/>
                    </a:p>
                  </a:txBody>
                  <a:tcPr/>
                </a:tc>
                <a:tc>
                  <a:txBody>
                    <a:bodyPr/>
                    <a:lstStyle/>
                    <a:p>
                      <a:pPr algn="l" fontAlgn="ctr">
                        <a:buNone/>
                      </a:pPr>
                      <a:r>
                        <a:rPr lang="zh-TW" altLang="en-US" sz="1100" b="0" i="0" u="none" strike="noStrike" dirty="0">
                          <a:solidFill>
                            <a:schemeClr val="tx1"/>
                          </a:solidFill>
                          <a:effectLst/>
                          <a:latin typeface="+mn-lt"/>
                          <a:ea typeface="+mj-ea"/>
                        </a:rPr>
                        <a:t>開発環境</a:t>
                      </a:r>
                      <a:r>
                        <a:rPr lang="en-US" altLang="zh-TW" sz="1100" b="0" i="0" u="none" strike="noStrike" dirty="0">
                          <a:solidFill>
                            <a:schemeClr val="tx1"/>
                          </a:solidFill>
                          <a:effectLst/>
                          <a:latin typeface="+mn-lt"/>
                          <a:ea typeface="+mj-ea"/>
                        </a:rPr>
                        <a:t>Splunk</a:t>
                      </a:r>
                      <a:r>
                        <a:rPr lang="zh-TW" altLang="en-US" sz="1100" b="0" i="0" u="none" strike="noStrike" dirty="0">
                          <a:solidFill>
                            <a:schemeClr val="tx1"/>
                          </a:solidFill>
                          <a:effectLst/>
                          <a:latin typeface="+mn-lt"/>
                          <a:ea typeface="+mj-ea"/>
                        </a:rPr>
                        <a:t>ﾗｲｾﾝｽ購入</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1.2M\</a:t>
                      </a:r>
                    </a:p>
                  </a:txBody>
                  <a:tcPr marL="0" marR="0" marT="0" marB="0" anchor="ctr"/>
                </a:tc>
                <a:extLst>
                  <a:ext uri="{0D108BD9-81ED-4DB2-BD59-A6C34878D82A}">
                    <a16:rowId xmlns:a16="http://schemas.microsoft.com/office/drawing/2014/main" val="4193126430"/>
                  </a:ext>
                </a:extLst>
              </a:tr>
              <a:tr h="0">
                <a:tc vMerge="1">
                  <a:txBody>
                    <a:bodyPr/>
                    <a:lstStyle/>
                    <a:p>
                      <a:pPr algn="ctr"/>
                      <a:endParaRPr kumimoji="1" lang="ja-JP" altLang="en-US" sz="1200" dirty="0"/>
                    </a:p>
                  </a:txBody>
                  <a:tcPr/>
                </a:tc>
                <a:tc>
                  <a:txBody>
                    <a:bodyPr/>
                    <a:lstStyle/>
                    <a:p>
                      <a:pPr algn="l" fontAlgn="ctr">
                        <a:buNone/>
                      </a:pPr>
                      <a:r>
                        <a:rPr lang="ja-JP" altLang="en-US" sz="1100" b="0" i="0" u="none" strike="noStrike" dirty="0">
                          <a:solidFill>
                            <a:schemeClr val="tx1"/>
                          </a:solidFill>
                          <a:effectLst/>
                          <a:latin typeface="+mn-lt"/>
                          <a:ea typeface="+mj-ea"/>
                        </a:rPr>
                        <a:t>ログ連携先追加に伴うログ監理・分析環境機能改良ほか作業委託</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39.0M\</a:t>
                      </a:r>
                    </a:p>
                  </a:txBody>
                  <a:tcPr marL="0" marR="0" marT="0" marB="0" anchor="ctr"/>
                </a:tc>
                <a:extLst>
                  <a:ext uri="{0D108BD9-81ED-4DB2-BD59-A6C34878D82A}">
                    <a16:rowId xmlns:a16="http://schemas.microsoft.com/office/drawing/2014/main" val="3980255437"/>
                  </a:ext>
                </a:extLst>
              </a:tr>
              <a:tr h="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東京電力</a:t>
                      </a:r>
                      <a:r>
                        <a:rPr kumimoji="1" lang="en-US" altLang="ja-JP" sz="1200" dirty="0">
                          <a:latin typeface="+mn-lt"/>
                        </a:rPr>
                        <a:t>HD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dirty="0">
                          <a:latin typeface="+mn-lt"/>
                        </a:rPr>
                        <a:t>システム統括室</a:t>
                      </a:r>
                      <a:endParaRPr kumimoji="1" lang="en-US" altLang="ja-JP" sz="1200" dirty="0">
                        <a:latin typeface="+mn-lt"/>
                      </a:endParaRPr>
                    </a:p>
                  </a:txBody>
                  <a:tcPr anchor="ctr"/>
                </a:tc>
                <a:tc>
                  <a:txBody>
                    <a:bodyPr/>
                    <a:lstStyle/>
                    <a:p>
                      <a:pPr algn="l" fontAlgn="ctr">
                        <a:buNone/>
                      </a:pPr>
                      <a:r>
                        <a:rPr lang="en-US" sz="1100" b="0" i="0" u="none" strike="noStrike" dirty="0">
                          <a:solidFill>
                            <a:schemeClr val="tx1"/>
                          </a:solidFill>
                          <a:effectLst/>
                          <a:latin typeface="+mn-lt"/>
                          <a:ea typeface="+mj-ea"/>
                        </a:rPr>
                        <a:t>Smart Operation</a:t>
                      </a:r>
                      <a:r>
                        <a:rPr lang="ja-JP" altLang="en-US" sz="1100" b="0" i="0" u="none" strike="noStrike" dirty="0">
                          <a:solidFill>
                            <a:schemeClr val="tx1"/>
                          </a:solidFill>
                          <a:effectLst/>
                          <a:latin typeface="+mn-lt"/>
                          <a:ea typeface="+mj-ea"/>
                        </a:rPr>
                        <a:t>システム自動化ツール作成</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10.3M\</a:t>
                      </a:r>
                    </a:p>
                  </a:txBody>
                  <a:tcPr marL="0" marR="0" marT="0" marB="0" anchor="ctr"/>
                </a:tc>
                <a:extLst>
                  <a:ext uri="{0D108BD9-81ED-4DB2-BD59-A6C34878D82A}">
                    <a16:rowId xmlns:a16="http://schemas.microsoft.com/office/drawing/2014/main" val="1659868078"/>
                  </a:ext>
                </a:extLst>
              </a:tr>
              <a:tr h="0">
                <a:tc vMerge="1">
                  <a:txBody>
                    <a:bodyPr/>
                    <a:lstStyle/>
                    <a:p>
                      <a:pPr algn="r"/>
                      <a:endParaRPr kumimoji="1" lang="ja-JP" altLang="en-US" sz="1200" dirty="0"/>
                    </a:p>
                  </a:txBody>
                  <a:tcPr/>
                </a:tc>
                <a:tc>
                  <a:txBody>
                    <a:bodyPr/>
                    <a:lstStyle/>
                    <a:p>
                      <a:pPr algn="l" fontAlgn="ctr">
                        <a:buNone/>
                      </a:pPr>
                      <a:r>
                        <a:rPr lang="ja-JP" altLang="en-US" sz="1100" b="0" i="0" u="none" strike="noStrike" dirty="0">
                          <a:solidFill>
                            <a:schemeClr val="tx1"/>
                          </a:solidFill>
                          <a:effectLst/>
                          <a:latin typeface="+mn-lt"/>
                          <a:ea typeface="+mj-ea"/>
                        </a:rPr>
                        <a:t>運用リモートアクセス企画構想支援</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11.9M\</a:t>
                      </a:r>
                    </a:p>
                  </a:txBody>
                  <a:tcPr marL="0" marR="0" marT="0" marB="0" anchor="ctr"/>
                </a:tc>
                <a:extLst>
                  <a:ext uri="{0D108BD9-81ED-4DB2-BD59-A6C34878D82A}">
                    <a16:rowId xmlns:a16="http://schemas.microsoft.com/office/drawing/2014/main" val="3491713884"/>
                  </a:ext>
                </a:extLst>
              </a:tr>
              <a:tr h="0">
                <a:tc vMerge="1">
                  <a:txBody>
                    <a:bodyPr/>
                    <a:lstStyle/>
                    <a:p>
                      <a:pPr algn="r"/>
                      <a:endParaRPr kumimoji="1" lang="ja-JP" altLang="en-US" sz="1200" dirty="0"/>
                    </a:p>
                  </a:txBody>
                  <a:tcPr/>
                </a:tc>
                <a:tc>
                  <a:txBody>
                    <a:bodyPr/>
                    <a:lstStyle/>
                    <a:p>
                      <a:pPr algn="l" fontAlgn="ctr">
                        <a:buNone/>
                      </a:pPr>
                      <a:r>
                        <a:rPr lang="en-US" altLang="ja-JP" sz="1100" b="0" i="0" u="none" strike="noStrike" dirty="0">
                          <a:solidFill>
                            <a:srgbClr val="000000"/>
                          </a:solidFill>
                          <a:effectLst/>
                          <a:latin typeface="+mn-lt"/>
                          <a:ea typeface="+mj-ea"/>
                        </a:rPr>
                        <a:t>【</a:t>
                      </a:r>
                      <a:r>
                        <a:rPr lang="ja-JP" altLang="en-US" sz="1100" b="0" i="0" u="none" strike="noStrike" dirty="0">
                          <a:solidFill>
                            <a:srgbClr val="000000"/>
                          </a:solidFill>
                          <a:effectLst/>
                          <a:latin typeface="+mn-lt"/>
                          <a:ea typeface="+mj-ea"/>
                        </a:rPr>
                        <a:t>開発･本番</a:t>
                      </a:r>
                      <a:r>
                        <a:rPr lang="en-US" altLang="ja-JP" sz="1100" b="0" i="0" u="none" strike="noStrike" dirty="0">
                          <a:solidFill>
                            <a:srgbClr val="000000"/>
                          </a:solidFill>
                          <a:effectLst/>
                          <a:latin typeface="+mn-lt"/>
                          <a:ea typeface="+mj-ea"/>
                        </a:rPr>
                        <a:t>】</a:t>
                      </a:r>
                      <a:r>
                        <a:rPr lang="ja-JP" altLang="en-US" sz="1100" b="0" i="0" u="none" strike="noStrike" dirty="0">
                          <a:solidFill>
                            <a:srgbClr val="000000"/>
                          </a:solidFill>
                          <a:effectLst/>
                          <a:latin typeface="+mn-lt"/>
                          <a:ea typeface="+mj-ea"/>
                        </a:rPr>
                        <a:t>ﾘｱﾙﾀｲﾑﾛｸﾞ分析</a:t>
                      </a:r>
                      <a:r>
                        <a:rPr lang="en-US" altLang="zh-TW" sz="1100" b="0" i="0" u="none" strike="noStrike" dirty="0">
                          <a:solidFill>
                            <a:srgbClr val="000000"/>
                          </a:solidFill>
                          <a:effectLst/>
                          <a:latin typeface="+mn-lt"/>
                          <a:ea typeface="+mj-ea"/>
                        </a:rPr>
                        <a:t>SW(Splunk)</a:t>
                      </a:r>
                      <a:r>
                        <a:rPr lang="ja-JP" altLang="en-US" sz="1100" b="0" i="0" u="none" strike="noStrike" dirty="0">
                          <a:solidFill>
                            <a:srgbClr val="000000"/>
                          </a:solidFill>
                          <a:effectLst/>
                          <a:latin typeface="+mn-lt"/>
                          <a:ea typeface="+mj-ea"/>
                        </a:rPr>
                        <a:t>購入</a:t>
                      </a:r>
                      <a:endParaRPr lang="zh-TW" altLang="en-US" sz="1100" b="0" i="0" u="none" strike="noStrike" dirty="0">
                        <a:solidFill>
                          <a:srgbClr val="000000"/>
                        </a:solidFill>
                        <a:effectLst/>
                        <a:latin typeface="+mn-lt"/>
                        <a:ea typeface="+mj-ea"/>
                      </a:endParaRPr>
                    </a:p>
                  </a:txBody>
                  <a:tcPr marL="0" marR="0" marT="0" marB="0" anchor="ct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100" b="0" i="0" u="none" strike="noStrike" dirty="0">
                          <a:solidFill>
                            <a:schemeClr val="tx1"/>
                          </a:solidFill>
                          <a:effectLst/>
                          <a:latin typeface="+mn-lt"/>
                          <a:ea typeface="+mj-ea"/>
                        </a:rPr>
                        <a:t>14.0M\</a:t>
                      </a:r>
                    </a:p>
                  </a:txBody>
                  <a:tcPr marL="0" marR="0" marT="0" marB="0" anchor="ctr"/>
                </a:tc>
                <a:extLst>
                  <a:ext uri="{0D108BD9-81ED-4DB2-BD59-A6C34878D82A}">
                    <a16:rowId xmlns:a16="http://schemas.microsoft.com/office/drawing/2014/main" val="369785621"/>
                  </a:ext>
                </a:extLst>
              </a:tr>
              <a:tr h="0">
                <a:tc rowSpan="5">
                  <a:txBody>
                    <a:bodyPr/>
                    <a:lstStyle/>
                    <a:p>
                      <a:pPr algn="ctr"/>
                      <a:r>
                        <a:rPr kumimoji="1" lang="ja-JP" altLang="en-US" sz="1200" dirty="0">
                          <a:latin typeface="+mn-lt"/>
                        </a:rPr>
                        <a:t>東京電力</a:t>
                      </a:r>
                      <a:r>
                        <a:rPr kumimoji="1" lang="en-US" altLang="ja-JP" sz="1200" dirty="0">
                          <a:latin typeface="+mn-lt"/>
                        </a:rPr>
                        <a:t>HD</a:t>
                      </a:r>
                    </a:p>
                    <a:p>
                      <a:pPr algn="ctr"/>
                      <a:r>
                        <a:rPr kumimoji="1" lang="ja-JP" altLang="en-US" sz="1200" dirty="0">
                          <a:latin typeface="+mn-lt"/>
                        </a:rPr>
                        <a:t>セキュリティ統括室</a:t>
                      </a:r>
                    </a:p>
                  </a:txBody>
                  <a:tcPr anchor="ctr"/>
                </a:tc>
                <a:tc>
                  <a:txBody>
                    <a:bodyPr/>
                    <a:lstStyle/>
                    <a:p>
                      <a:pPr algn="l" fontAlgn="ctr">
                        <a:buNone/>
                      </a:pPr>
                      <a:r>
                        <a:rPr lang="en-US" altLang="zh-TW" sz="1100" b="0" i="0" u="none" strike="noStrike" dirty="0">
                          <a:solidFill>
                            <a:srgbClr val="000000"/>
                          </a:solidFill>
                          <a:effectLst/>
                          <a:latin typeface="+mn-lt"/>
                          <a:ea typeface="+mj-ea"/>
                        </a:rPr>
                        <a:t>2024</a:t>
                      </a:r>
                      <a:r>
                        <a:rPr lang="zh-TW" altLang="en-US" sz="1100" b="0" i="0" u="none" strike="noStrike" dirty="0">
                          <a:solidFill>
                            <a:srgbClr val="000000"/>
                          </a:solidFill>
                          <a:effectLst/>
                          <a:latin typeface="+mn-lt"/>
                          <a:ea typeface="+mj-ea"/>
                        </a:rPr>
                        <a:t>年業務ｼｽﾃﾑ～ｾｷｭﾘﾃｨﾛｸﾞ分析ｼｽﾃﾑﾛｸﾞ連携</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9.0M\</a:t>
                      </a:r>
                    </a:p>
                  </a:txBody>
                  <a:tcPr marL="0" marR="0" marT="0" marB="0" anchor="ctr"/>
                </a:tc>
                <a:extLst>
                  <a:ext uri="{0D108BD9-81ED-4DB2-BD59-A6C34878D82A}">
                    <a16:rowId xmlns:a16="http://schemas.microsoft.com/office/drawing/2014/main" val="396729263"/>
                  </a:ext>
                </a:extLst>
              </a:tr>
              <a:tr h="0">
                <a:tc vMerge="1">
                  <a:txBody>
                    <a:bodyPr/>
                    <a:lstStyle/>
                    <a:p>
                      <a:pPr algn="ctr"/>
                      <a:endParaRPr kumimoji="1" lang="ja-JP" altLang="en-US" sz="1200" dirty="0"/>
                    </a:p>
                  </a:txBody>
                  <a:tcPr/>
                </a:tc>
                <a:tc>
                  <a:txBody>
                    <a:bodyPr/>
                    <a:lstStyle/>
                    <a:p>
                      <a:pPr algn="l" fontAlgn="ctr">
                        <a:buNone/>
                      </a:pPr>
                      <a:r>
                        <a:rPr lang="ja-JP" altLang="en-US" sz="1100" b="0" i="0" u="none" strike="noStrike" dirty="0">
                          <a:solidFill>
                            <a:srgbClr val="000000"/>
                          </a:solidFill>
                          <a:effectLst/>
                          <a:latin typeface="+mn-lt"/>
                          <a:ea typeface="+mj-ea"/>
                        </a:rPr>
                        <a:t>セキュリティログ分析システムの新規アドオン導入</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0.9M\</a:t>
                      </a:r>
                    </a:p>
                  </a:txBody>
                  <a:tcPr marL="0" marR="0" marT="0" marB="0" anchor="ctr"/>
                </a:tc>
                <a:extLst>
                  <a:ext uri="{0D108BD9-81ED-4DB2-BD59-A6C34878D82A}">
                    <a16:rowId xmlns:a16="http://schemas.microsoft.com/office/drawing/2014/main" val="4285921059"/>
                  </a:ext>
                </a:extLst>
              </a:tr>
              <a:tr h="0">
                <a:tc vMerge="1">
                  <a:txBody>
                    <a:bodyPr/>
                    <a:lstStyle/>
                    <a:p>
                      <a:pPr algn="ctr"/>
                      <a:endParaRPr kumimoji="1" lang="ja-JP" altLang="en-US" sz="1200" dirty="0"/>
                    </a:p>
                  </a:txBody>
                  <a:tcPr/>
                </a:tc>
                <a:tc>
                  <a:txBody>
                    <a:bodyPr/>
                    <a:lstStyle/>
                    <a:p>
                      <a:pPr algn="l" fontAlgn="ctr">
                        <a:buNone/>
                      </a:pPr>
                      <a:r>
                        <a:rPr lang="ja-JP" altLang="en-US" sz="1100" b="0" i="0" u="none" strike="noStrike" dirty="0">
                          <a:solidFill>
                            <a:srgbClr val="000000"/>
                          </a:solidFill>
                          <a:effectLst/>
                          <a:latin typeface="+mn-lt"/>
                          <a:ea typeface="+mj-ea"/>
                        </a:rPr>
                        <a:t>セキュリティログ分析システムリプレースにおける企画構想段階技術支援</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11.0M\</a:t>
                      </a:r>
                    </a:p>
                  </a:txBody>
                  <a:tcPr marL="0" marR="0" marT="0" marB="0" anchor="ctr"/>
                </a:tc>
                <a:extLst>
                  <a:ext uri="{0D108BD9-81ED-4DB2-BD59-A6C34878D82A}">
                    <a16:rowId xmlns:a16="http://schemas.microsoft.com/office/drawing/2014/main" val="2092694602"/>
                  </a:ext>
                </a:extLst>
              </a:tr>
              <a:tr h="0">
                <a:tc vMerge="1">
                  <a:txBody>
                    <a:bodyPr/>
                    <a:lstStyle/>
                    <a:p>
                      <a:pPr algn="ctr"/>
                      <a:endParaRPr kumimoji="1" lang="ja-JP" altLang="en-US" sz="1200" dirty="0"/>
                    </a:p>
                  </a:txBody>
                  <a:tcPr/>
                </a:tc>
                <a:tc>
                  <a:txBody>
                    <a:bodyPr/>
                    <a:lstStyle/>
                    <a:p>
                      <a:pPr algn="l" fontAlgn="ctr">
                        <a:buNone/>
                      </a:pPr>
                      <a:r>
                        <a:rPr lang="ja-JP" altLang="en-US" sz="1100" b="0" i="0" u="none" strike="noStrike" dirty="0">
                          <a:solidFill>
                            <a:srgbClr val="000000"/>
                          </a:solidFill>
                          <a:effectLst/>
                          <a:latin typeface="+mn-lt"/>
                          <a:ea typeface="+mj-ea"/>
                        </a:rPr>
                        <a:t>セキュリティログ分析システムバージョンアップ企画構想支援</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15.0M\</a:t>
                      </a:r>
                    </a:p>
                  </a:txBody>
                  <a:tcPr marL="0" marR="0" marT="0" marB="0" anchor="ctr"/>
                </a:tc>
                <a:extLst>
                  <a:ext uri="{0D108BD9-81ED-4DB2-BD59-A6C34878D82A}">
                    <a16:rowId xmlns:a16="http://schemas.microsoft.com/office/drawing/2014/main" val="181442565"/>
                  </a:ext>
                </a:extLst>
              </a:tr>
              <a:tr h="0">
                <a:tc vMerge="1">
                  <a:txBody>
                    <a:bodyPr/>
                    <a:lstStyle/>
                    <a:p>
                      <a:pPr algn="ctr"/>
                      <a:endParaRPr kumimoji="1" lang="ja-JP" altLang="en-US" sz="1200" dirty="0"/>
                    </a:p>
                  </a:txBody>
                  <a:tcPr/>
                </a:tc>
                <a:tc>
                  <a:txBody>
                    <a:bodyPr/>
                    <a:lstStyle/>
                    <a:p>
                      <a:pPr algn="l" fontAlgn="ctr">
                        <a:buNone/>
                      </a:pPr>
                      <a:r>
                        <a:rPr lang="en-US" altLang="ja-JP" sz="1100" b="0" i="0" u="none" strike="noStrike" dirty="0">
                          <a:solidFill>
                            <a:srgbClr val="000000"/>
                          </a:solidFill>
                          <a:effectLst/>
                          <a:latin typeface="+mn-lt"/>
                          <a:ea typeface="+mj-ea"/>
                        </a:rPr>
                        <a:t>2024</a:t>
                      </a:r>
                      <a:r>
                        <a:rPr lang="ja-JP" altLang="en-US" sz="1100" b="0" i="0" u="none" strike="noStrike" dirty="0">
                          <a:solidFill>
                            <a:srgbClr val="000000"/>
                          </a:solidFill>
                          <a:effectLst/>
                          <a:latin typeface="+mn-lt"/>
                          <a:ea typeface="+mj-ea"/>
                        </a:rPr>
                        <a:t>年度セキュリティログ分析システム新</a:t>
                      </a:r>
                      <a:r>
                        <a:rPr lang="en-US" altLang="ja-JP" sz="1100" b="0" i="0" u="none" strike="noStrike" dirty="0">
                          <a:solidFill>
                            <a:srgbClr val="000000"/>
                          </a:solidFill>
                          <a:effectLst/>
                          <a:latin typeface="+mn-lt"/>
                          <a:ea typeface="+mj-ea"/>
                        </a:rPr>
                        <a:t>OS</a:t>
                      </a:r>
                      <a:r>
                        <a:rPr lang="ja-JP" altLang="en-US" sz="1100" b="0" i="0" u="none" strike="noStrike" dirty="0">
                          <a:solidFill>
                            <a:srgbClr val="000000"/>
                          </a:solidFill>
                          <a:effectLst/>
                          <a:latin typeface="+mn-lt"/>
                          <a:ea typeface="+mj-ea"/>
                        </a:rPr>
                        <a:t>対応</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2.5M\</a:t>
                      </a:r>
                    </a:p>
                  </a:txBody>
                  <a:tcPr marL="0" marR="0" marT="0" marB="0" anchor="ctr"/>
                </a:tc>
                <a:extLst>
                  <a:ext uri="{0D108BD9-81ED-4DB2-BD59-A6C34878D82A}">
                    <a16:rowId xmlns:a16="http://schemas.microsoft.com/office/drawing/2014/main" val="2885905031"/>
                  </a:ext>
                </a:extLst>
              </a:tr>
              <a:tr h="0">
                <a:tc rowSpan="3">
                  <a:txBody>
                    <a:bodyPr/>
                    <a:lstStyle/>
                    <a:p>
                      <a:pPr algn="ctr"/>
                      <a:r>
                        <a:rPr kumimoji="1" lang="ja-JP" altLang="en-US" sz="1200" dirty="0">
                          <a:latin typeface="+mn-lt"/>
                        </a:rPr>
                        <a:t>テプコシステムズ</a:t>
                      </a:r>
                      <a:endParaRPr kumimoji="1" lang="en-US" altLang="ja-JP" sz="1200" dirty="0">
                        <a:latin typeface="+mn-lt"/>
                      </a:endParaRPr>
                    </a:p>
                    <a:p>
                      <a:pPr algn="ctr"/>
                      <a:r>
                        <a:rPr kumimoji="1" lang="ja-JP" altLang="en-US" sz="1200" dirty="0">
                          <a:latin typeface="+mn-lt"/>
                        </a:rPr>
                        <a:t>クラウド事業推進部</a:t>
                      </a:r>
                    </a:p>
                  </a:txBody>
                  <a:tcPr anchor="ctr"/>
                </a:tc>
                <a:tc>
                  <a:txBody>
                    <a:bodyPr/>
                    <a:lstStyle/>
                    <a:p>
                      <a:pPr algn="l" fontAlgn="ctr">
                        <a:buNone/>
                      </a:pPr>
                      <a:r>
                        <a:rPr lang="zh-TW" altLang="en-US" sz="1100" b="0" i="0" u="none" strike="noStrike" dirty="0">
                          <a:solidFill>
                            <a:srgbClr val="000000"/>
                          </a:solidFill>
                          <a:effectLst/>
                          <a:latin typeface="+mn-lt"/>
                          <a:ea typeface="+mj-ea"/>
                        </a:rPr>
                        <a:t>ＴＥＰｃｕｂｅ 運用業務委託</a:t>
                      </a:r>
                      <a:endParaRPr lang="ja-JP" altLang="en-US" sz="1100" b="0" i="0" u="none" strike="noStrike" dirty="0">
                        <a:solidFill>
                          <a:srgbClr val="000000"/>
                        </a:solidFill>
                        <a:effectLst/>
                        <a:latin typeface="+mn-lt"/>
                        <a:ea typeface="+mj-ea"/>
                      </a:endParaRP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18.0M\</a:t>
                      </a:r>
                    </a:p>
                  </a:txBody>
                  <a:tcPr marL="0" marR="0" marT="0" marB="0" anchor="ctr"/>
                </a:tc>
                <a:extLst>
                  <a:ext uri="{0D108BD9-81ED-4DB2-BD59-A6C34878D82A}">
                    <a16:rowId xmlns:a16="http://schemas.microsoft.com/office/drawing/2014/main" val="3560825348"/>
                  </a:ext>
                </a:extLst>
              </a:tr>
              <a:tr h="0">
                <a:tc vMerge="1">
                  <a:txBody>
                    <a:bodyPr/>
                    <a:lstStyle/>
                    <a:p>
                      <a:pPr algn="ctr"/>
                      <a:endParaRPr kumimoji="1" lang="ja-JP" altLang="en-US" sz="1200" dirty="0"/>
                    </a:p>
                  </a:txBody>
                  <a:tcPr/>
                </a:tc>
                <a:tc>
                  <a:txBody>
                    <a:bodyPr/>
                    <a:lstStyle/>
                    <a:p>
                      <a:pPr algn="l" fontAlgn="ctr">
                        <a:buNone/>
                      </a:pPr>
                      <a:r>
                        <a:rPr lang="ja-JP" altLang="en-US" sz="1100" b="0" i="0" u="none" strike="noStrike" dirty="0">
                          <a:solidFill>
                            <a:schemeClr val="tx1"/>
                          </a:solidFill>
                          <a:effectLst/>
                          <a:latin typeface="+mn-lt"/>
                          <a:ea typeface="+mj-ea"/>
                        </a:rPr>
                        <a:t>ＴＥＰｃｕｂｅサーバ運用サービスの業務委託ＳＯ案件</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49.3M\</a:t>
                      </a:r>
                    </a:p>
                  </a:txBody>
                  <a:tcPr marL="0" marR="0" marT="0" marB="0" anchor="ctr"/>
                </a:tc>
                <a:extLst>
                  <a:ext uri="{0D108BD9-81ED-4DB2-BD59-A6C34878D82A}">
                    <a16:rowId xmlns:a16="http://schemas.microsoft.com/office/drawing/2014/main" val="3287070169"/>
                  </a:ext>
                </a:extLst>
              </a:tr>
              <a:tr h="0">
                <a:tc vMerge="1">
                  <a:txBody>
                    <a:bodyPr/>
                    <a:lstStyle/>
                    <a:p>
                      <a:pPr algn="ctr"/>
                      <a:endParaRPr kumimoji="1" lang="ja-JP" altLang="en-US" sz="1200" dirty="0"/>
                    </a:p>
                  </a:txBody>
                  <a:tcPr/>
                </a:tc>
                <a:tc>
                  <a:txBody>
                    <a:bodyPr/>
                    <a:lstStyle/>
                    <a:p>
                      <a:pPr algn="l" fontAlgn="ctr">
                        <a:buNone/>
                      </a:pPr>
                      <a:r>
                        <a:rPr lang="ja-JP" altLang="en-US" sz="1100" b="0" i="0" u="none" strike="noStrike" dirty="0">
                          <a:solidFill>
                            <a:schemeClr val="tx1"/>
                          </a:solidFill>
                          <a:effectLst/>
                          <a:latin typeface="+mn-lt"/>
                          <a:ea typeface="+mj-ea"/>
                        </a:rPr>
                        <a:t>ＴＥＰｃｕｂｅサーバ運用サービスの業務委託ＳＩ案件</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4.8M\</a:t>
                      </a:r>
                    </a:p>
                  </a:txBody>
                  <a:tcPr marL="0" marR="0" marT="0" marB="0" anchor="ctr"/>
                </a:tc>
                <a:extLst>
                  <a:ext uri="{0D108BD9-81ED-4DB2-BD59-A6C34878D82A}">
                    <a16:rowId xmlns:a16="http://schemas.microsoft.com/office/drawing/2014/main" val="3894569707"/>
                  </a:ext>
                </a:extLst>
              </a:tr>
              <a:tr h="0">
                <a:tc>
                  <a:txBody>
                    <a:bodyPr/>
                    <a:lstStyle/>
                    <a:p>
                      <a:pPr algn="ctr"/>
                      <a:endParaRPr kumimoji="1" lang="ja-JP" altLang="en-US" sz="1200" dirty="0">
                        <a:latin typeface="+mn-lt"/>
                      </a:endParaRPr>
                    </a:p>
                  </a:txBody>
                  <a:tcPr/>
                </a:tc>
                <a:tc>
                  <a:txBody>
                    <a:bodyPr/>
                    <a:lstStyle/>
                    <a:p>
                      <a:pPr algn="l" fontAlgn="ctr">
                        <a:buNone/>
                      </a:pPr>
                      <a:r>
                        <a:rPr lang="ja-JP" altLang="en-US" sz="1100" b="0" i="0" u="none" strike="noStrike" dirty="0">
                          <a:solidFill>
                            <a:srgbClr val="000000"/>
                          </a:solidFill>
                          <a:effectLst/>
                          <a:latin typeface="+mn-lt"/>
                          <a:ea typeface="+mj-ea"/>
                        </a:rPr>
                        <a:t>その他</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50.3M</a:t>
                      </a:r>
                    </a:p>
                  </a:txBody>
                  <a:tcPr marL="0" marR="0" marT="0" marB="0" anchor="ctr"/>
                </a:tc>
                <a:extLst>
                  <a:ext uri="{0D108BD9-81ED-4DB2-BD59-A6C34878D82A}">
                    <a16:rowId xmlns:a16="http://schemas.microsoft.com/office/drawing/2014/main" val="1482220036"/>
                  </a:ext>
                </a:extLst>
              </a:tr>
              <a:tr h="0">
                <a:tc>
                  <a:txBody>
                    <a:bodyPr/>
                    <a:lstStyle/>
                    <a:p>
                      <a:pPr algn="ctr"/>
                      <a:endParaRPr kumimoji="1" lang="ja-JP" altLang="en-US" sz="1200" dirty="0">
                        <a:latin typeface="+mn-lt"/>
                      </a:endParaRPr>
                    </a:p>
                  </a:txBody>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kumimoji="1" lang="ja-JP" altLang="en-US" sz="1100" dirty="0">
                          <a:latin typeface="+mn-lt"/>
                          <a:ea typeface="+mj-ea"/>
                        </a:rPr>
                        <a:t>計</a:t>
                      </a:r>
                    </a:p>
                  </a:txBody>
                  <a:tcPr marL="0" marR="0" marT="0" marB="0" anchor="ctr"/>
                </a:tc>
                <a:tc>
                  <a:txBody>
                    <a:bodyPr/>
                    <a:lstStyle/>
                    <a:p>
                      <a:pPr algn="r" fontAlgn="ctr">
                        <a:buNone/>
                      </a:pPr>
                      <a:r>
                        <a:rPr lang="en-US" altLang="ja-JP" sz="1100" b="0" i="0" u="none" strike="noStrike" dirty="0">
                          <a:solidFill>
                            <a:schemeClr val="tx1"/>
                          </a:solidFill>
                          <a:effectLst/>
                          <a:latin typeface="+mn-lt"/>
                          <a:ea typeface="+mj-ea"/>
                        </a:rPr>
                        <a:t>246.7M\</a:t>
                      </a:r>
                    </a:p>
                  </a:txBody>
                  <a:tcPr marL="0" marR="0" marT="0" marB="0" anchor="ctr"/>
                </a:tc>
                <a:extLst>
                  <a:ext uri="{0D108BD9-81ED-4DB2-BD59-A6C34878D82A}">
                    <a16:rowId xmlns:a16="http://schemas.microsoft.com/office/drawing/2014/main" val="655415500"/>
                  </a:ext>
                </a:extLst>
              </a:tr>
            </a:tbl>
          </a:graphicData>
        </a:graphic>
      </p:graphicFrame>
      <p:sp>
        <p:nvSpPr>
          <p:cNvPr id="38" name="正方形/長方形 37">
            <a:extLst>
              <a:ext uri="{FF2B5EF4-FFF2-40B4-BE49-F238E27FC236}">
                <a16:creationId xmlns:a16="http://schemas.microsoft.com/office/drawing/2014/main" id="{28715E37-6B73-43B5-2788-AB188CECD830}"/>
              </a:ext>
            </a:extLst>
          </p:cNvPr>
          <p:cNvSpPr/>
          <p:nvPr/>
        </p:nvSpPr>
        <p:spPr>
          <a:xfrm>
            <a:off x="552103" y="3112130"/>
            <a:ext cx="6121137" cy="10365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正方形/長方形 39">
            <a:extLst>
              <a:ext uri="{FF2B5EF4-FFF2-40B4-BE49-F238E27FC236}">
                <a16:creationId xmlns:a16="http://schemas.microsoft.com/office/drawing/2014/main" id="{E19B84E9-3CD7-D1A7-1C34-94D8211914AE}"/>
              </a:ext>
            </a:extLst>
          </p:cNvPr>
          <p:cNvSpPr/>
          <p:nvPr/>
        </p:nvSpPr>
        <p:spPr>
          <a:xfrm>
            <a:off x="6695411" y="2790026"/>
            <a:ext cx="1890953" cy="324316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400" b="1" dirty="0">
                <a:solidFill>
                  <a:schemeClr val="tx1"/>
                </a:solidFill>
              </a:rPr>
              <a:t>チームの売上推移</a:t>
            </a:r>
          </a:p>
        </p:txBody>
      </p:sp>
      <p:graphicFrame>
        <p:nvGraphicFramePr>
          <p:cNvPr id="42" name="グラフ 41">
            <a:extLst>
              <a:ext uri="{FF2B5EF4-FFF2-40B4-BE49-F238E27FC236}">
                <a16:creationId xmlns:a16="http://schemas.microsoft.com/office/drawing/2014/main" id="{28C617B0-6658-4B08-62D2-AAA293979927}"/>
              </a:ext>
            </a:extLst>
          </p:cNvPr>
          <p:cNvGraphicFramePr>
            <a:graphicFrameLocks/>
          </p:cNvGraphicFramePr>
          <p:nvPr>
            <p:extLst>
              <p:ext uri="{D42A27DB-BD31-4B8C-83A1-F6EECF244321}">
                <p14:modId xmlns:p14="http://schemas.microsoft.com/office/powerpoint/2010/main" val="1677035645"/>
              </p:ext>
            </p:extLst>
          </p:nvPr>
        </p:nvGraphicFramePr>
        <p:xfrm>
          <a:off x="6695411" y="3039867"/>
          <a:ext cx="1913123" cy="29019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57682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1283D-77AD-F3B5-E1FE-20F34779F230}"/>
            </a:ext>
          </a:extLst>
        </p:cNvPr>
        <p:cNvGrpSpPr/>
        <p:nvPr/>
      </p:nvGrpSpPr>
      <p:grpSpPr>
        <a:xfrm>
          <a:off x="0" y="0"/>
          <a:ext cx="0" cy="0"/>
          <a:chOff x="0" y="0"/>
          <a:chExt cx="0" cy="0"/>
        </a:xfrm>
      </p:grpSpPr>
      <p:sp>
        <p:nvSpPr>
          <p:cNvPr id="36" name="テキスト プレースホルダー 4">
            <a:extLst>
              <a:ext uri="{FF2B5EF4-FFF2-40B4-BE49-F238E27FC236}">
                <a16:creationId xmlns:a16="http://schemas.microsoft.com/office/drawing/2014/main" id="{391AC718-2EBE-8A89-2C60-F66A3EA7D944}"/>
              </a:ext>
            </a:extLst>
          </p:cNvPr>
          <p:cNvSpPr>
            <a:spLocks noGrp="1"/>
          </p:cNvSpPr>
          <p:nvPr>
            <p:ph type="body" sz="half" idx="2"/>
          </p:nvPr>
        </p:nvSpPr>
        <p:spPr>
          <a:xfrm>
            <a:off x="463550" y="260617"/>
            <a:ext cx="3600000" cy="373115"/>
          </a:xfrm>
        </p:spPr>
        <p:txBody>
          <a:bodyPr/>
          <a:lstStyle/>
          <a:p>
            <a:r>
              <a:rPr kumimoji="1" lang="ja-JP" altLang="en-US" sz="1800" dirty="0">
                <a:latin typeface="Yu Gothic UI" panose="020B0500000000000000" pitchFamily="50" charset="-128"/>
                <a:ea typeface="Yu Gothic UI" panose="020B0500000000000000" pitchFamily="50" charset="-128"/>
              </a:rPr>
              <a:t>２．お客さまの動向分析</a:t>
            </a:r>
          </a:p>
        </p:txBody>
      </p:sp>
      <p:sp>
        <p:nvSpPr>
          <p:cNvPr id="53" name="テキスト ボックス 52">
            <a:extLst>
              <a:ext uri="{FF2B5EF4-FFF2-40B4-BE49-F238E27FC236}">
                <a16:creationId xmlns:a16="http://schemas.microsoft.com/office/drawing/2014/main" id="{B623BE69-3690-AF50-EA10-CAEABBFD58BE}"/>
              </a:ext>
            </a:extLst>
          </p:cNvPr>
          <p:cNvSpPr txBox="1"/>
          <p:nvPr/>
        </p:nvSpPr>
        <p:spPr>
          <a:xfrm>
            <a:off x="552103" y="862742"/>
            <a:ext cx="8034261" cy="830997"/>
          </a:xfrm>
          <a:prstGeom prst="rect">
            <a:avLst/>
          </a:prstGeom>
          <a:noFill/>
          <a:ln>
            <a:solidFill>
              <a:schemeClr val="tx1"/>
            </a:solidFill>
          </a:ln>
        </p:spPr>
        <p:txBody>
          <a:bodyPr wrap="square" rtlCol="0">
            <a:spAutoFit/>
          </a:bodyPr>
          <a:lstStyle/>
          <a:p>
            <a:pPr defTabSz="914400" fontAlgn="base">
              <a:spcBef>
                <a:spcPct val="0"/>
              </a:spcBef>
              <a:spcAft>
                <a:spcPct val="0"/>
              </a:spcAft>
              <a:defRPr/>
            </a:pPr>
            <a:r>
              <a:rPr kumimoji="1" lang="ja-JP" altLang="en-US" sz="1600" dirty="0"/>
              <a:t>東京電力</a:t>
            </a:r>
            <a:r>
              <a:rPr kumimoji="1" lang="en-US" altLang="ja-JP" sz="1600" dirty="0"/>
              <a:t>HD</a:t>
            </a:r>
            <a:r>
              <a:rPr kumimoji="1" lang="ja-JP" altLang="en-US" sz="1600" dirty="0">
                <a:latin typeface="Meiryo UI" panose="020B0604030504040204" pitchFamily="50" charset="-128"/>
                <a:ea typeface="Meiryo UI" panose="020B0604030504040204" pitchFamily="50" charset="-128"/>
              </a:rPr>
              <a:t>は基幹インフラ企業であることから政治（原子力政策・規制）、経済（燃料価格・自由化）、社会（信頼性）、技術（再エネ</a:t>
            </a:r>
            <a:r>
              <a:rPr kumimoji="1" lang="en-US" altLang="ja-JP" sz="1600" dirty="0">
                <a:latin typeface="Meiryo UI" panose="020B0604030504040204" pitchFamily="50" charset="-128"/>
                <a:ea typeface="Meiryo UI" panose="020B0604030504040204" pitchFamily="50" charset="-128"/>
              </a:rPr>
              <a:t>/</a:t>
            </a:r>
            <a:r>
              <a:rPr kumimoji="1" lang="ja-JP" altLang="en-US" sz="1600" dirty="0">
                <a:latin typeface="Meiryo UI" panose="020B0604030504040204" pitchFamily="50" charset="-128"/>
                <a:ea typeface="Meiryo UI" panose="020B0604030504040204" pitchFamily="50" charset="-128"/>
              </a:rPr>
              <a:t>セキュリティ）という全ての外部要因から強い影響を受けていることが見えた。</a:t>
            </a:r>
            <a:endParaRPr kumimoji="1" lang="en-US" altLang="ja-JP" sz="1600" dirty="0">
              <a:latin typeface="Meiryo UI" panose="020B0604030504040204" pitchFamily="50" charset="-128"/>
              <a:ea typeface="Meiryo UI" panose="020B0604030504040204" pitchFamily="50" charset="-128"/>
            </a:endParaRPr>
          </a:p>
        </p:txBody>
      </p:sp>
      <p:sp>
        <p:nvSpPr>
          <p:cNvPr id="43" name="スライド番号プレースホルダー 3">
            <a:extLst>
              <a:ext uri="{FF2B5EF4-FFF2-40B4-BE49-F238E27FC236}">
                <a16:creationId xmlns:a16="http://schemas.microsoft.com/office/drawing/2014/main" id="{A2FB2864-CE56-B795-6760-1D4455F465FB}"/>
              </a:ext>
            </a:extLst>
          </p:cNvPr>
          <p:cNvSpPr>
            <a:spLocks noGrp="1"/>
          </p:cNvSpPr>
          <p:nvPr>
            <p:ph type="sldNum" sz="quarter" idx="12"/>
          </p:nvPr>
        </p:nvSpPr>
        <p:spPr>
          <a:xfrm>
            <a:off x="463550" y="6354000"/>
            <a:ext cx="346450" cy="144000"/>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mj-lt"/>
                <a:ea typeface="Yu Gothic UI" panose="020B0500000000000000" pitchFamily="50" charset="-128"/>
              </a:rPr>
              <a:pPr marL="0" marR="0" lvl="0" indent="0" algn="l" defTabSz="457200" rtl="0" eaLnBrk="1" fontAlgn="auto" latinLnBrk="0" hangingPunct="1">
                <a:lnSpc>
                  <a:spcPct val="100000"/>
                </a:lnSpc>
                <a:spcBef>
                  <a:spcPts val="0"/>
                </a:spcBef>
                <a:spcAft>
                  <a:spcPts val="0"/>
                </a:spcAft>
                <a:buClrTx/>
                <a:buSzTx/>
                <a:buFontTx/>
                <a:buNone/>
                <a:tabLst/>
                <a:defRPr/>
              </a:pPr>
              <a:t>4</a:t>
            </a:fld>
            <a:endParaRPr kumimoji="0" lang="en-GB" sz="800" b="1" i="0" u="none" strike="noStrike" kern="1200" cap="none" spc="0" normalizeH="0" baseline="0" noProof="0" dirty="0">
              <a:ln>
                <a:noFill/>
              </a:ln>
              <a:solidFill>
                <a:prstClr val="black"/>
              </a:solidFill>
              <a:effectLst/>
              <a:uLnTx/>
              <a:uFillTx/>
              <a:latin typeface="+mj-lt"/>
              <a:ea typeface="Yu Gothic UI" panose="020B0500000000000000" pitchFamily="50" charset="-128"/>
            </a:endParaRPr>
          </a:p>
        </p:txBody>
      </p:sp>
      <p:sp>
        <p:nvSpPr>
          <p:cNvPr id="2" name="テキスト ボックス 1">
            <a:extLst>
              <a:ext uri="{FF2B5EF4-FFF2-40B4-BE49-F238E27FC236}">
                <a16:creationId xmlns:a16="http://schemas.microsoft.com/office/drawing/2014/main" id="{D0525207-3ECC-E48B-F1EC-E11A23BC30D8}"/>
              </a:ext>
            </a:extLst>
          </p:cNvPr>
          <p:cNvSpPr txBox="1"/>
          <p:nvPr/>
        </p:nvSpPr>
        <p:spPr>
          <a:xfrm>
            <a:off x="546591" y="4269424"/>
            <a:ext cx="8037018" cy="830997"/>
          </a:xfrm>
          <a:prstGeom prst="rect">
            <a:avLst/>
          </a:prstGeom>
          <a:noFill/>
          <a:ln>
            <a:solidFill>
              <a:schemeClr val="tx1"/>
            </a:solidFill>
          </a:ln>
        </p:spPr>
        <p:txBody>
          <a:bodyPr wrap="square" rtlCol="0">
            <a:spAutoFit/>
          </a:bodyPr>
          <a:lstStyle/>
          <a:p>
            <a:pPr defTabSz="914400" fontAlgn="base">
              <a:spcBef>
                <a:spcPct val="0"/>
              </a:spcBef>
              <a:spcAft>
                <a:spcPct val="0"/>
              </a:spcAft>
              <a:defRPr/>
            </a:pPr>
            <a:r>
              <a:rPr kumimoji="1" lang="ja-JP" altLang="en-US" sz="1600" dirty="0">
                <a:latin typeface="Meiryo UI" panose="020B0604030504040204" pitchFamily="50" charset="-128"/>
                <a:ea typeface="Meiryo UI" panose="020B0604030504040204" pitchFamily="50" charset="-128"/>
              </a:rPr>
              <a:t>・キャッシュフローが見直されており東電</a:t>
            </a:r>
            <a:r>
              <a:rPr kumimoji="1" lang="en-US" altLang="ja-JP" sz="1600" dirty="0">
                <a:latin typeface="Meiryo UI" panose="020B0604030504040204" pitchFamily="50" charset="-128"/>
                <a:ea typeface="Meiryo UI" panose="020B0604030504040204" pitchFamily="50" charset="-128"/>
              </a:rPr>
              <a:t>HD</a:t>
            </a:r>
            <a:r>
              <a:rPr kumimoji="1" lang="ja-JP" altLang="en-US" sz="1600" dirty="0">
                <a:latin typeface="Meiryo UI" panose="020B0604030504040204" pitchFamily="50" charset="-128"/>
                <a:ea typeface="Meiryo UI" panose="020B0604030504040204" pitchFamily="50" charset="-128"/>
              </a:rPr>
              <a:t>内の特定顧客だけでは、</a:t>
            </a:r>
            <a:r>
              <a:rPr kumimoji="1" lang="ja-JP" altLang="en-US" sz="1600" b="1" u="sng" dirty="0">
                <a:latin typeface="Meiryo UI" panose="020B0604030504040204" pitchFamily="50" charset="-128"/>
                <a:ea typeface="Meiryo UI" panose="020B0604030504040204" pitchFamily="50" charset="-128"/>
              </a:rPr>
              <a:t>売り上げ拡大は困難</a:t>
            </a:r>
            <a:endParaRPr kumimoji="1" lang="en-US" altLang="ja-JP" sz="1600" b="1" u="sng" dirty="0">
              <a:latin typeface="Meiryo UI" panose="020B0604030504040204" pitchFamily="50" charset="-128"/>
              <a:ea typeface="Meiryo UI" panose="020B0604030504040204" pitchFamily="50" charset="-128"/>
            </a:endParaRPr>
          </a:p>
          <a:p>
            <a:pPr defTabSz="914400" fontAlgn="base">
              <a:spcBef>
                <a:spcPct val="0"/>
              </a:spcBef>
              <a:spcAft>
                <a:spcPct val="0"/>
              </a:spcAft>
              <a:defRPr/>
            </a:pPr>
            <a:r>
              <a:rPr kumimoji="1" lang="ja-JP" altLang="en-US" sz="1600" dirty="0"/>
              <a:t>・原子力の再稼働は</a:t>
            </a:r>
            <a:r>
              <a:rPr kumimoji="1" lang="en-US" altLang="ja-JP" sz="1600" dirty="0"/>
              <a:t>1</a:t>
            </a:r>
            <a:r>
              <a:rPr kumimoji="1" lang="ja-JP" altLang="en-US" sz="1600" dirty="0"/>
              <a:t>基で年間</a:t>
            </a:r>
            <a:r>
              <a:rPr kumimoji="1" lang="en-US" altLang="ja-JP" sz="1600" dirty="0"/>
              <a:t>1,000</a:t>
            </a:r>
            <a:r>
              <a:rPr kumimoji="1" lang="ja-JP" altLang="en-US" sz="1600" dirty="0"/>
              <a:t>億円規模の改善効果があるといわれており、</a:t>
            </a:r>
            <a:r>
              <a:rPr kumimoji="1" lang="ja-JP" altLang="en-US" sz="1600" dirty="0">
                <a:latin typeface="Meiryo UI" panose="020B0604030504040204" pitchFamily="50" charset="-128"/>
                <a:ea typeface="Meiryo UI" panose="020B0604030504040204" pitchFamily="50" charset="-128"/>
              </a:rPr>
              <a:t>キャッシュフロー見直しの影響を受けにくい</a:t>
            </a:r>
            <a:endParaRPr kumimoji="1" lang="en-US" altLang="ja-JP" sz="1600" dirty="0"/>
          </a:p>
        </p:txBody>
      </p:sp>
      <p:graphicFrame>
        <p:nvGraphicFramePr>
          <p:cNvPr id="6" name="表 5">
            <a:extLst>
              <a:ext uri="{FF2B5EF4-FFF2-40B4-BE49-F238E27FC236}">
                <a16:creationId xmlns:a16="http://schemas.microsoft.com/office/drawing/2014/main" id="{BA8BBAC9-5A8E-6343-AA81-9D2FCBA3B5F9}"/>
              </a:ext>
            </a:extLst>
          </p:cNvPr>
          <p:cNvGraphicFramePr>
            <a:graphicFrameLocks noGrp="1"/>
          </p:cNvGraphicFramePr>
          <p:nvPr>
            <p:extLst>
              <p:ext uri="{D42A27DB-BD31-4B8C-83A1-F6EECF244321}">
                <p14:modId xmlns:p14="http://schemas.microsoft.com/office/powerpoint/2010/main" val="2601129213"/>
              </p:ext>
            </p:extLst>
          </p:nvPr>
        </p:nvGraphicFramePr>
        <p:xfrm>
          <a:off x="549346" y="1894185"/>
          <a:ext cx="8037018" cy="1867432"/>
        </p:xfrm>
        <a:graphic>
          <a:graphicData uri="http://schemas.openxmlformats.org/drawingml/2006/table">
            <a:tbl>
              <a:tblPr firstRow="1" bandRow="1">
                <a:tableStyleId>{073A0DAA-6AF3-43AB-8588-CEC1D06C72B9}</a:tableStyleId>
              </a:tblPr>
              <a:tblGrid>
                <a:gridCol w="1490980">
                  <a:extLst>
                    <a:ext uri="{9D8B030D-6E8A-4147-A177-3AD203B41FA5}">
                      <a16:colId xmlns:a16="http://schemas.microsoft.com/office/drawing/2014/main" val="3017635136"/>
                    </a:ext>
                  </a:extLst>
                </a:gridCol>
                <a:gridCol w="6546038">
                  <a:extLst>
                    <a:ext uri="{9D8B030D-6E8A-4147-A177-3AD203B41FA5}">
                      <a16:colId xmlns:a16="http://schemas.microsoft.com/office/drawing/2014/main" val="3350099921"/>
                    </a:ext>
                  </a:extLst>
                </a:gridCol>
              </a:tblGrid>
              <a:tr h="40016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1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PEST</a:t>
                      </a:r>
                      <a:r>
                        <a:rPr kumimoji="0" lang="ja-JP" altLang="en-US" sz="1800" b="1" i="0" u="none" strike="noStrike" kern="120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分析</a:t>
                      </a:r>
                    </a:p>
                  </a:txBody>
                  <a:tcPr>
                    <a:solidFill>
                      <a:srgbClr val="0070C0"/>
                    </a:solidFill>
                  </a:tcPr>
                </a:tc>
                <a:tc hMerge="1">
                  <a:txBody>
                    <a:bodyPr/>
                    <a:lstStyle/>
                    <a:p>
                      <a:endParaRPr kumimoji="1" lang="ja-JP" altLang="en-US"/>
                    </a:p>
                  </a:txBody>
                  <a:tcPr/>
                </a:tc>
                <a:extLst>
                  <a:ext uri="{0D108BD9-81ED-4DB2-BD59-A6C34878D82A}">
                    <a16:rowId xmlns:a16="http://schemas.microsoft.com/office/drawing/2014/main" val="2618488754"/>
                  </a:ext>
                </a:extLst>
              </a:tr>
              <a:tr h="366817">
                <a:tc>
                  <a:txBody>
                    <a:bodyPr/>
                    <a:lstStyle/>
                    <a:p>
                      <a:r>
                        <a:rPr kumimoji="1" lang="ja-JP" altLang="en-US" sz="1600" dirty="0"/>
                        <a:t>政治 </a:t>
                      </a:r>
                      <a:r>
                        <a:rPr kumimoji="1" lang="en-US" altLang="ja-JP" sz="1400" dirty="0"/>
                        <a:t>P</a:t>
                      </a:r>
                      <a:r>
                        <a:rPr kumimoji="1" lang="en-US" altLang="ja-JP" sz="1100" dirty="0"/>
                        <a:t>olitics</a:t>
                      </a:r>
                      <a:endParaRPr kumimoji="1" lang="en-US" altLang="ja-JP" sz="1600" dirty="0"/>
                    </a:p>
                  </a:txBody>
                  <a:tcPr/>
                </a:tc>
                <a:tc>
                  <a:txBody>
                    <a:bodyPr/>
                    <a:lstStyle/>
                    <a:p>
                      <a:r>
                        <a:rPr lang="zh-TW" altLang="en-US" sz="1600" b="0" dirty="0">
                          <a:solidFill>
                            <a:schemeClr val="tx1"/>
                          </a:solidFill>
                          <a:latin typeface="Meiryo UI" panose="020B0604030504040204" pitchFamily="50" charset="-128"/>
                          <a:ea typeface="Meiryo UI" panose="020B0604030504040204" pitchFamily="50" charset="-128"/>
                        </a:rPr>
                        <a:t>電力制度改革</a:t>
                      </a:r>
                      <a:r>
                        <a:rPr lang="ja-JP" altLang="en-US" sz="1600" b="0" dirty="0">
                          <a:solidFill>
                            <a:schemeClr val="tx1"/>
                          </a:solidFill>
                          <a:latin typeface="Meiryo UI" panose="020B0604030504040204" pitchFamily="50" charset="-128"/>
                          <a:ea typeface="Meiryo UI" panose="020B0604030504040204" pitchFamily="50" charset="-128"/>
                        </a:rPr>
                        <a:t>、</a:t>
                      </a:r>
                      <a:r>
                        <a:rPr lang="ja-JP" altLang="en-US" sz="1600" b="0" dirty="0">
                          <a:solidFill>
                            <a:srgbClr val="FF0000"/>
                          </a:solidFill>
                          <a:latin typeface="Meiryo UI" panose="020B0604030504040204" pitchFamily="50" charset="-128"/>
                          <a:ea typeface="Meiryo UI" panose="020B0604030504040204" pitchFamily="50" charset="-128"/>
                        </a:rPr>
                        <a:t>原子力政策</a:t>
                      </a:r>
                      <a:r>
                        <a:rPr lang="ja-JP" altLang="en-US" sz="1600" b="0" dirty="0">
                          <a:solidFill>
                            <a:schemeClr val="tx1"/>
                          </a:solidFill>
                          <a:latin typeface="Meiryo UI" panose="020B0604030504040204" pitchFamily="50" charset="-128"/>
                          <a:ea typeface="Meiryo UI" panose="020B0604030504040204" pitchFamily="50" charset="-128"/>
                        </a:rPr>
                        <a:t>、価格規制</a:t>
                      </a:r>
                      <a:endParaRPr kumimoji="1" lang="ja-JP" altLang="en-US" sz="1600" b="0" dirty="0">
                        <a:solidFill>
                          <a:schemeClr val="tx1"/>
                        </a:solidFill>
                      </a:endParaRPr>
                    </a:p>
                  </a:txBody>
                  <a:tcPr/>
                </a:tc>
                <a:extLst>
                  <a:ext uri="{0D108BD9-81ED-4DB2-BD59-A6C34878D82A}">
                    <a16:rowId xmlns:a16="http://schemas.microsoft.com/office/drawing/2014/main" val="655415500"/>
                  </a:ext>
                </a:extLst>
              </a:tr>
              <a:tr h="366817">
                <a:tc>
                  <a:txBody>
                    <a:bodyPr/>
                    <a:lstStyle/>
                    <a:p>
                      <a:r>
                        <a:rPr kumimoji="1" lang="ja-JP" altLang="en-US" sz="1600" dirty="0"/>
                        <a:t>経済 </a:t>
                      </a:r>
                      <a:r>
                        <a:rPr kumimoji="1" lang="en-US" altLang="ja-JP" sz="1600" dirty="0"/>
                        <a:t>E</a:t>
                      </a:r>
                      <a:r>
                        <a:rPr kumimoji="1" lang="en-US" altLang="ja-JP" sz="1200" dirty="0"/>
                        <a:t>conomy</a:t>
                      </a:r>
                      <a:endParaRPr kumimoji="1" lang="en-US" altLang="ja-JP"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solidFill>
                            <a:srgbClr val="FF0000"/>
                          </a:solidFill>
                          <a:latin typeface="Meiryo UI" panose="020B0604030504040204" pitchFamily="50" charset="-128"/>
                          <a:ea typeface="Meiryo UI" panose="020B0604030504040204" pitchFamily="50" charset="-128"/>
                        </a:rPr>
                        <a:t>燃料価格の高騰</a:t>
                      </a:r>
                      <a:r>
                        <a:rPr kumimoji="1" lang="ja-JP" altLang="en-US" sz="1600" b="0" dirty="0">
                          <a:solidFill>
                            <a:schemeClr val="tx1"/>
                          </a:solidFill>
                          <a:latin typeface="Meiryo UI" panose="020B0604030504040204" pitchFamily="50" charset="-128"/>
                          <a:ea typeface="Meiryo UI" panose="020B0604030504040204" pitchFamily="50" charset="-128"/>
                        </a:rPr>
                        <a:t>、電力自由化、キャッシュフロー見直し</a:t>
                      </a:r>
                    </a:p>
                  </a:txBody>
                  <a:tcPr/>
                </a:tc>
                <a:extLst>
                  <a:ext uri="{0D108BD9-81ED-4DB2-BD59-A6C34878D82A}">
                    <a16:rowId xmlns:a16="http://schemas.microsoft.com/office/drawing/2014/main" val="853948690"/>
                  </a:ext>
                </a:extLst>
              </a:tr>
              <a:tr h="366817">
                <a:tc>
                  <a:txBody>
                    <a:bodyPr/>
                    <a:lstStyle/>
                    <a:p>
                      <a:r>
                        <a:rPr kumimoji="1" lang="ja-JP" altLang="en-US" sz="1600" dirty="0"/>
                        <a:t>社会 </a:t>
                      </a:r>
                      <a:r>
                        <a:rPr kumimoji="1" lang="en-US" altLang="ja-JP" sz="1600" dirty="0"/>
                        <a:t>S</a:t>
                      </a:r>
                      <a:r>
                        <a:rPr kumimoji="1" lang="en-US" altLang="ja-JP" sz="1200" dirty="0"/>
                        <a:t>ociety</a:t>
                      </a:r>
                      <a:endParaRPr kumimoji="1" lang="en-US" altLang="ja-JP" sz="1600" dirty="0"/>
                    </a:p>
                  </a:txBody>
                  <a:tcPr/>
                </a:tc>
                <a:tc>
                  <a:txBody>
                    <a:bodyPr/>
                    <a:lstStyle/>
                    <a:p>
                      <a:r>
                        <a:rPr kumimoji="1" lang="ja-JP" altLang="en-US" sz="1600" b="0" dirty="0">
                          <a:solidFill>
                            <a:schemeClr val="tx1"/>
                          </a:solidFill>
                        </a:rPr>
                        <a:t>企業の信頼、エネルギーの安全・安定供給、</a:t>
                      </a:r>
                      <a:r>
                        <a:rPr kumimoji="1" lang="ja-JP" altLang="en-US" sz="1600" b="0" dirty="0">
                          <a:solidFill>
                            <a:srgbClr val="FF0000"/>
                          </a:solidFill>
                        </a:rPr>
                        <a:t>原子力に対する社会的懸念・風評</a:t>
                      </a:r>
                    </a:p>
                  </a:txBody>
                  <a:tcPr/>
                </a:tc>
                <a:extLst>
                  <a:ext uri="{0D108BD9-81ED-4DB2-BD59-A6C34878D82A}">
                    <a16:rowId xmlns:a16="http://schemas.microsoft.com/office/drawing/2014/main" val="2617136455"/>
                  </a:ext>
                </a:extLst>
              </a:tr>
              <a:tr h="366817">
                <a:tc>
                  <a:txBody>
                    <a:bodyPr/>
                    <a:lstStyle/>
                    <a:p>
                      <a:r>
                        <a:rPr kumimoji="1" lang="ja-JP" altLang="en-US" sz="1600" dirty="0"/>
                        <a:t>技術 </a:t>
                      </a:r>
                      <a:r>
                        <a:rPr kumimoji="1" lang="en-US" altLang="ja-JP" sz="1600" dirty="0"/>
                        <a:t>T</a:t>
                      </a:r>
                      <a:r>
                        <a:rPr kumimoji="1" lang="en-US" altLang="ja-JP" sz="1200" dirty="0"/>
                        <a:t>echnology</a:t>
                      </a:r>
                      <a:endParaRPr kumimoji="1" lang="en-US" altLang="ja-JP"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dirty="0">
                          <a:solidFill>
                            <a:schemeClr val="tx1"/>
                          </a:solidFill>
                          <a:latin typeface="Meiryo UI" panose="020B0604030504040204" pitchFamily="50" charset="-128"/>
                          <a:ea typeface="Meiryo UI" panose="020B0604030504040204" pitchFamily="50" charset="-128"/>
                        </a:rPr>
                        <a:t>運用高度化、</a:t>
                      </a:r>
                      <a:r>
                        <a:rPr kumimoji="1" lang="ja-JP" altLang="en-US" sz="1600" b="0" dirty="0">
                          <a:solidFill>
                            <a:srgbClr val="FF0000"/>
                          </a:solidFill>
                          <a:latin typeface="Meiryo UI" panose="020B0604030504040204" pitchFamily="50" charset="-128"/>
                          <a:ea typeface="Meiryo UI" panose="020B0604030504040204" pitchFamily="50" charset="-128"/>
                        </a:rPr>
                        <a:t>サイバーセキュリティ強化</a:t>
                      </a:r>
                      <a:r>
                        <a:rPr kumimoji="1" lang="ja-JP" altLang="en-US" sz="1600" b="0" dirty="0">
                          <a:solidFill>
                            <a:schemeClr val="tx1"/>
                          </a:solidFill>
                          <a:latin typeface="Meiryo UI" panose="020B0604030504040204" pitchFamily="50" charset="-128"/>
                          <a:ea typeface="Meiryo UI" panose="020B0604030504040204" pitchFamily="50" charset="-128"/>
                        </a:rPr>
                        <a:t>、再生可能エネルギー技術、次期</a:t>
                      </a:r>
                      <a:r>
                        <a:rPr kumimoji="1" lang="en-US" altLang="ja-JP" sz="1600" b="0" dirty="0">
                          <a:solidFill>
                            <a:schemeClr val="tx1"/>
                          </a:solidFill>
                          <a:latin typeface="Meiryo UI" panose="020B0604030504040204" pitchFamily="50" charset="-128"/>
                          <a:ea typeface="Meiryo UI" panose="020B0604030504040204" pitchFamily="50" charset="-128"/>
                        </a:rPr>
                        <a:t>DC</a:t>
                      </a:r>
                      <a:endParaRPr kumimoji="1" lang="ja-JP" altLang="en-US" sz="1600" b="0" dirty="0">
                        <a:solidFill>
                          <a:srgbClr val="FF0000"/>
                        </a:solidFill>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960366207"/>
                  </a:ext>
                </a:extLst>
              </a:tr>
            </a:tbl>
          </a:graphicData>
        </a:graphic>
      </p:graphicFrame>
      <p:sp>
        <p:nvSpPr>
          <p:cNvPr id="9" name="テキスト ボックス 8">
            <a:extLst>
              <a:ext uri="{FF2B5EF4-FFF2-40B4-BE49-F238E27FC236}">
                <a16:creationId xmlns:a16="http://schemas.microsoft.com/office/drawing/2014/main" id="{ED33BFBC-5FC4-9410-9646-FF8A9E1F6424}"/>
              </a:ext>
            </a:extLst>
          </p:cNvPr>
          <p:cNvSpPr txBox="1"/>
          <p:nvPr/>
        </p:nvSpPr>
        <p:spPr>
          <a:xfrm>
            <a:off x="546591" y="5568778"/>
            <a:ext cx="8037017" cy="338554"/>
          </a:xfrm>
          <a:prstGeom prst="rect">
            <a:avLst/>
          </a:prstGeom>
          <a:noFill/>
          <a:ln>
            <a:solidFill>
              <a:schemeClr val="tx1"/>
            </a:solidFill>
          </a:ln>
        </p:spPr>
        <p:txBody>
          <a:bodyPr wrap="square" rtlCol="0">
            <a:spAutoFit/>
          </a:bodyPr>
          <a:lstStyle/>
          <a:p>
            <a:pPr algn="ctr" defTabSz="914400" fontAlgn="base">
              <a:spcBef>
                <a:spcPct val="0"/>
              </a:spcBef>
              <a:spcAft>
                <a:spcPct val="0"/>
              </a:spcAft>
              <a:defRPr/>
            </a:pPr>
            <a:r>
              <a:rPr kumimoji="1" lang="ja-JP" altLang="en-US" sz="1600" b="1" u="sng" dirty="0">
                <a:latin typeface="+mj-lt"/>
                <a:ea typeface="+mj-ea"/>
              </a:rPr>
              <a:t>新規顧客を増やし販路を広げていくことが重要</a:t>
            </a:r>
            <a:endParaRPr kumimoji="1" lang="en-US" altLang="ja-JP" sz="1600" b="1" u="sng" dirty="0">
              <a:latin typeface="+mj-lt"/>
              <a:ea typeface="+mj-ea"/>
            </a:endParaRPr>
          </a:p>
        </p:txBody>
      </p:sp>
      <p:sp>
        <p:nvSpPr>
          <p:cNvPr id="10" name="矢印: 上 9">
            <a:extLst>
              <a:ext uri="{FF2B5EF4-FFF2-40B4-BE49-F238E27FC236}">
                <a16:creationId xmlns:a16="http://schemas.microsoft.com/office/drawing/2014/main" id="{13C5B40A-7B99-FC3E-843D-C3431DD126B4}"/>
              </a:ext>
            </a:extLst>
          </p:cNvPr>
          <p:cNvSpPr/>
          <p:nvPr/>
        </p:nvSpPr>
        <p:spPr>
          <a:xfrm rot="10800000">
            <a:off x="3183467" y="5222915"/>
            <a:ext cx="2777066" cy="269308"/>
          </a:xfrm>
          <a:prstGeom prst="upArrow">
            <a:avLst>
              <a:gd name="adj1" fmla="val 50000"/>
              <a:gd name="adj2" fmla="val 71956"/>
            </a:avLst>
          </a:prstGeom>
          <a:gradFill flip="none" rotWithShape="1">
            <a:gsLst>
              <a:gs pos="0">
                <a:srgbClr val="CCECFF"/>
              </a:gs>
              <a:gs pos="74000">
                <a:srgbClr val="00B0F0"/>
              </a:gs>
              <a:gs pos="100000">
                <a:srgbClr val="00B0F0"/>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上 10">
            <a:extLst>
              <a:ext uri="{FF2B5EF4-FFF2-40B4-BE49-F238E27FC236}">
                <a16:creationId xmlns:a16="http://schemas.microsoft.com/office/drawing/2014/main" id="{BE6F0737-313D-E4EB-89B2-7CDB98C3087A}"/>
              </a:ext>
            </a:extLst>
          </p:cNvPr>
          <p:cNvSpPr/>
          <p:nvPr/>
        </p:nvSpPr>
        <p:spPr>
          <a:xfrm rot="10800000">
            <a:off x="3176567" y="3897188"/>
            <a:ext cx="2777066" cy="269308"/>
          </a:xfrm>
          <a:prstGeom prst="upArrow">
            <a:avLst>
              <a:gd name="adj1" fmla="val 50000"/>
              <a:gd name="adj2" fmla="val 71956"/>
            </a:avLst>
          </a:prstGeom>
          <a:gradFill flip="none" rotWithShape="1">
            <a:gsLst>
              <a:gs pos="0">
                <a:srgbClr val="CCECFF"/>
              </a:gs>
              <a:gs pos="74000">
                <a:srgbClr val="00B0F0"/>
              </a:gs>
              <a:gs pos="100000">
                <a:srgbClr val="00B0F0"/>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95032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D85FD-590D-4895-A6ED-53DC121BF70F}"/>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B36AA1A-E449-E91D-24C7-6BBBCD871069}"/>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mj-lt"/>
                <a:ea typeface="Yu Gothic UI" panose="020B0500000000000000" pitchFamily="50" charset="-128"/>
              </a:rPr>
              <a:pPr marL="0" marR="0" lvl="0" indent="0" algn="l" defTabSz="457200" rtl="0" eaLnBrk="1" fontAlgn="auto" latinLnBrk="0" hangingPunct="1">
                <a:lnSpc>
                  <a:spcPct val="100000"/>
                </a:lnSpc>
                <a:spcBef>
                  <a:spcPts val="0"/>
                </a:spcBef>
                <a:spcAft>
                  <a:spcPts val="0"/>
                </a:spcAft>
                <a:buClrTx/>
                <a:buSzTx/>
                <a:buFontTx/>
                <a:buNone/>
                <a:tabLst/>
                <a:defRPr/>
              </a:pPr>
              <a:t>5</a:t>
            </a:fld>
            <a:endParaRPr kumimoji="0" lang="en-GB" sz="800" b="1" i="0" u="none" strike="noStrike" kern="1200" cap="none" spc="0" normalizeH="0" baseline="0" noProof="0" dirty="0">
              <a:ln>
                <a:noFill/>
              </a:ln>
              <a:solidFill>
                <a:prstClr val="black"/>
              </a:solidFill>
              <a:effectLst/>
              <a:uLnTx/>
              <a:uFillTx/>
              <a:latin typeface="+mj-lt"/>
              <a:ea typeface="Yu Gothic UI" panose="020B0500000000000000" pitchFamily="50" charset="-128"/>
            </a:endParaRPr>
          </a:p>
        </p:txBody>
      </p:sp>
      <p:sp>
        <p:nvSpPr>
          <p:cNvPr id="15" name="テキスト ボックス 14">
            <a:extLst>
              <a:ext uri="{FF2B5EF4-FFF2-40B4-BE49-F238E27FC236}">
                <a16:creationId xmlns:a16="http://schemas.microsoft.com/office/drawing/2014/main" id="{D3F5FD4E-3855-94B6-B176-19B0F44468EA}"/>
              </a:ext>
            </a:extLst>
          </p:cNvPr>
          <p:cNvSpPr txBox="1"/>
          <p:nvPr/>
        </p:nvSpPr>
        <p:spPr>
          <a:xfrm>
            <a:off x="552103" y="862742"/>
            <a:ext cx="8034261" cy="830997"/>
          </a:xfrm>
          <a:prstGeom prst="rect">
            <a:avLst/>
          </a:prstGeom>
          <a:noFill/>
          <a:ln>
            <a:solidFill>
              <a:schemeClr val="tx1"/>
            </a:solidFill>
          </a:ln>
        </p:spPr>
        <p:txBody>
          <a:bodyPr wrap="square" rtlCol="0">
            <a:spAutoFit/>
          </a:bodyPr>
          <a:lstStyle/>
          <a:p>
            <a:pPr lvl="0" defTabSz="914400" fontAlgn="base">
              <a:spcBef>
                <a:spcPct val="0"/>
              </a:spcBef>
              <a:spcAft>
                <a:spcPct val="0"/>
              </a:spcAft>
              <a:defRPr/>
            </a:pPr>
            <a:r>
              <a:rPr kumimoji="1" lang="ja-JP" altLang="en-US" sz="1600" dirty="0">
                <a:latin typeface="+mj-lt"/>
                <a:ea typeface="+mj-ea"/>
              </a:rPr>
              <a:t>２０２２年度からＫＫ原子力発電所の案件を受託して</a:t>
            </a:r>
            <a:r>
              <a:rPr kumimoji="1" lang="ja-JP" altLang="en-US" sz="1600" b="1" u="sng" dirty="0">
                <a:latin typeface="+mj-lt"/>
                <a:ea typeface="+mj-ea"/>
              </a:rPr>
              <a:t>「ログ保管・分析システム」を導入</a:t>
            </a:r>
            <a:r>
              <a:rPr kumimoji="1" lang="ja-JP" altLang="en-US" sz="1600" dirty="0">
                <a:latin typeface="+mj-lt"/>
                <a:ea typeface="+mj-ea"/>
              </a:rPr>
              <a:t>、</a:t>
            </a:r>
            <a:endParaRPr kumimoji="1" lang="en-US" altLang="ja-JP" sz="1600" dirty="0">
              <a:latin typeface="+mj-lt"/>
              <a:ea typeface="+mj-ea"/>
            </a:endParaRPr>
          </a:p>
          <a:p>
            <a:pPr lvl="0" defTabSz="914400" fontAlgn="base">
              <a:spcBef>
                <a:spcPct val="0"/>
              </a:spcBef>
              <a:spcAft>
                <a:spcPct val="0"/>
              </a:spcAft>
              <a:defRPr/>
            </a:pPr>
            <a:r>
              <a:rPr kumimoji="1" lang="ja-JP" altLang="en-US" sz="1600" dirty="0">
                <a:latin typeface="+mj-lt"/>
                <a:ea typeface="+mj-ea"/>
              </a:rPr>
              <a:t>これは原発再稼働に向けた法令対応によるもので</a:t>
            </a:r>
            <a:r>
              <a:rPr kumimoji="1" lang="ja-JP" altLang="en-US" sz="1600" b="1" u="sng" dirty="0">
                <a:latin typeface="+mj-lt"/>
                <a:ea typeface="+mj-ea"/>
              </a:rPr>
              <a:t>再稼働に大きく貢献</a:t>
            </a:r>
            <a:r>
              <a:rPr kumimoji="1" lang="ja-JP" altLang="en-US" sz="1600" dirty="0">
                <a:latin typeface="+mj-lt"/>
                <a:ea typeface="+mj-ea"/>
              </a:rPr>
              <a:t>している。</a:t>
            </a:r>
            <a:endParaRPr kumimoji="1" lang="en-US" altLang="ja-JP" sz="1600" dirty="0">
              <a:latin typeface="+mj-lt"/>
              <a:ea typeface="+mj-ea"/>
            </a:endParaRPr>
          </a:p>
          <a:p>
            <a:pPr lvl="0" defTabSz="914400" fontAlgn="base">
              <a:spcBef>
                <a:spcPct val="0"/>
              </a:spcBef>
              <a:spcAft>
                <a:spcPct val="0"/>
              </a:spcAft>
              <a:defRPr/>
            </a:pPr>
            <a:r>
              <a:rPr kumimoji="1" lang="ja-JP" altLang="en-US" sz="1600" dirty="0"/>
              <a:t>２０２５年からは安定した売上が確保できている。</a:t>
            </a:r>
            <a:endParaRPr kumimoji="1" lang="ja-JP" altLang="en-US" sz="1600" i="0" u="none" strike="noStrike" kern="1200" cap="none" spc="0" normalizeH="0" baseline="0" noProof="0" dirty="0">
              <a:ln>
                <a:noFill/>
              </a:ln>
              <a:effectLst/>
              <a:uLnTx/>
              <a:uFillTx/>
              <a:latin typeface="+mj-lt"/>
              <a:ea typeface="+mj-ea"/>
              <a:cs typeface="+mn-cs"/>
            </a:endParaRPr>
          </a:p>
        </p:txBody>
      </p:sp>
      <p:sp>
        <p:nvSpPr>
          <p:cNvPr id="36" name="テキスト プレースホルダー 4">
            <a:extLst>
              <a:ext uri="{FF2B5EF4-FFF2-40B4-BE49-F238E27FC236}">
                <a16:creationId xmlns:a16="http://schemas.microsoft.com/office/drawing/2014/main" id="{02A035A4-5B66-F903-D256-89F95AEB74ED}"/>
              </a:ext>
            </a:extLst>
          </p:cNvPr>
          <p:cNvSpPr>
            <a:spLocks noGrp="1"/>
          </p:cNvSpPr>
          <p:nvPr>
            <p:ph type="body" sz="half" idx="2"/>
          </p:nvPr>
        </p:nvSpPr>
        <p:spPr>
          <a:xfrm>
            <a:off x="463550" y="260617"/>
            <a:ext cx="3600000" cy="373115"/>
          </a:xfrm>
        </p:spPr>
        <p:txBody>
          <a:bodyPr/>
          <a:lstStyle/>
          <a:p>
            <a:r>
              <a:rPr kumimoji="1" lang="ja-JP" altLang="en-US" sz="1800" dirty="0">
                <a:latin typeface="Yu Gothic UI" panose="020B0500000000000000" pitchFamily="50" charset="-128"/>
                <a:ea typeface="Yu Gothic UI" panose="020B0500000000000000" pitchFamily="50" charset="-128"/>
              </a:rPr>
              <a:t>３．主担当の案件について</a:t>
            </a:r>
          </a:p>
        </p:txBody>
      </p:sp>
      <p:grpSp>
        <p:nvGrpSpPr>
          <p:cNvPr id="89" name="グループ化 88">
            <a:extLst>
              <a:ext uri="{FF2B5EF4-FFF2-40B4-BE49-F238E27FC236}">
                <a16:creationId xmlns:a16="http://schemas.microsoft.com/office/drawing/2014/main" id="{578B113A-ADEF-2F66-3866-B12975798540}"/>
              </a:ext>
            </a:extLst>
          </p:cNvPr>
          <p:cNvGrpSpPr/>
          <p:nvPr/>
        </p:nvGrpSpPr>
        <p:grpSpPr>
          <a:xfrm>
            <a:off x="523666" y="1789654"/>
            <a:ext cx="8061535" cy="4368129"/>
            <a:chOff x="192801" y="1159285"/>
            <a:chExt cx="8782714" cy="4798753"/>
          </a:xfrm>
        </p:grpSpPr>
        <p:sp>
          <p:nvSpPr>
            <p:cNvPr id="8" name="Rectangle 8">
              <a:extLst>
                <a:ext uri="{FF2B5EF4-FFF2-40B4-BE49-F238E27FC236}">
                  <a16:creationId xmlns:a16="http://schemas.microsoft.com/office/drawing/2014/main" id="{7FE13FC5-D0CB-F2E0-3550-F461DAB163D3}"/>
                </a:ext>
              </a:extLst>
            </p:cNvPr>
            <p:cNvSpPr>
              <a:spLocks noChangeArrowheads="1"/>
            </p:cNvSpPr>
            <p:nvPr/>
          </p:nvSpPr>
          <p:spPr bwMode="auto">
            <a:xfrm>
              <a:off x="289110" y="1476947"/>
              <a:ext cx="8567811" cy="2695719"/>
            </a:xfrm>
            <a:prstGeom prst="rect">
              <a:avLst/>
            </a:prstGeom>
            <a:solidFill>
              <a:sysClr val="window" lastClr="FFFFFF">
                <a:lumMod val="85000"/>
              </a:sysClr>
            </a:solidFill>
            <a:ln w="9525">
              <a:noFill/>
              <a:miter lim="800000"/>
              <a:headEnd/>
              <a:tailEnd/>
            </a:ln>
          </p:spPr>
          <p:txBody>
            <a:bodyPr/>
            <a:lstStyle/>
            <a:p>
              <a:pPr marL="0" marR="0" lvl="0" indent="0" defTabSz="914400" eaLnBrk="1" fontAlgn="base" latinLnBrk="0" hangingPunct="1">
                <a:lnSpc>
                  <a:spcPct val="90000"/>
                </a:lnSpc>
                <a:spcBef>
                  <a:spcPct val="0"/>
                </a:spcBef>
                <a:spcAft>
                  <a:spcPct val="0"/>
                </a:spcAft>
                <a:buClrTx/>
                <a:buSzTx/>
                <a:buFontTx/>
                <a:buNone/>
                <a:tabLst/>
                <a:defRPr/>
              </a:pPr>
              <a:endParaRPr kumimoji="1" lang="ja-JP" altLang="en-US" sz="1400" b="0" i="0" u="none" strike="noStrike" kern="0" cap="none" spc="0" normalizeH="0" baseline="0" noProof="0" dirty="0">
                <a:ln>
                  <a:noFill/>
                </a:ln>
                <a:solidFill>
                  <a:srgbClr val="1F497D"/>
                </a:solidFill>
                <a:effectLst/>
                <a:uLnTx/>
                <a:uFillTx/>
                <a:latin typeface="HGPｺﾞｼｯｸE" pitchFamily="50" charset="-128"/>
                <a:ea typeface="HGPｺﾞｼｯｸE" pitchFamily="50" charset="-128"/>
              </a:endParaRPr>
            </a:p>
          </p:txBody>
        </p:sp>
        <p:sp>
          <p:nvSpPr>
            <p:cNvPr id="9" name="角丸四角形 75">
              <a:extLst>
                <a:ext uri="{FF2B5EF4-FFF2-40B4-BE49-F238E27FC236}">
                  <a16:creationId xmlns:a16="http://schemas.microsoft.com/office/drawing/2014/main" id="{0A0727DA-95FE-016B-6B2E-2770B7F75EB6}"/>
                </a:ext>
              </a:extLst>
            </p:cNvPr>
            <p:cNvSpPr/>
            <p:nvPr/>
          </p:nvSpPr>
          <p:spPr bwMode="auto">
            <a:xfrm>
              <a:off x="347330" y="1869500"/>
              <a:ext cx="2172586" cy="2282972"/>
            </a:xfrm>
            <a:prstGeom prst="roundRect">
              <a:avLst/>
            </a:prstGeom>
            <a:solidFill>
              <a:schemeClr val="bg1"/>
            </a:solidFill>
            <a:ln w="19050">
              <a:solidFill>
                <a:sysClr val="windowText" lastClr="000000">
                  <a:lumMod val="50000"/>
                  <a:lumOff val="50000"/>
                </a:sysClr>
              </a:solidFill>
              <a:miter lim="800000"/>
              <a:headEnd/>
              <a:tailEnd/>
            </a:ln>
            <a:effectLst/>
          </p:spPr>
          <p:txBody>
            <a:bodyPr wrap="none" rtlCol="0" anchor="ctr" anchorCtr="0">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HGPｺﾞｼｯｸE" pitchFamily="50" charset="-128"/>
                <a:ea typeface="HGPｺﾞｼｯｸE" pitchFamily="50" charset="-128"/>
              </a:endParaRPr>
            </a:p>
          </p:txBody>
        </p:sp>
        <p:sp>
          <p:nvSpPr>
            <p:cNvPr id="10" name="正方形/長方形 9">
              <a:extLst>
                <a:ext uri="{FF2B5EF4-FFF2-40B4-BE49-F238E27FC236}">
                  <a16:creationId xmlns:a16="http://schemas.microsoft.com/office/drawing/2014/main" id="{7AC4210B-45CB-CDE6-3FDE-06F8862B7BCE}"/>
                </a:ext>
              </a:extLst>
            </p:cNvPr>
            <p:cNvSpPr/>
            <p:nvPr/>
          </p:nvSpPr>
          <p:spPr bwMode="auto">
            <a:xfrm>
              <a:off x="325660" y="1715885"/>
              <a:ext cx="2212468" cy="306508"/>
            </a:xfrm>
            <a:prstGeom prst="rect">
              <a:avLst/>
            </a:prstGeom>
            <a:noFill/>
            <a:ln>
              <a:noFill/>
              <a:headEnd/>
              <a:tailEnd/>
            </a:ln>
            <a:effectLst/>
            <a:scene3d>
              <a:camera prst="orthographicFront">
                <a:rot lat="0" lon="0" rev="0"/>
              </a:camera>
              <a:lightRig rig="threePt" dir="t">
                <a:rot lat="0" lon="0" rev="1200000"/>
              </a:lightRig>
            </a:scene3d>
            <a:sp3d>
              <a:bevelT w="63500" h="25400"/>
            </a:sp3d>
          </p:spPr>
          <p:txBody>
            <a:bodyPr wrap="square" rtlCol="0" anchor="ctr" anchorCtr="0">
              <a:noAutofit/>
            </a:bodyPr>
            <a:lstStyle/>
            <a:p>
              <a:pPr lvl="0" algn="ctr" defTabSz="914400" fontAlgn="base">
                <a:lnSpc>
                  <a:spcPct val="90000"/>
                </a:lnSpc>
                <a:spcBef>
                  <a:spcPct val="0"/>
                </a:spcBef>
                <a:spcAft>
                  <a:spcPct val="0"/>
                </a:spcAft>
                <a:defRPr/>
              </a:pPr>
              <a:r>
                <a:rPr kumimoji="1" lang="ja-JP" altLang="en-US" sz="1600" kern="0" dirty="0">
                  <a:solidFill>
                    <a:srgbClr val="1F497D"/>
                  </a:solidFill>
                  <a:effectLst>
                    <a:glow rad="139700">
                      <a:srgbClr val="FFFFFF"/>
                    </a:glow>
                  </a:effectLst>
                  <a:latin typeface="HGPｺﾞｼｯｸE" pitchFamily="50" charset="-128"/>
                  <a:ea typeface="HGPｺﾞｼｯｸE" pitchFamily="50" charset="-128"/>
                </a:rPr>
                <a:t>各建屋</a:t>
              </a:r>
              <a:r>
                <a:rPr kumimoji="1" lang="ja-JP" altLang="en-US" sz="1600" b="0" i="0" u="none" strike="noStrike" kern="0" cap="none" spc="0" normalizeH="0" baseline="0" noProof="0" dirty="0">
                  <a:ln>
                    <a:noFill/>
                  </a:ln>
                  <a:solidFill>
                    <a:srgbClr val="1F497D"/>
                  </a:solidFill>
                  <a:effectLst>
                    <a:glow rad="139700">
                      <a:srgbClr val="FFFFFF"/>
                    </a:glow>
                  </a:effectLst>
                  <a:uLnTx/>
                  <a:uFillTx/>
                  <a:latin typeface="HGPｺﾞｼｯｸE" pitchFamily="50" charset="-128"/>
                  <a:ea typeface="HGPｺﾞｼｯｸE" pitchFamily="50" charset="-128"/>
                  <a:cs typeface="+mn-cs"/>
                </a:rPr>
                <a:t>監視対象機器</a:t>
              </a:r>
              <a:endParaRPr kumimoji="1" lang="en-US" altLang="ja-JP" sz="1600" b="0" i="0" u="none" strike="noStrike" kern="0" cap="none" spc="0" normalizeH="0" baseline="0" noProof="0" dirty="0">
                <a:ln>
                  <a:noFill/>
                </a:ln>
                <a:solidFill>
                  <a:srgbClr val="1F497D"/>
                </a:solidFill>
                <a:effectLst>
                  <a:glow rad="139700">
                    <a:srgbClr val="FFFFFF"/>
                  </a:glow>
                </a:effectLst>
                <a:uLnTx/>
                <a:uFillTx/>
                <a:latin typeface="HGPｺﾞｼｯｸE" pitchFamily="50" charset="-128"/>
                <a:ea typeface="HGPｺﾞｼｯｸE" pitchFamily="50" charset="-128"/>
                <a:cs typeface="+mn-cs"/>
              </a:endParaRPr>
            </a:p>
          </p:txBody>
        </p:sp>
        <p:pic>
          <p:nvPicPr>
            <p:cNvPr id="11" name="Picture 46" descr="MC900428945[1]">
              <a:extLst>
                <a:ext uri="{FF2B5EF4-FFF2-40B4-BE49-F238E27FC236}">
                  <a16:creationId xmlns:a16="http://schemas.microsoft.com/office/drawing/2014/main" id="{AB4286B2-2B52-EC6B-0464-A419160A3470}"/>
                </a:ext>
              </a:extLst>
            </p:cNvPr>
            <p:cNvPicPr>
              <a:picLocks noChangeAspect="1" noChangeArrowheads="1"/>
            </p:cNvPicPr>
            <p:nvPr/>
          </p:nvPicPr>
          <p:blipFill>
            <a:blip r:embed="rId2" cstate="print"/>
            <a:srcRect/>
            <a:stretch>
              <a:fillRect/>
            </a:stretch>
          </p:blipFill>
          <p:spPr bwMode="auto">
            <a:xfrm flipH="1">
              <a:off x="1821348" y="2714683"/>
              <a:ext cx="503925" cy="360938"/>
            </a:xfrm>
            <a:prstGeom prst="rect">
              <a:avLst/>
            </a:prstGeom>
            <a:noFill/>
          </p:spPr>
        </p:pic>
        <p:sp>
          <p:nvSpPr>
            <p:cNvPr id="12" name="テキスト ボックス 11">
              <a:extLst>
                <a:ext uri="{FF2B5EF4-FFF2-40B4-BE49-F238E27FC236}">
                  <a16:creationId xmlns:a16="http://schemas.microsoft.com/office/drawing/2014/main" id="{1B260BB5-8463-71F3-E1E5-EB9D34DE78BF}"/>
                </a:ext>
              </a:extLst>
            </p:cNvPr>
            <p:cNvSpPr txBox="1"/>
            <p:nvPr/>
          </p:nvSpPr>
          <p:spPr>
            <a:xfrm>
              <a:off x="439214" y="3108552"/>
              <a:ext cx="1933543" cy="286232"/>
            </a:xfrm>
            <a:prstGeom prst="rect">
              <a:avLst/>
            </a:prstGeom>
            <a:noFill/>
          </p:spPr>
          <p:txBody>
            <a:bodyPr wrap="none" rtlCol="0">
              <a:spAutoFit/>
            </a:bodyPr>
            <a:lstStyle/>
            <a:p>
              <a:pPr defTabSz="914400" fontAlgn="base">
                <a:lnSpc>
                  <a:spcPct val="90000"/>
                </a:lnSpc>
                <a:spcBef>
                  <a:spcPct val="0"/>
                </a:spcBef>
                <a:spcAft>
                  <a:spcPct val="0"/>
                </a:spcAft>
              </a:pPr>
              <a:r>
                <a:rPr kumimoji="1" lang="en-US" altLang="ja-JP" sz="1400" dirty="0">
                  <a:solidFill>
                    <a:srgbClr val="000000"/>
                  </a:solidFill>
                  <a:latin typeface="HGPｺﾞｼｯｸE" pitchFamily="50" charset="-128"/>
                  <a:ea typeface="HGPｺﾞｼｯｸE" pitchFamily="50" charset="-128"/>
                </a:rPr>
                <a:t>NW</a:t>
              </a:r>
              <a:r>
                <a:rPr kumimoji="1" lang="ja-JP" altLang="en-US" sz="1400" dirty="0">
                  <a:solidFill>
                    <a:srgbClr val="000000"/>
                  </a:solidFill>
                  <a:latin typeface="HGPｺﾞｼｯｸE" pitchFamily="50" charset="-128"/>
                  <a:ea typeface="HGPｺﾞｼｯｸE" pitchFamily="50" charset="-128"/>
                </a:rPr>
                <a:t>機器、サーバ、端末</a:t>
              </a:r>
            </a:p>
          </p:txBody>
        </p:sp>
        <p:grpSp>
          <p:nvGrpSpPr>
            <p:cNvPr id="14" name="グラフィックス 11">
              <a:extLst>
                <a:ext uri="{FF2B5EF4-FFF2-40B4-BE49-F238E27FC236}">
                  <a16:creationId xmlns:a16="http://schemas.microsoft.com/office/drawing/2014/main" id="{7D5ED3AB-CA60-7048-B7F7-7B3EEB07EE46}"/>
                </a:ext>
              </a:extLst>
            </p:cNvPr>
            <p:cNvGrpSpPr/>
            <p:nvPr/>
          </p:nvGrpSpPr>
          <p:grpSpPr>
            <a:xfrm>
              <a:off x="492741" y="2826344"/>
              <a:ext cx="579035" cy="137865"/>
              <a:chOff x="2350605" y="3152079"/>
              <a:chExt cx="916968" cy="218325"/>
            </a:xfrm>
          </p:grpSpPr>
          <p:sp>
            <p:nvSpPr>
              <p:cNvPr id="16" name="フリーフォーム: 図形 15">
                <a:extLst>
                  <a:ext uri="{FF2B5EF4-FFF2-40B4-BE49-F238E27FC236}">
                    <a16:creationId xmlns:a16="http://schemas.microsoft.com/office/drawing/2014/main" id="{DF53F72F-6C3F-0E23-7C35-F74AD8AAF37D}"/>
                  </a:ext>
                </a:extLst>
              </p:cNvPr>
              <p:cNvSpPr/>
              <p:nvPr/>
            </p:nvSpPr>
            <p:spPr>
              <a:xfrm>
                <a:off x="2350605" y="3152079"/>
                <a:ext cx="916968" cy="218325"/>
              </a:xfrm>
              <a:custGeom>
                <a:avLst/>
                <a:gdLst>
                  <a:gd name="connsiteX0" fmla="*/ 0 w 916968"/>
                  <a:gd name="connsiteY0" fmla="*/ 0 h 218325"/>
                  <a:gd name="connsiteX1" fmla="*/ 0 w 916968"/>
                  <a:gd name="connsiteY1" fmla="*/ 218326 h 218325"/>
                  <a:gd name="connsiteX2" fmla="*/ 916968 w 916968"/>
                  <a:gd name="connsiteY2" fmla="*/ 218326 h 218325"/>
                  <a:gd name="connsiteX3" fmla="*/ 916968 w 916968"/>
                  <a:gd name="connsiteY3" fmla="*/ 0 h 218325"/>
                </a:gdLst>
                <a:ahLst/>
                <a:cxnLst>
                  <a:cxn ang="0">
                    <a:pos x="connsiteX0" y="connsiteY0"/>
                  </a:cxn>
                  <a:cxn ang="0">
                    <a:pos x="connsiteX1" y="connsiteY1"/>
                  </a:cxn>
                  <a:cxn ang="0">
                    <a:pos x="connsiteX2" y="connsiteY2"/>
                  </a:cxn>
                  <a:cxn ang="0">
                    <a:pos x="connsiteX3" y="connsiteY3"/>
                  </a:cxn>
                </a:cxnLst>
                <a:rect l="l" t="t" r="r" b="b"/>
                <a:pathLst>
                  <a:path w="916968" h="218325">
                    <a:moveTo>
                      <a:pt x="0" y="0"/>
                    </a:moveTo>
                    <a:cubicBezTo>
                      <a:pt x="0" y="72757"/>
                      <a:pt x="0" y="145569"/>
                      <a:pt x="0" y="218326"/>
                    </a:cubicBezTo>
                    <a:lnTo>
                      <a:pt x="916968" y="218326"/>
                    </a:lnTo>
                    <a:lnTo>
                      <a:pt x="916968" y="0"/>
                    </a:lnTo>
                    <a:close/>
                  </a:path>
                </a:pathLst>
              </a:custGeom>
              <a:solidFill>
                <a:srgbClr val="FFFFFF"/>
              </a:solidFill>
              <a:ln w="5458"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19" name="フリーフォーム: 図形 18">
                <a:extLst>
                  <a:ext uri="{FF2B5EF4-FFF2-40B4-BE49-F238E27FC236}">
                    <a16:creationId xmlns:a16="http://schemas.microsoft.com/office/drawing/2014/main" id="{78E72EEF-5C29-6B8B-A37B-B08C776B3241}"/>
                  </a:ext>
                </a:extLst>
              </p:cNvPr>
              <p:cNvSpPr/>
              <p:nvPr/>
            </p:nvSpPr>
            <p:spPr>
              <a:xfrm>
                <a:off x="2350605" y="3152079"/>
                <a:ext cx="916968" cy="218325"/>
              </a:xfrm>
              <a:custGeom>
                <a:avLst/>
                <a:gdLst>
                  <a:gd name="connsiteX0" fmla="*/ 0 w 916968"/>
                  <a:gd name="connsiteY0" fmla="*/ 0 h 218325"/>
                  <a:gd name="connsiteX1" fmla="*/ 0 w 916968"/>
                  <a:gd name="connsiteY1" fmla="*/ 218326 h 218325"/>
                  <a:gd name="connsiteX2" fmla="*/ 916968 w 916968"/>
                  <a:gd name="connsiteY2" fmla="*/ 218326 h 218325"/>
                  <a:gd name="connsiteX3" fmla="*/ 916968 w 916968"/>
                  <a:gd name="connsiteY3" fmla="*/ 0 h 218325"/>
                  <a:gd name="connsiteX4" fmla="*/ 5677 w 916968"/>
                  <a:gd name="connsiteY4" fmla="*/ 7041 h 218325"/>
                  <a:gd name="connsiteX5" fmla="*/ 911292 w 916968"/>
                  <a:gd name="connsiteY5" fmla="*/ 7041 h 218325"/>
                  <a:gd name="connsiteX6" fmla="*/ 911292 w 916968"/>
                  <a:gd name="connsiteY6" fmla="*/ 211285 h 218325"/>
                  <a:gd name="connsiteX7" fmla="*/ 515576 w 916968"/>
                  <a:gd name="connsiteY7" fmla="*/ 211285 h 218325"/>
                  <a:gd name="connsiteX8" fmla="*/ 515576 w 916968"/>
                  <a:gd name="connsiteY8" fmla="*/ 154738 h 218325"/>
                  <a:gd name="connsiteX9" fmla="*/ 113311 w 916968"/>
                  <a:gd name="connsiteY9" fmla="*/ 154738 h 218325"/>
                  <a:gd name="connsiteX10" fmla="*/ 113311 w 916968"/>
                  <a:gd name="connsiteY10" fmla="*/ 211285 h 218325"/>
                  <a:gd name="connsiteX11" fmla="*/ 5677 w 916968"/>
                  <a:gd name="connsiteY11" fmla="*/ 211285 h 218325"/>
                  <a:gd name="connsiteX12" fmla="*/ 232299 w 916968"/>
                  <a:gd name="connsiteY12" fmla="*/ 173132 h 218325"/>
                  <a:gd name="connsiteX13" fmla="*/ 232299 w 916968"/>
                  <a:gd name="connsiteY13" fmla="*/ 204899 h 218325"/>
                  <a:gd name="connsiteX14" fmla="*/ 198294 w 916968"/>
                  <a:gd name="connsiteY14" fmla="*/ 204899 h 218325"/>
                  <a:gd name="connsiteX15" fmla="*/ 198294 w 916968"/>
                  <a:gd name="connsiteY15" fmla="*/ 173132 h 218325"/>
                  <a:gd name="connsiteX16" fmla="*/ 271925 w 916968"/>
                  <a:gd name="connsiteY16" fmla="*/ 173132 h 218325"/>
                  <a:gd name="connsiteX17" fmla="*/ 271925 w 916968"/>
                  <a:gd name="connsiteY17" fmla="*/ 204899 h 218325"/>
                  <a:gd name="connsiteX18" fmla="*/ 237975 w 916968"/>
                  <a:gd name="connsiteY18" fmla="*/ 204899 h 218325"/>
                  <a:gd name="connsiteX19" fmla="*/ 237975 w 916968"/>
                  <a:gd name="connsiteY19" fmla="*/ 173132 h 218325"/>
                  <a:gd name="connsiteX20" fmla="*/ 487249 w 916968"/>
                  <a:gd name="connsiteY20" fmla="*/ 173132 h 218325"/>
                  <a:gd name="connsiteX21" fmla="*/ 487249 w 916968"/>
                  <a:gd name="connsiteY21" fmla="*/ 204899 h 218325"/>
                  <a:gd name="connsiteX22" fmla="*/ 368261 w 916968"/>
                  <a:gd name="connsiteY22" fmla="*/ 204899 h 218325"/>
                  <a:gd name="connsiteX23" fmla="*/ 368261 w 916968"/>
                  <a:gd name="connsiteY23" fmla="*/ 173132 h 218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6968" h="218325">
                    <a:moveTo>
                      <a:pt x="0" y="0"/>
                    </a:moveTo>
                    <a:lnTo>
                      <a:pt x="0" y="218326"/>
                    </a:lnTo>
                    <a:lnTo>
                      <a:pt x="916968" y="218326"/>
                    </a:lnTo>
                    <a:lnTo>
                      <a:pt x="916968" y="0"/>
                    </a:lnTo>
                    <a:close/>
                    <a:moveTo>
                      <a:pt x="5677" y="7041"/>
                    </a:moveTo>
                    <a:lnTo>
                      <a:pt x="911292" y="7041"/>
                    </a:lnTo>
                    <a:lnTo>
                      <a:pt x="911292" y="211285"/>
                    </a:lnTo>
                    <a:lnTo>
                      <a:pt x="515576" y="211285"/>
                    </a:lnTo>
                    <a:lnTo>
                      <a:pt x="515576" y="154738"/>
                    </a:lnTo>
                    <a:lnTo>
                      <a:pt x="113311" y="154738"/>
                    </a:lnTo>
                    <a:lnTo>
                      <a:pt x="113311" y="211285"/>
                    </a:lnTo>
                    <a:lnTo>
                      <a:pt x="5677" y="211285"/>
                    </a:lnTo>
                    <a:close/>
                    <a:moveTo>
                      <a:pt x="232299" y="173132"/>
                    </a:moveTo>
                    <a:lnTo>
                      <a:pt x="232299" y="204899"/>
                    </a:lnTo>
                    <a:lnTo>
                      <a:pt x="198294" y="204899"/>
                    </a:lnTo>
                    <a:lnTo>
                      <a:pt x="198294" y="173132"/>
                    </a:lnTo>
                    <a:close/>
                    <a:moveTo>
                      <a:pt x="271925" y="173132"/>
                    </a:moveTo>
                    <a:lnTo>
                      <a:pt x="271925" y="204899"/>
                    </a:lnTo>
                    <a:lnTo>
                      <a:pt x="237975" y="204899"/>
                    </a:lnTo>
                    <a:lnTo>
                      <a:pt x="237975" y="173132"/>
                    </a:lnTo>
                    <a:close/>
                    <a:moveTo>
                      <a:pt x="487249" y="173132"/>
                    </a:moveTo>
                    <a:lnTo>
                      <a:pt x="487249" y="204899"/>
                    </a:lnTo>
                    <a:lnTo>
                      <a:pt x="368261" y="204899"/>
                    </a:lnTo>
                    <a:lnTo>
                      <a:pt x="368261" y="173132"/>
                    </a:lnTo>
                    <a:close/>
                  </a:path>
                </a:pathLst>
              </a:custGeom>
              <a:solidFill>
                <a:srgbClr val="545454"/>
              </a:solidFill>
              <a:ln w="5458"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21" name="フリーフォーム: 図形 20">
                <a:extLst>
                  <a:ext uri="{FF2B5EF4-FFF2-40B4-BE49-F238E27FC236}">
                    <a16:creationId xmlns:a16="http://schemas.microsoft.com/office/drawing/2014/main" id="{85A07FD9-482C-A854-AE35-B783A8B0C323}"/>
                  </a:ext>
                </a:extLst>
              </p:cNvPr>
              <p:cNvSpPr/>
              <p:nvPr/>
            </p:nvSpPr>
            <p:spPr>
              <a:xfrm>
                <a:off x="2356281" y="3159120"/>
                <a:ext cx="905615" cy="204244"/>
              </a:xfrm>
              <a:custGeom>
                <a:avLst/>
                <a:gdLst>
                  <a:gd name="connsiteX0" fmla="*/ 0 w 905615"/>
                  <a:gd name="connsiteY0" fmla="*/ 0 h 204244"/>
                  <a:gd name="connsiteX1" fmla="*/ 0 w 905615"/>
                  <a:gd name="connsiteY1" fmla="*/ 204244 h 204244"/>
                  <a:gd name="connsiteX2" fmla="*/ 110473 w 905615"/>
                  <a:gd name="connsiteY2" fmla="*/ 204244 h 204244"/>
                  <a:gd name="connsiteX3" fmla="*/ 110473 w 905615"/>
                  <a:gd name="connsiteY3" fmla="*/ 151245 h 204244"/>
                  <a:gd name="connsiteX4" fmla="*/ 507062 w 905615"/>
                  <a:gd name="connsiteY4" fmla="*/ 151245 h 204244"/>
                  <a:gd name="connsiteX5" fmla="*/ 507062 w 905615"/>
                  <a:gd name="connsiteY5" fmla="*/ 204244 h 204244"/>
                  <a:gd name="connsiteX6" fmla="*/ 905616 w 905615"/>
                  <a:gd name="connsiteY6" fmla="*/ 204244 h 204244"/>
                  <a:gd name="connsiteX7" fmla="*/ 905616 w 905615"/>
                  <a:gd name="connsiteY7" fmla="*/ 0 h 204244"/>
                  <a:gd name="connsiteX8" fmla="*/ 790340 w 905615"/>
                  <a:gd name="connsiteY8" fmla="*/ 28273 h 204244"/>
                  <a:gd name="connsiteX9" fmla="*/ 851362 w 905615"/>
                  <a:gd name="connsiteY9" fmla="*/ 38808 h 204244"/>
                  <a:gd name="connsiteX10" fmla="*/ 870410 w 905615"/>
                  <a:gd name="connsiteY10" fmla="*/ 50597 h 204244"/>
                  <a:gd name="connsiteX11" fmla="*/ 878161 w 905615"/>
                  <a:gd name="connsiteY11" fmla="*/ 67135 h 204244"/>
                  <a:gd name="connsiteX12" fmla="*/ 870410 w 905615"/>
                  <a:gd name="connsiteY12" fmla="*/ 83673 h 204244"/>
                  <a:gd name="connsiteX13" fmla="*/ 851362 w 905615"/>
                  <a:gd name="connsiteY13" fmla="*/ 95463 h 204244"/>
                  <a:gd name="connsiteX14" fmla="*/ 790340 w 905615"/>
                  <a:gd name="connsiteY14" fmla="*/ 105997 h 204244"/>
                  <a:gd name="connsiteX15" fmla="*/ 729317 w 905615"/>
                  <a:gd name="connsiteY15" fmla="*/ 95463 h 204244"/>
                  <a:gd name="connsiteX16" fmla="*/ 710269 w 905615"/>
                  <a:gd name="connsiteY16" fmla="*/ 83673 h 204244"/>
                  <a:gd name="connsiteX17" fmla="*/ 702518 w 905615"/>
                  <a:gd name="connsiteY17" fmla="*/ 67135 h 204244"/>
                  <a:gd name="connsiteX18" fmla="*/ 710269 w 905615"/>
                  <a:gd name="connsiteY18" fmla="*/ 50597 h 204244"/>
                  <a:gd name="connsiteX19" fmla="*/ 729317 w 905615"/>
                  <a:gd name="connsiteY19" fmla="*/ 38808 h 204244"/>
                  <a:gd name="connsiteX20" fmla="*/ 790340 w 905615"/>
                  <a:gd name="connsiteY20" fmla="*/ 28273 h 204244"/>
                  <a:gd name="connsiteX21" fmla="*/ 790340 w 905615"/>
                  <a:gd name="connsiteY21" fmla="*/ 35369 h 204244"/>
                  <a:gd name="connsiteX22" fmla="*/ 731119 w 905615"/>
                  <a:gd name="connsiteY22" fmla="*/ 45521 h 204244"/>
                  <a:gd name="connsiteX23" fmla="*/ 713816 w 905615"/>
                  <a:gd name="connsiteY23" fmla="*/ 56219 h 204244"/>
                  <a:gd name="connsiteX24" fmla="*/ 708194 w 905615"/>
                  <a:gd name="connsiteY24" fmla="*/ 67135 h 204244"/>
                  <a:gd name="connsiteX25" fmla="*/ 713816 w 905615"/>
                  <a:gd name="connsiteY25" fmla="*/ 78106 h 204244"/>
                  <a:gd name="connsiteX26" fmla="*/ 731119 w 905615"/>
                  <a:gd name="connsiteY26" fmla="*/ 88750 h 204244"/>
                  <a:gd name="connsiteX27" fmla="*/ 790340 w 905615"/>
                  <a:gd name="connsiteY27" fmla="*/ 98956 h 204244"/>
                  <a:gd name="connsiteX28" fmla="*/ 849560 w 905615"/>
                  <a:gd name="connsiteY28" fmla="*/ 88750 h 204244"/>
                  <a:gd name="connsiteX29" fmla="*/ 866863 w 905615"/>
                  <a:gd name="connsiteY29" fmla="*/ 78106 h 204244"/>
                  <a:gd name="connsiteX30" fmla="*/ 872485 w 905615"/>
                  <a:gd name="connsiteY30" fmla="*/ 67135 h 204244"/>
                  <a:gd name="connsiteX31" fmla="*/ 866863 w 905615"/>
                  <a:gd name="connsiteY31" fmla="*/ 56219 h 204244"/>
                  <a:gd name="connsiteX32" fmla="*/ 849560 w 905615"/>
                  <a:gd name="connsiteY32" fmla="*/ 45521 h 204244"/>
                  <a:gd name="connsiteX33" fmla="*/ 790340 w 905615"/>
                  <a:gd name="connsiteY33" fmla="*/ 35369 h 204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905615" h="204244">
                    <a:moveTo>
                      <a:pt x="0" y="0"/>
                    </a:moveTo>
                    <a:lnTo>
                      <a:pt x="0" y="204244"/>
                    </a:lnTo>
                    <a:lnTo>
                      <a:pt x="110473" y="204244"/>
                    </a:lnTo>
                    <a:lnTo>
                      <a:pt x="110473" y="151245"/>
                    </a:lnTo>
                    <a:lnTo>
                      <a:pt x="507062" y="151245"/>
                    </a:lnTo>
                    <a:lnTo>
                      <a:pt x="507062" y="204244"/>
                    </a:lnTo>
                    <a:lnTo>
                      <a:pt x="905616" y="204244"/>
                    </a:lnTo>
                    <a:lnTo>
                      <a:pt x="905616" y="0"/>
                    </a:lnTo>
                    <a:close/>
                    <a:moveTo>
                      <a:pt x="790340" y="28273"/>
                    </a:moveTo>
                    <a:cubicBezTo>
                      <a:pt x="814082" y="28273"/>
                      <a:pt x="835533" y="32258"/>
                      <a:pt x="851362" y="38808"/>
                    </a:cubicBezTo>
                    <a:cubicBezTo>
                      <a:pt x="859221" y="42082"/>
                      <a:pt x="865662" y="46012"/>
                      <a:pt x="870410" y="50597"/>
                    </a:cubicBezTo>
                    <a:cubicBezTo>
                      <a:pt x="875105" y="55182"/>
                      <a:pt x="878161" y="60858"/>
                      <a:pt x="878161" y="67135"/>
                    </a:cubicBezTo>
                    <a:cubicBezTo>
                      <a:pt x="878161" y="73412"/>
                      <a:pt x="875105" y="79089"/>
                      <a:pt x="870410" y="83673"/>
                    </a:cubicBezTo>
                    <a:cubicBezTo>
                      <a:pt x="865662" y="88258"/>
                      <a:pt x="859221" y="92243"/>
                      <a:pt x="851362" y="95463"/>
                    </a:cubicBezTo>
                    <a:cubicBezTo>
                      <a:pt x="835533" y="102067"/>
                      <a:pt x="814082" y="105997"/>
                      <a:pt x="790340" y="105997"/>
                    </a:cubicBezTo>
                    <a:cubicBezTo>
                      <a:pt x="766597" y="105997"/>
                      <a:pt x="745146" y="102067"/>
                      <a:pt x="729317" y="95463"/>
                    </a:cubicBezTo>
                    <a:cubicBezTo>
                      <a:pt x="721458" y="92243"/>
                      <a:pt x="714963" y="88258"/>
                      <a:pt x="710269" y="83673"/>
                    </a:cubicBezTo>
                    <a:cubicBezTo>
                      <a:pt x="705574" y="79089"/>
                      <a:pt x="702518" y="73412"/>
                      <a:pt x="702518" y="67135"/>
                    </a:cubicBezTo>
                    <a:cubicBezTo>
                      <a:pt x="702518" y="60858"/>
                      <a:pt x="705574" y="55182"/>
                      <a:pt x="710269" y="50597"/>
                    </a:cubicBezTo>
                    <a:cubicBezTo>
                      <a:pt x="714963" y="46012"/>
                      <a:pt x="721458" y="42082"/>
                      <a:pt x="729317" y="38808"/>
                    </a:cubicBezTo>
                    <a:cubicBezTo>
                      <a:pt x="745146" y="32258"/>
                      <a:pt x="766597" y="28273"/>
                      <a:pt x="790340" y="28273"/>
                    </a:cubicBezTo>
                    <a:close/>
                    <a:moveTo>
                      <a:pt x="790340" y="35369"/>
                    </a:moveTo>
                    <a:cubicBezTo>
                      <a:pt x="767088" y="35369"/>
                      <a:pt x="746074" y="39299"/>
                      <a:pt x="731119" y="45521"/>
                    </a:cubicBezTo>
                    <a:cubicBezTo>
                      <a:pt x="723641" y="48632"/>
                      <a:pt x="717692" y="52289"/>
                      <a:pt x="713816" y="56219"/>
                    </a:cubicBezTo>
                    <a:cubicBezTo>
                      <a:pt x="709886" y="59985"/>
                      <a:pt x="708194" y="63697"/>
                      <a:pt x="708194" y="67135"/>
                    </a:cubicBezTo>
                    <a:cubicBezTo>
                      <a:pt x="708194" y="70628"/>
                      <a:pt x="709886" y="74286"/>
                      <a:pt x="713816" y="78106"/>
                    </a:cubicBezTo>
                    <a:cubicBezTo>
                      <a:pt x="717692" y="81981"/>
                      <a:pt x="723641" y="85638"/>
                      <a:pt x="731119" y="88750"/>
                    </a:cubicBezTo>
                    <a:cubicBezTo>
                      <a:pt x="746074" y="94972"/>
                      <a:pt x="767088" y="98956"/>
                      <a:pt x="790340" y="98956"/>
                    </a:cubicBezTo>
                    <a:cubicBezTo>
                      <a:pt x="813537" y="98956"/>
                      <a:pt x="834605" y="94972"/>
                      <a:pt x="849560" y="88750"/>
                    </a:cubicBezTo>
                    <a:cubicBezTo>
                      <a:pt x="857038" y="85638"/>
                      <a:pt x="862987" y="81981"/>
                      <a:pt x="866863" y="78106"/>
                    </a:cubicBezTo>
                    <a:cubicBezTo>
                      <a:pt x="870793" y="74286"/>
                      <a:pt x="872485" y="70628"/>
                      <a:pt x="872485" y="67135"/>
                    </a:cubicBezTo>
                    <a:cubicBezTo>
                      <a:pt x="872485" y="63697"/>
                      <a:pt x="870793" y="59985"/>
                      <a:pt x="866863" y="56219"/>
                    </a:cubicBezTo>
                    <a:cubicBezTo>
                      <a:pt x="862987" y="52289"/>
                      <a:pt x="857038" y="48632"/>
                      <a:pt x="849560" y="45521"/>
                    </a:cubicBezTo>
                    <a:cubicBezTo>
                      <a:pt x="834605" y="39299"/>
                      <a:pt x="813537" y="35369"/>
                      <a:pt x="790340" y="35369"/>
                    </a:cubicBezTo>
                    <a:close/>
                  </a:path>
                </a:pathLst>
              </a:custGeom>
              <a:solidFill>
                <a:srgbClr val="000000">
                  <a:alpha val="39000"/>
                </a:srgbClr>
              </a:solidFill>
              <a:ln w="5458"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22" name="フリーフォーム: 図形 21">
                <a:extLst>
                  <a:ext uri="{FF2B5EF4-FFF2-40B4-BE49-F238E27FC236}">
                    <a16:creationId xmlns:a16="http://schemas.microsoft.com/office/drawing/2014/main" id="{54E96B47-81EE-29BB-EDEF-9572ABA281F3}"/>
                  </a:ext>
                </a:extLst>
              </p:cNvPr>
              <p:cNvSpPr/>
              <p:nvPr/>
            </p:nvSpPr>
            <p:spPr>
              <a:xfrm>
                <a:off x="2548899" y="3325211"/>
                <a:ext cx="288954" cy="31766"/>
              </a:xfrm>
              <a:custGeom>
                <a:avLst/>
                <a:gdLst>
                  <a:gd name="connsiteX0" fmla="*/ 169967 w 288954"/>
                  <a:gd name="connsiteY0" fmla="*/ 0 h 31766"/>
                  <a:gd name="connsiteX1" fmla="*/ 169967 w 288954"/>
                  <a:gd name="connsiteY1" fmla="*/ 3493 h 31766"/>
                  <a:gd name="connsiteX2" fmla="*/ 169967 w 288954"/>
                  <a:gd name="connsiteY2" fmla="*/ 31766 h 31766"/>
                  <a:gd name="connsiteX3" fmla="*/ 288954 w 288954"/>
                  <a:gd name="connsiteY3" fmla="*/ 31766 h 31766"/>
                  <a:gd name="connsiteX4" fmla="*/ 288954 w 288954"/>
                  <a:gd name="connsiteY4" fmla="*/ 0 h 31766"/>
                  <a:gd name="connsiteX5" fmla="*/ 39681 w 288954"/>
                  <a:gd name="connsiteY5" fmla="*/ 0 h 31766"/>
                  <a:gd name="connsiteX6" fmla="*/ 39681 w 288954"/>
                  <a:gd name="connsiteY6" fmla="*/ 3493 h 31766"/>
                  <a:gd name="connsiteX7" fmla="*/ 39681 w 288954"/>
                  <a:gd name="connsiteY7" fmla="*/ 31766 h 31766"/>
                  <a:gd name="connsiteX8" fmla="*/ 73631 w 288954"/>
                  <a:gd name="connsiteY8" fmla="*/ 31766 h 31766"/>
                  <a:gd name="connsiteX9" fmla="*/ 73631 w 288954"/>
                  <a:gd name="connsiteY9" fmla="*/ 0 h 31766"/>
                  <a:gd name="connsiteX10" fmla="*/ 0 w 288954"/>
                  <a:gd name="connsiteY10" fmla="*/ 0 h 31766"/>
                  <a:gd name="connsiteX11" fmla="*/ 0 w 288954"/>
                  <a:gd name="connsiteY11" fmla="*/ 3493 h 31766"/>
                  <a:gd name="connsiteX12" fmla="*/ 0 w 288954"/>
                  <a:gd name="connsiteY12" fmla="*/ 31766 h 31766"/>
                  <a:gd name="connsiteX13" fmla="*/ 34004 w 288954"/>
                  <a:gd name="connsiteY13" fmla="*/ 31766 h 31766"/>
                  <a:gd name="connsiteX14" fmla="*/ 34004 w 288954"/>
                  <a:gd name="connsiteY14" fmla="*/ 0 h 31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8954" h="31766">
                    <a:moveTo>
                      <a:pt x="169967" y="0"/>
                    </a:moveTo>
                    <a:lnTo>
                      <a:pt x="169967" y="3493"/>
                    </a:lnTo>
                    <a:lnTo>
                      <a:pt x="169967" y="31766"/>
                    </a:lnTo>
                    <a:lnTo>
                      <a:pt x="288954" y="31766"/>
                    </a:lnTo>
                    <a:lnTo>
                      <a:pt x="288954" y="0"/>
                    </a:lnTo>
                    <a:close/>
                    <a:moveTo>
                      <a:pt x="39681" y="0"/>
                    </a:moveTo>
                    <a:lnTo>
                      <a:pt x="39681" y="3493"/>
                    </a:lnTo>
                    <a:lnTo>
                      <a:pt x="39681" y="31766"/>
                    </a:lnTo>
                    <a:lnTo>
                      <a:pt x="73631" y="31766"/>
                    </a:lnTo>
                    <a:lnTo>
                      <a:pt x="73631" y="0"/>
                    </a:lnTo>
                    <a:close/>
                    <a:moveTo>
                      <a:pt x="0" y="0"/>
                    </a:moveTo>
                    <a:lnTo>
                      <a:pt x="0" y="3493"/>
                    </a:lnTo>
                    <a:lnTo>
                      <a:pt x="0" y="31766"/>
                    </a:lnTo>
                    <a:lnTo>
                      <a:pt x="34004" y="31766"/>
                    </a:lnTo>
                    <a:lnTo>
                      <a:pt x="34004" y="0"/>
                    </a:lnTo>
                    <a:close/>
                  </a:path>
                </a:pathLst>
              </a:custGeom>
              <a:solidFill>
                <a:srgbClr val="F4F4F4"/>
              </a:solidFill>
              <a:ln w="5458"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sp>
            <p:nvSpPr>
              <p:cNvPr id="28" name="フリーフォーム: 図形 27">
                <a:extLst>
                  <a:ext uri="{FF2B5EF4-FFF2-40B4-BE49-F238E27FC236}">
                    <a16:creationId xmlns:a16="http://schemas.microsoft.com/office/drawing/2014/main" id="{826ECF24-B173-2E52-8D12-29FE6B2A2992}"/>
                  </a:ext>
                </a:extLst>
              </p:cNvPr>
              <p:cNvSpPr/>
              <p:nvPr/>
            </p:nvSpPr>
            <p:spPr>
              <a:xfrm>
                <a:off x="2554576" y="3332252"/>
                <a:ext cx="277601" cy="17684"/>
              </a:xfrm>
              <a:custGeom>
                <a:avLst/>
                <a:gdLst>
                  <a:gd name="connsiteX0" fmla="*/ 254950 w 277601"/>
                  <a:gd name="connsiteY0" fmla="*/ 0 h 17684"/>
                  <a:gd name="connsiteX1" fmla="*/ 277601 w 277601"/>
                  <a:gd name="connsiteY1" fmla="*/ 0 h 17684"/>
                  <a:gd name="connsiteX2" fmla="*/ 277601 w 277601"/>
                  <a:gd name="connsiteY2" fmla="*/ 17684 h 17684"/>
                  <a:gd name="connsiteX3" fmla="*/ 254950 w 277601"/>
                  <a:gd name="connsiteY3" fmla="*/ 17684 h 17684"/>
                  <a:gd name="connsiteX4" fmla="*/ 226622 w 277601"/>
                  <a:gd name="connsiteY4" fmla="*/ 0 h 17684"/>
                  <a:gd name="connsiteX5" fmla="*/ 249274 w 277601"/>
                  <a:gd name="connsiteY5" fmla="*/ 0 h 17684"/>
                  <a:gd name="connsiteX6" fmla="*/ 249274 w 277601"/>
                  <a:gd name="connsiteY6" fmla="*/ 17684 h 17684"/>
                  <a:gd name="connsiteX7" fmla="*/ 226622 w 277601"/>
                  <a:gd name="connsiteY7" fmla="*/ 17684 h 17684"/>
                  <a:gd name="connsiteX8" fmla="*/ 198294 w 277601"/>
                  <a:gd name="connsiteY8" fmla="*/ 0 h 17684"/>
                  <a:gd name="connsiteX9" fmla="*/ 220946 w 277601"/>
                  <a:gd name="connsiteY9" fmla="*/ 0 h 17684"/>
                  <a:gd name="connsiteX10" fmla="*/ 220946 w 277601"/>
                  <a:gd name="connsiteY10" fmla="*/ 17684 h 17684"/>
                  <a:gd name="connsiteX11" fmla="*/ 198294 w 277601"/>
                  <a:gd name="connsiteY11" fmla="*/ 17684 h 17684"/>
                  <a:gd name="connsiteX12" fmla="*/ 169967 w 277601"/>
                  <a:gd name="connsiteY12" fmla="*/ 0 h 17684"/>
                  <a:gd name="connsiteX13" fmla="*/ 192618 w 277601"/>
                  <a:gd name="connsiteY13" fmla="*/ 0 h 17684"/>
                  <a:gd name="connsiteX14" fmla="*/ 192618 w 277601"/>
                  <a:gd name="connsiteY14" fmla="*/ 17684 h 17684"/>
                  <a:gd name="connsiteX15" fmla="*/ 169967 w 277601"/>
                  <a:gd name="connsiteY15" fmla="*/ 17684 h 17684"/>
                  <a:gd name="connsiteX16" fmla="*/ 39626 w 277601"/>
                  <a:gd name="connsiteY16" fmla="*/ 0 h 17684"/>
                  <a:gd name="connsiteX17" fmla="*/ 62332 w 277601"/>
                  <a:gd name="connsiteY17" fmla="*/ 0 h 17684"/>
                  <a:gd name="connsiteX18" fmla="*/ 62332 w 277601"/>
                  <a:gd name="connsiteY18" fmla="*/ 17684 h 17684"/>
                  <a:gd name="connsiteX19" fmla="*/ 39626 w 277601"/>
                  <a:gd name="connsiteY19" fmla="*/ 17684 h 17684"/>
                  <a:gd name="connsiteX20" fmla="*/ 0 w 277601"/>
                  <a:gd name="connsiteY20" fmla="*/ 0 h 17684"/>
                  <a:gd name="connsiteX21" fmla="*/ 22651 w 277601"/>
                  <a:gd name="connsiteY21" fmla="*/ 0 h 17684"/>
                  <a:gd name="connsiteX22" fmla="*/ 22651 w 277601"/>
                  <a:gd name="connsiteY22" fmla="*/ 17684 h 17684"/>
                  <a:gd name="connsiteX23" fmla="*/ 0 w 277601"/>
                  <a:gd name="connsiteY23" fmla="*/ 17684 h 17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7601" h="17684">
                    <a:moveTo>
                      <a:pt x="254950" y="0"/>
                    </a:moveTo>
                    <a:lnTo>
                      <a:pt x="277601" y="0"/>
                    </a:lnTo>
                    <a:lnTo>
                      <a:pt x="277601" y="17684"/>
                    </a:lnTo>
                    <a:lnTo>
                      <a:pt x="254950" y="17684"/>
                    </a:lnTo>
                    <a:close/>
                    <a:moveTo>
                      <a:pt x="226622" y="0"/>
                    </a:moveTo>
                    <a:lnTo>
                      <a:pt x="249274" y="0"/>
                    </a:lnTo>
                    <a:lnTo>
                      <a:pt x="249274" y="17684"/>
                    </a:lnTo>
                    <a:lnTo>
                      <a:pt x="226622" y="17684"/>
                    </a:lnTo>
                    <a:close/>
                    <a:moveTo>
                      <a:pt x="198294" y="0"/>
                    </a:moveTo>
                    <a:lnTo>
                      <a:pt x="220946" y="0"/>
                    </a:lnTo>
                    <a:lnTo>
                      <a:pt x="220946" y="17684"/>
                    </a:lnTo>
                    <a:lnTo>
                      <a:pt x="198294" y="17684"/>
                    </a:lnTo>
                    <a:close/>
                    <a:moveTo>
                      <a:pt x="169967" y="0"/>
                    </a:moveTo>
                    <a:lnTo>
                      <a:pt x="192618" y="0"/>
                    </a:lnTo>
                    <a:lnTo>
                      <a:pt x="192618" y="17684"/>
                    </a:lnTo>
                    <a:lnTo>
                      <a:pt x="169967" y="17684"/>
                    </a:lnTo>
                    <a:close/>
                    <a:moveTo>
                      <a:pt x="39626" y="0"/>
                    </a:moveTo>
                    <a:lnTo>
                      <a:pt x="62332" y="0"/>
                    </a:lnTo>
                    <a:lnTo>
                      <a:pt x="62332" y="17684"/>
                    </a:lnTo>
                    <a:lnTo>
                      <a:pt x="39626" y="17684"/>
                    </a:lnTo>
                    <a:close/>
                    <a:moveTo>
                      <a:pt x="0" y="0"/>
                    </a:moveTo>
                    <a:lnTo>
                      <a:pt x="22651" y="0"/>
                    </a:lnTo>
                    <a:lnTo>
                      <a:pt x="22651" y="17684"/>
                    </a:lnTo>
                    <a:lnTo>
                      <a:pt x="0" y="17684"/>
                    </a:lnTo>
                    <a:close/>
                  </a:path>
                </a:pathLst>
              </a:custGeom>
              <a:solidFill>
                <a:srgbClr val="000000"/>
              </a:solidFill>
              <a:ln w="5458" cap="flat">
                <a:noFill/>
                <a:prstDash val="solid"/>
                <a:miter/>
              </a:ln>
            </p:spPr>
            <p:txBody>
              <a:bodyPr rtlCol="0"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ja-JP" altLang="en-US"/>
              </a:p>
            </p:txBody>
          </p:sp>
        </p:grpSp>
        <p:sp>
          <p:nvSpPr>
            <p:cNvPr id="29" name="テキスト ボックス 28">
              <a:extLst>
                <a:ext uri="{FF2B5EF4-FFF2-40B4-BE49-F238E27FC236}">
                  <a16:creationId xmlns:a16="http://schemas.microsoft.com/office/drawing/2014/main" id="{7C12EB34-ED86-D418-C29A-3203BA294A02}"/>
                </a:ext>
              </a:extLst>
            </p:cNvPr>
            <p:cNvSpPr txBox="1"/>
            <p:nvPr/>
          </p:nvSpPr>
          <p:spPr>
            <a:xfrm>
              <a:off x="1616890" y="3287249"/>
              <a:ext cx="598241" cy="286232"/>
            </a:xfrm>
            <a:prstGeom prst="rect">
              <a:avLst/>
            </a:prstGeom>
            <a:noFill/>
          </p:spPr>
          <p:txBody>
            <a:bodyPr wrap="none" rtlCol="0">
              <a:spAutoFit/>
            </a:bodyPr>
            <a:lstStyle/>
            <a:p>
              <a:pPr defTabSz="914400" fontAlgn="base">
                <a:lnSpc>
                  <a:spcPct val="90000"/>
                </a:lnSpc>
                <a:spcBef>
                  <a:spcPct val="0"/>
                </a:spcBef>
                <a:spcAft>
                  <a:spcPct val="0"/>
                </a:spcAft>
              </a:pPr>
              <a:r>
                <a:rPr kumimoji="1" lang="en-US" altLang="ja-JP" sz="1400" dirty="0">
                  <a:solidFill>
                    <a:srgbClr val="000000"/>
                  </a:solidFill>
                  <a:latin typeface="HGPｺﾞｼｯｸE" pitchFamily="50" charset="-128"/>
                  <a:ea typeface="HGPｺﾞｼｯｸE" pitchFamily="50" charset="-128"/>
                </a:rPr>
                <a:t>…</a:t>
              </a:r>
              <a:r>
                <a:rPr kumimoji="1" lang="en-US" altLang="ja-JP" sz="1400" dirty="0" err="1">
                  <a:solidFill>
                    <a:srgbClr val="000000"/>
                  </a:solidFill>
                  <a:latin typeface="HGPｺﾞｼｯｸE" pitchFamily="50" charset="-128"/>
                  <a:ea typeface="HGPｺﾞｼｯｸE" pitchFamily="50" charset="-128"/>
                </a:rPr>
                <a:t>etc</a:t>
              </a:r>
              <a:endParaRPr kumimoji="1" lang="ja-JP" altLang="en-US" sz="1400" dirty="0">
                <a:solidFill>
                  <a:srgbClr val="000000"/>
                </a:solidFill>
                <a:latin typeface="HGPｺﾞｼｯｸE" pitchFamily="50" charset="-128"/>
                <a:ea typeface="HGPｺﾞｼｯｸE" pitchFamily="50" charset="-128"/>
              </a:endParaRPr>
            </a:p>
          </p:txBody>
        </p:sp>
        <p:sp>
          <p:nvSpPr>
            <p:cNvPr id="30" name="角丸四角形吹き出し 85">
              <a:extLst>
                <a:ext uri="{FF2B5EF4-FFF2-40B4-BE49-F238E27FC236}">
                  <a16:creationId xmlns:a16="http://schemas.microsoft.com/office/drawing/2014/main" id="{EBAF83A9-289E-7C70-E0C0-1D51DF68FC0E}"/>
                </a:ext>
              </a:extLst>
            </p:cNvPr>
            <p:cNvSpPr/>
            <p:nvPr/>
          </p:nvSpPr>
          <p:spPr bwMode="auto">
            <a:xfrm>
              <a:off x="192801" y="3822805"/>
              <a:ext cx="3072028" cy="424783"/>
            </a:xfrm>
            <a:prstGeom prst="wedgeRoundRectCallout">
              <a:avLst>
                <a:gd name="adj1" fmla="val -13019"/>
                <a:gd name="adj2" fmla="val -101224"/>
                <a:gd name="adj3" fmla="val 16667"/>
              </a:avLst>
            </a:prstGeom>
            <a:solidFill>
              <a:srgbClr val="1F497D">
                <a:lumMod val="60000"/>
                <a:lumOff val="40000"/>
              </a:srgbClr>
            </a:solidFill>
            <a:ln w="9525">
              <a:noFill/>
              <a:miter lim="800000"/>
              <a:headEnd/>
              <a:tailEnd/>
            </a:ln>
            <a:effectLst>
              <a:outerShdw blurRad="50800" dist="38100" dir="16200000" rotWithShape="0">
                <a:prstClr val="black">
                  <a:alpha val="40000"/>
                </a:prstClr>
              </a:outerShdw>
            </a:effectLst>
          </p:spPr>
          <p:txBody>
            <a:bodyPr wrap="square" rtlCol="0" anchor="t" anchorCtr="0">
              <a:noAutofit/>
            </a:bodyPr>
            <a:lstStyle/>
            <a:p>
              <a:pPr marL="0" marR="0" lvl="0" indent="0" defTabSz="914400" eaLnBrk="1" fontAlgn="base" latinLnBrk="0" hangingPunct="1">
                <a:lnSpc>
                  <a:spcPct val="90000"/>
                </a:lnSpc>
                <a:spcBef>
                  <a:spcPct val="0"/>
                </a:spcBef>
                <a:spcAft>
                  <a:spcPct val="0"/>
                </a:spcAft>
                <a:buClrTx/>
                <a:buSzTx/>
                <a:buFontTx/>
                <a:buNone/>
                <a:tabLst/>
                <a:defRPr/>
              </a:pPr>
              <a:r>
                <a:rPr kumimoji="1" lang="ja-JP" altLang="en-US" sz="1600" b="0" i="0" u="none" strike="noStrike" kern="0" cap="none" spc="0" normalizeH="0" baseline="0" noProof="0" dirty="0">
                  <a:ln>
                    <a:noFill/>
                  </a:ln>
                  <a:solidFill>
                    <a:prstClr val="white"/>
                  </a:solidFill>
                  <a:effectLst/>
                  <a:uLnTx/>
                  <a:uFillTx/>
                  <a:latin typeface="HGPｺﾞｼｯｸE" pitchFamily="50" charset="-128"/>
                  <a:ea typeface="HGPｺﾞｼｯｸE" pitchFamily="50" charset="-128"/>
                </a:rPr>
                <a:t>分析対象ﾛｸﾞを自動</a:t>
              </a:r>
              <a:r>
                <a:rPr kumimoji="1" lang="ja-JP" altLang="en-US" sz="1600" kern="0" dirty="0">
                  <a:solidFill>
                    <a:prstClr val="white"/>
                  </a:solidFill>
                  <a:latin typeface="HGPｺﾞｼｯｸE" pitchFamily="50" charset="-128"/>
                  <a:ea typeface="HGPｺﾞｼｯｸE" pitchFamily="50" charset="-128"/>
                </a:rPr>
                <a:t>出力・</a:t>
              </a:r>
              <a:r>
                <a:rPr kumimoji="1" lang="ja-JP" altLang="en-US" sz="1600" b="0" i="0" u="none" strike="noStrike" kern="0" cap="none" spc="0" normalizeH="0" baseline="0" noProof="0" dirty="0">
                  <a:ln>
                    <a:noFill/>
                  </a:ln>
                  <a:solidFill>
                    <a:prstClr val="white"/>
                  </a:solidFill>
                  <a:effectLst/>
                  <a:uLnTx/>
                  <a:uFillTx/>
                  <a:latin typeface="HGPｺﾞｼｯｸE" pitchFamily="50" charset="-128"/>
                  <a:ea typeface="HGPｺﾞｼｯｸE" pitchFamily="50" charset="-128"/>
                </a:rPr>
                <a:t>転送</a:t>
              </a:r>
              <a:endParaRPr kumimoji="1" lang="en-US" altLang="ja-JP" sz="1500" b="0" i="0" u="none" strike="noStrike" kern="0" cap="none" spc="0" normalizeH="0" baseline="0" noProof="0" dirty="0">
                <a:ln>
                  <a:noFill/>
                </a:ln>
                <a:solidFill>
                  <a:prstClr val="white"/>
                </a:solidFill>
                <a:effectLst/>
                <a:uLnTx/>
                <a:uFillTx/>
                <a:latin typeface="HGPｺﾞｼｯｸE" pitchFamily="50" charset="-128"/>
                <a:ea typeface="HGPｺﾞｼｯｸE" pitchFamily="50" charset="-128"/>
              </a:endParaRPr>
            </a:p>
            <a:p>
              <a:pPr marL="0" marR="0" lvl="0" indent="0" algn="ctr" defTabSz="914400" eaLnBrk="1" fontAlgn="base" latinLnBrk="0" hangingPunct="1">
                <a:lnSpc>
                  <a:spcPct val="90000"/>
                </a:lnSpc>
                <a:spcBef>
                  <a:spcPct val="0"/>
                </a:spcBef>
                <a:spcAft>
                  <a:spcPct val="0"/>
                </a:spcAft>
                <a:buClrTx/>
                <a:buSzTx/>
                <a:buFontTx/>
                <a:buNone/>
                <a:tabLst/>
                <a:defRPr/>
              </a:pPr>
              <a:endParaRPr kumimoji="1" lang="ja-JP" altLang="en-US" sz="1400" b="0" i="0" u="none" strike="noStrike" kern="0" cap="none" spc="0" normalizeH="0" baseline="0" noProof="0" dirty="0">
                <a:ln>
                  <a:noFill/>
                </a:ln>
                <a:solidFill>
                  <a:prstClr val="black"/>
                </a:solidFill>
                <a:effectLst/>
                <a:uLnTx/>
                <a:uFillTx/>
                <a:latin typeface="HGPｺﾞｼｯｸE" pitchFamily="50" charset="-128"/>
                <a:ea typeface="HGPｺﾞｼｯｸE" pitchFamily="50" charset="-128"/>
              </a:endParaRPr>
            </a:p>
          </p:txBody>
        </p:sp>
        <p:sp>
          <p:nvSpPr>
            <p:cNvPr id="37" name="角丸四角形 74">
              <a:extLst>
                <a:ext uri="{FF2B5EF4-FFF2-40B4-BE49-F238E27FC236}">
                  <a16:creationId xmlns:a16="http://schemas.microsoft.com/office/drawing/2014/main" id="{1DE27074-DBC8-97A1-47BB-C303DE2C702E}"/>
                </a:ext>
              </a:extLst>
            </p:cNvPr>
            <p:cNvSpPr/>
            <p:nvPr/>
          </p:nvSpPr>
          <p:spPr bwMode="auto">
            <a:xfrm>
              <a:off x="3270084" y="1926699"/>
              <a:ext cx="3088186" cy="2052084"/>
            </a:xfrm>
            <a:prstGeom prst="roundRect">
              <a:avLst/>
            </a:prstGeom>
            <a:solidFill>
              <a:schemeClr val="bg1"/>
            </a:solidFill>
            <a:ln w="19050">
              <a:solidFill>
                <a:sysClr val="windowText" lastClr="000000">
                  <a:lumMod val="50000"/>
                  <a:lumOff val="50000"/>
                </a:sysClr>
              </a:solidFill>
              <a:miter lim="800000"/>
              <a:headEnd/>
              <a:tailEnd/>
            </a:ln>
            <a:effectLst/>
          </p:spPr>
          <p:txBody>
            <a:bodyPr wrap="none" rtlCol="0" anchor="ctr" anchorCtr="0">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HGPｺﾞｼｯｸE" pitchFamily="50" charset="-128"/>
                <a:ea typeface="HGPｺﾞｼｯｸE" pitchFamily="50" charset="-128"/>
              </a:endParaRPr>
            </a:p>
          </p:txBody>
        </p:sp>
        <p:sp>
          <p:nvSpPr>
            <p:cNvPr id="38" name="角丸四角形 73">
              <a:extLst>
                <a:ext uri="{FF2B5EF4-FFF2-40B4-BE49-F238E27FC236}">
                  <a16:creationId xmlns:a16="http://schemas.microsoft.com/office/drawing/2014/main" id="{1AB63989-16B0-F805-3C39-266E7F5A043D}"/>
                </a:ext>
              </a:extLst>
            </p:cNvPr>
            <p:cNvSpPr/>
            <p:nvPr/>
          </p:nvSpPr>
          <p:spPr bwMode="auto">
            <a:xfrm>
              <a:off x="6563416" y="1944420"/>
              <a:ext cx="2228499" cy="2052084"/>
            </a:xfrm>
            <a:prstGeom prst="roundRect">
              <a:avLst/>
            </a:prstGeom>
            <a:solidFill>
              <a:schemeClr val="bg1"/>
            </a:solidFill>
            <a:ln w="19050">
              <a:solidFill>
                <a:sysClr val="windowText" lastClr="000000">
                  <a:lumMod val="50000"/>
                  <a:lumOff val="50000"/>
                </a:sysClr>
              </a:solidFill>
              <a:miter lim="800000"/>
              <a:headEnd/>
              <a:tailEnd/>
            </a:ln>
            <a:effectLst/>
          </p:spPr>
          <p:txBody>
            <a:bodyPr wrap="none" rtlCol="0" anchor="ctr" anchorCtr="0">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1" lang="ja-JP" altLang="en-US" sz="1800" b="0" i="0" u="none" strike="noStrike" kern="0" cap="none" spc="0" normalizeH="0" baseline="0" noProof="0">
                <a:ln>
                  <a:noFill/>
                </a:ln>
                <a:solidFill>
                  <a:prstClr val="black"/>
                </a:solidFill>
                <a:effectLst/>
                <a:uLnTx/>
                <a:uFillTx/>
                <a:latin typeface="HGPｺﾞｼｯｸE" pitchFamily="50" charset="-128"/>
                <a:ea typeface="HGPｺﾞｼｯｸE" pitchFamily="50" charset="-128"/>
              </a:endParaRPr>
            </a:p>
          </p:txBody>
        </p:sp>
        <p:sp>
          <p:nvSpPr>
            <p:cNvPr id="39" name="正方形/長方形 38">
              <a:extLst>
                <a:ext uri="{FF2B5EF4-FFF2-40B4-BE49-F238E27FC236}">
                  <a16:creationId xmlns:a16="http://schemas.microsoft.com/office/drawing/2014/main" id="{5844F736-F858-8EC1-3A14-66304BA6C8DB}"/>
                </a:ext>
              </a:extLst>
            </p:cNvPr>
            <p:cNvSpPr/>
            <p:nvPr/>
          </p:nvSpPr>
          <p:spPr bwMode="gray">
            <a:xfrm>
              <a:off x="249526" y="1159285"/>
              <a:ext cx="2036474" cy="327935"/>
            </a:xfrm>
            <a:prstGeom prst="rect">
              <a:avLst/>
            </a:prstGeom>
            <a:solidFill>
              <a:sysClr val="windowText" lastClr="000000">
                <a:lumMod val="65000"/>
                <a:lumOff val="35000"/>
              </a:sysClr>
            </a:solidFill>
            <a:ln w="25400" cap="flat" cmpd="sng" algn="ctr">
              <a:noFill/>
              <a:prstDash val="solid"/>
              <a:round/>
              <a:headEnd type="none" w="med" len="med"/>
              <a:tailEnd type="triangle" w="med" len="med"/>
            </a:ln>
            <a:effectLst>
              <a:outerShdw blurRad="50800" dist="38100" algn="l" rotWithShape="0">
                <a:prstClr val="black">
                  <a:alpha val="40000"/>
                </a:prstClr>
              </a:outerShdw>
            </a:effectLst>
          </p:spPr>
          <p:txBody>
            <a:bodyPr wrap="none" lIns="90000" tIns="46800" rIns="90000" bIns="46800"/>
            <a:lstStyle/>
            <a:p>
              <a:pPr marL="0" marR="0" lvl="0" indent="0" algn="ctr" defTabSz="914400" eaLnBrk="1" fontAlgn="auto" latinLnBrk="0" hangingPunct="1">
                <a:lnSpc>
                  <a:spcPct val="90000"/>
                </a:lnSpc>
                <a:spcBef>
                  <a:spcPts val="0"/>
                </a:spcBef>
                <a:spcAft>
                  <a:spcPts val="0"/>
                </a:spcAft>
                <a:buClrTx/>
                <a:buSzTx/>
                <a:buFontTx/>
                <a:buNone/>
                <a:tabLst/>
                <a:defRPr/>
              </a:pPr>
              <a:r>
                <a:rPr lang="ja-JP" altLang="en-US" sz="1600" kern="0" dirty="0">
                  <a:solidFill>
                    <a:srgbClr val="FFFFFF"/>
                  </a:solidFill>
                  <a:latin typeface="HGPｺﾞｼｯｸE" pitchFamily="50" charset="-128"/>
                  <a:ea typeface="HGPｺﾞｼｯｸE" pitchFamily="50" charset="-128"/>
                </a:rPr>
                <a:t>システム</a:t>
              </a:r>
              <a:r>
                <a:rPr kumimoji="0" lang="ja-JP" altLang="en-US" sz="1600" b="0" i="0" u="none" strike="noStrike" kern="0" cap="none" spc="0" normalizeH="0" baseline="0" noProof="0" dirty="0">
                  <a:ln>
                    <a:noFill/>
                  </a:ln>
                  <a:solidFill>
                    <a:srgbClr val="FFFFFF"/>
                  </a:solidFill>
                  <a:effectLst/>
                  <a:uLnTx/>
                  <a:uFillTx/>
                  <a:latin typeface="HGPｺﾞｼｯｸE" pitchFamily="50" charset="-128"/>
                  <a:ea typeface="HGPｺﾞｼｯｸE" pitchFamily="50" charset="-128"/>
                </a:rPr>
                <a:t>イメージ</a:t>
              </a:r>
            </a:p>
          </p:txBody>
        </p:sp>
        <p:sp>
          <p:nvSpPr>
            <p:cNvPr id="40" name="正方形/長方形 39">
              <a:extLst>
                <a:ext uri="{FF2B5EF4-FFF2-40B4-BE49-F238E27FC236}">
                  <a16:creationId xmlns:a16="http://schemas.microsoft.com/office/drawing/2014/main" id="{30C49633-921F-3008-21FB-581C155F5A6E}"/>
                </a:ext>
              </a:extLst>
            </p:cNvPr>
            <p:cNvSpPr/>
            <p:nvPr/>
          </p:nvSpPr>
          <p:spPr bwMode="auto">
            <a:xfrm>
              <a:off x="3089014" y="1715885"/>
              <a:ext cx="2623106" cy="306508"/>
            </a:xfrm>
            <a:prstGeom prst="rect">
              <a:avLst/>
            </a:prstGeom>
            <a:noFill/>
            <a:ln>
              <a:noFill/>
              <a:headEnd/>
              <a:tailEnd/>
            </a:ln>
            <a:effectLst/>
            <a:scene3d>
              <a:camera prst="orthographicFront">
                <a:rot lat="0" lon="0" rev="0"/>
              </a:camera>
              <a:lightRig rig="threePt" dir="t">
                <a:rot lat="0" lon="0" rev="1200000"/>
              </a:lightRig>
            </a:scene3d>
            <a:sp3d>
              <a:bevelT w="63500" h="25400"/>
            </a:sp3d>
          </p:spPr>
          <p:txBody>
            <a:bodyPr wrap="square" rtlCol="0" anchor="ctr" anchorCtr="0">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r>
                <a:rPr kumimoji="1" lang="ja-JP" altLang="en-US" sz="1600" kern="0" dirty="0">
                  <a:solidFill>
                    <a:srgbClr val="1F497D"/>
                  </a:solidFill>
                  <a:effectLst>
                    <a:glow rad="139700">
                      <a:srgbClr val="FFFFFF"/>
                    </a:glow>
                  </a:effectLst>
                  <a:latin typeface="HGPｺﾞｼｯｸE" pitchFamily="50" charset="-128"/>
                  <a:ea typeface="HGPｺﾞｼｯｸE" pitchFamily="50" charset="-128"/>
                </a:rPr>
                <a:t>ﾛｸﾞ保管・</a:t>
              </a:r>
              <a:r>
                <a:rPr kumimoji="1" lang="ja-JP" altLang="en-US" sz="1600" b="0" i="0" u="none" strike="noStrike" kern="0" cap="none" spc="0" normalizeH="0" baseline="0" noProof="0" dirty="0">
                  <a:ln>
                    <a:noFill/>
                  </a:ln>
                  <a:solidFill>
                    <a:srgbClr val="1F497D"/>
                  </a:solidFill>
                  <a:effectLst>
                    <a:glow rad="139700">
                      <a:srgbClr val="FFFFFF"/>
                    </a:glow>
                  </a:effectLst>
                  <a:uLnTx/>
                  <a:uFillTx/>
                  <a:latin typeface="HGPｺﾞｼｯｸE" pitchFamily="50" charset="-128"/>
                  <a:ea typeface="HGPｺﾞｼｯｸE" pitchFamily="50" charset="-128"/>
                  <a:cs typeface="+mn-cs"/>
                </a:rPr>
                <a:t>分析ｼｽﾃﾑ</a:t>
              </a:r>
              <a:endParaRPr kumimoji="1" lang="en-US" altLang="ja-JP" sz="1600" b="0" i="0" u="none" strike="noStrike" kern="0" cap="none" spc="0" normalizeH="0" baseline="0" noProof="0" dirty="0">
                <a:ln>
                  <a:noFill/>
                </a:ln>
                <a:solidFill>
                  <a:srgbClr val="1F497D"/>
                </a:solidFill>
                <a:effectLst>
                  <a:glow rad="139700">
                    <a:srgbClr val="FFFFFF"/>
                  </a:glow>
                </a:effectLst>
                <a:uLnTx/>
                <a:uFillTx/>
                <a:latin typeface="HGPｺﾞｼｯｸE" pitchFamily="50" charset="-128"/>
                <a:ea typeface="HGPｺﾞｼｯｸE" pitchFamily="50" charset="-128"/>
                <a:cs typeface="+mn-cs"/>
              </a:endParaRPr>
            </a:p>
          </p:txBody>
        </p:sp>
        <p:pic>
          <p:nvPicPr>
            <p:cNvPr id="41" name="図 40" descr="PC new.png">
              <a:extLst>
                <a:ext uri="{FF2B5EF4-FFF2-40B4-BE49-F238E27FC236}">
                  <a16:creationId xmlns:a16="http://schemas.microsoft.com/office/drawing/2014/main" id="{7E65B3BC-4B60-4368-CF8E-F738E9AFD63A}"/>
                </a:ext>
              </a:extLst>
            </p:cNvPr>
            <p:cNvPicPr>
              <a:picLocks noChangeAspect="1"/>
            </p:cNvPicPr>
            <p:nvPr/>
          </p:nvPicPr>
          <p:blipFill>
            <a:blip r:embed="rId3" cstate="email"/>
            <a:stretch>
              <a:fillRect/>
            </a:stretch>
          </p:blipFill>
          <p:spPr>
            <a:xfrm flipH="1">
              <a:off x="6947066" y="3309400"/>
              <a:ext cx="544981" cy="615506"/>
            </a:xfrm>
            <a:prstGeom prst="rect">
              <a:avLst/>
            </a:prstGeom>
          </p:spPr>
        </p:pic>
        <p:sp>
          <p:nvSpPr>
            <p:cNvPr id="43" name="角丸四角形吹き出し 89">
              <a:extLst>
                <a:ext uri="{FF2B5EF4-FFF2-40B4-BE49-F238E27FC236}">
                  <a16:creationId xmlns:a16="http://schemas.microsoft.com/office/drawing/2014/main" id="{BF140A1C-2324-E3DD-7435-737188B7EAFB}"/>
                </a:ext>
              </a:extLst>
            </p:cNvPr>
            <p:cNvSpPr/>
            <p:nvPr/>
          </p:nvSpPr>
          <p:spPr bwMode="auto">
            <a:xfrm>
              <a:off x="5755570" y="1723080"/>
              <a:ext cx="1427949" cy="354088"/>
            </a:xfrm>
            <a:prstGeom prst="wedgeRoundRectCallout">
              <a:avLst>
                <a:gd name="adj1" fmla="val -47189"/>
                <a:gd name="adj2" fmla="val 91427"/>
                <a:gd name="adj3" fmla="val 16667"/>
              </a:avLst>
            </a:prstGeom>
            <a:solidFill>
              <a:srgbClr val="1F497D">
                <a:lumMod val="60000"/>
                <a:lumOff val="40000"/>
              </a:srgbClr>
            </a:solidFill>
            <a:ln w="9525">
              <a:noFill/>
              <a:miter lim="800000"/>
              <a:headEnd/>
              <a:tailEnd/>
            </a:ln>
            <a:effectLst>
              <a:outerShdw blurRad="50800" dist="38100" dir="8100000" algn="tr" rotWithShape="0">
                <a:prstClr val="black">
                  <a:alpha val="40000"/>
                </a:prstClr>
              </a:outerShdw>
            </a:effectLst>
          </p:spPr>
          <p:txBody>
            <a:bodyPr wrap="none" rtlCol="0" anchor="ctr" anchorCtr="0">
              <a:noAutofit/>
            </a:bodyPr>
            <a:lstStyle/>
            <a:p>
              <a:pPr marL="0" marR="0" lvl="0" indent="0" algn="ctr" defTabSz="914400" eaLnBrk="1" fontAlgn="base" latinLnBrk="0" hangingPunct="1">
                <a:lnSpc>
                  <a:spcPct val="95000"/>
                </a:lnSpc>
                <a:spcBef>
                  <a:spcPct val="0"/>
                </a:spcBef>
                <a:spcAft>
                  <a:spcPct val="0"/>
                </a:spcAft>
                <a:buClrTx/>
                <a:buSzTx/>
                <a:buFontTx/>
                <a:buNone/>
                <a:tabLst/>
                <a:defRPr/>
              </a:pPr>
              <a:r>
                <a:rPr kumimoji="1" lang="ja-JP" altLang="en-US" sz="1600" kern="0" dirty="0">
                  <a:solidFill>
                    <a:prstClr val="white"/>
                  </a:solidFill>
                  <a:latin typeface="HGPｺﾞｼｯｸE" pitchFamily="50" charset="-128"/>
                  <a:ea typeface="HGPｺﾞｼｯｸE" pitchFamily="50" charset="-128"/>
                </a:rPr>
                <a:t>ｱﾗｰﾄ</a:t>
              </a:r>
              <a:r>
                <a:rPr kumimoji="1" lang="ja-JP" altLang="en-US" sz="1600" b="0" i="0" u="none" strike="noStrike" kern="0" cap="none" spc="0" normalizeH="0" baseline="0" noProof="0" dirty="0">
                  <a:ln>
                    <a:noFill/>
                  </a:ln>
                  <a:solidFill>
                    <a:prstClr val="white"/>
                  </a:solidFill>
                  <a:effectLst/>
                  <a:uLnTx/>
                  <a:uFillTx/>
                  <a:latin typeface="HGPｺﾞｼｯｸE" pitchFamily="50" charset="-128"/>
                  <a:ea typeface="HGPｺﾞｼｯｸE" pitchFamily="50" charset="-128"/>
                </a:rPr>
                <a:t>検知</a:t>
              </a:r>
              <a:endParaRPr kumimoji="1" lang="en-US" altLang="ja-JP" sz="1600" b="0" i="0" u="none" strike="noStrike" kern="0" cap="none" spc="0" normalizeH="0" baseline="0" noProof="0" dirty="0">
                <a:ln>
                  <a:noFill/>
                </a:ln>
                <a:solidFill>
                  <a:prstClr val="white"/>
                </a:solidFill>
                <a:effectLst/>
                <a:uLnTx/>
                <a:uFillTx/>
                <a:latin typeface="HGPｺﾞｼｯｸE" pitchFamily="50" charset="-128"/>
                <a:ea typeface="HGPｺﾞｼｯｸE" pitchFamily="50" charset="-128"/>
              </a:endParaRPr>
            </a:p>
          </p:txBody>
        </p:sp>
        <p:sp>
          <p:nvSpPr>
            <p:cNvPr id="46" name="フリーフォーム 96">
              <a:extLst>
                <a:ext uri="{FF2B5EF4-FFF2-40B4-BE49-F238E27FC236}">
                  <a16:creationId xmlns:a16="http://schemas.microsoft.com/office/drawing/2014/main" id="{6EFE311F-D98E-0BA5-8426-8B824939DD3C}"/>
                </a:ext>
              </a:extLst>
            </p:cNvPr>
            <p:cNvSpPr/>
            <p:nvPr/>
          </p:nvSpPr>
          <p:spPr bwMode="auto">
            <a:xfrm>
              <a:off x="5837274" y="2709965"/>
              <a:ext cx="1116418" cy="648586"/>
            </a:xfrm>
            <a:custGeom>
              <a:avLst/>
              <a:gdLst>
                <a:gd name="connsiteX0" fmla="*/ 0 w 1162050"/>
                <a:gd name="connsiteY0" fmla="*/ 0 h 800100"/>
                <a:gd name="connsiteX1" fmla="*/ 628650 w 1162050"/>
                <a:gd name="connsiteY1" fmla="*/ 647700 h 800100"/>
                <a:gd name="connsiteX2" fmla="*/ 1162050 w 1162050"/>
                <a:gd name="connsiteY2" fmla="*/ 800100 h 800100"/>
              </a:gdLst>
              <a:ahLst/>
              <a:cxnLst>
                <a:cxn ang="0">
                  <a:pos x="connsiteX0" y="connsiteY0"/>
                </a:cxn>
                <a:cxn ang="0">
                  <a:pos x="connsiteX1" y="connsiteY1"/>
                </a:cxn>
                <a:cxn ang="0">
                  <a:pos x="connsiteX2" y="connsiteY2"/>
                </a:cxn>
              </a:cxnLst>
              <a:rect l="l" t="t" r="r" b="b"/>
              <a:pathLst>
                <a:path w="1162050" h="800100">
                  <a:moveTo>
                    <a:pt x="0" y="0"/>
                  </a:moveTo>
                  <a:cubicBezTo>
                    <a:pt x="217487" y="257175"/>
                    <a:pt x="434975" y="514350"/>
                    <a:pt x="628650" y="647700"/>
                  </a:cubicBezTo>
                  <a:cubicBezTo>
                    <a:pt x="822325" y="781050"/>
                    <a:pt x="992187" y="790575"/>
                    <a:pt x="1162050" y="800100"/>
                  </a:cubicBezTo>
                </a:path>
              </a:pathLst>
            </a:custGeom>
            <a:noFill/>
            <a:ln w="19050" cap="flat" cmpd="sng" algn="ctr">
              <a:solidFill>
                <a:srgbClr val="1F497D"/>
              </a:solidFill>
              <a:prstDash val="solid"/>
              <a:round/>
              <a:headEnd type="none" w="med" len="med"/>
              <a:tailEnd type="arrow" w="med" len="med"/>
            </a:ln>
            <a:effectLst/>
          </p:spPr>
          <p:txBody>
            <a:bodyPr rtlCol="0" anchor="ct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1" lang="ja-JP" altLang="en-US" sz="2600" b="0" i="0" u="none" strike="noStrike" kern="0" cap="none" spc="0" normalizeH="0" baseline="0" noProof="0">
                <a:ln>
                  <a:noFill/>
                </a:ln>
                <a:solidFill>
                  <a:srgbClr val="1F497D"/>
                </a:solidFill>
                <a:effectLst/>
                <a:uLnTx/>
                <a:uFillTx/>
                <a:latin typeface="HGPｺﾞｼｯｸE" pitchFamily="50" charset="-128"/>
                <a:ea typeface="HGPｺﾞｼｯｸE" pitchFamily="50" charset="-128"/>
              </a:endParaRPr>
            </a:p>
          </p:txBody>
        </p:sp>
        <p:sp>
          <p:nvSpPr>
            <p:cNvPr id="47" name="フリーフォーム 97">
              <a:extLst>
                <a:ext uri="{FF2B5EF4-FFF2-40B4-BE49-F238E27FC236}">
                  <a16:creationId xmlns:a16="http://schemas.microsoft.com/office/drawing/2014/main" id="{E8DAB989-7574-0526-9BB0-303EE5466363}"/>
                </a:ext>
              </a:extLst>
            </p:cNvPr>
            <p:cNvSpPr/>
            <p:nvPr/>
          </p:nvSpPr>
          <p:spPr bwMode="auto">
            <a:xfrm flipH="1" flipV="1">
              <a:off x="6000749" y="3451582"/>
              <a:ext cx="867881" cy="244549"/>
            </a:xfrm>
            <a:custGeom>
              <a:avLst/>
              <a:gdLst>
                <a:gd name="connsiteX0" fmla="*/ 0 w 1162050"/>
                <a:gd name="connsiteY0" fmla="*/ 0 h 800100"/>
                <a:gd name="connsiteX1" fmla="*/ 628650 w 1162050"/>
                <a:gd name="connsiteY1" fmla="*/ 647700 h 800100"/>
                <a:gd name="connsiteX2" fmla="*/ 1162050 w 1162050"/>
                <a:gd name="connsiteY2" fmla="*/ 800100 h 800100"/>
              </a:gdLst>
              <a:ahLst/>
              <a:cxnLst>
                <a:cxn ang="0">
                  <a:pos x="connsiteX0" y="connsiteY0"/>
                </a:cxn>
                <a:cxn ang="0">
                  <a:pos x="connsiteX1" y="connsiteY1"/>
                </a:cxn>
                <a:cxn ang="0">
                  <a:pos x="connsiteX2" y="connsiteY2"/>
                </a:cxn>
              </a:cxnLst>
              <a:rect l="l" t="t" r="r" b="b"/>
              <a:pathLst>
                <a:path w="1162050" h="800100">
                  <a:moveTo>
                    <a:pt x="0" y="0"/>
                  </a:moveTo>
                  <a:cubicBezTo>
                    <a:pt x="217487" y="257175"/>
                    <a:pt x="434975" y="514350"/>
                    <a:pt x="628650" y="647700"/>
                  </a:cubicBezTo>
                  <a:cubicBezTo>
                    <a:pt x="822325" y="781050"/>
                    <a:pt x="992187" y="790575"/>
                    <a:pt x="1162050" y="800100"/>
                  </a:cubicBezTo>
                </a:path>
              </a:pathLst>
            </a:custGeom>
            <a:noFill/>
            <a:ln w="19050" cap="flat" cmpd="sng" algn="ctr">
              <a:solidFill>
                <a:srgbClr val="1F497D"/>
              </a:solidFill>
              <a:prstDash val="solid"/>
              <a:round/>
              <a:headEnd type="none" w="med" len="med"/>
              <a:tailEnd type="arrow" w="med" len="med"/>
            </a:ln>
            <a:effectLst/>
          </p:spPr>
          <p:txBody>
            <a:bodyPr rtlCol="0" anchor="ct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1" lang="ja-JP" altLang="en-US" sz="2600" b="0" i="0" u="none" strike="noStrike" kern="0" cap="none" spc="0" normalizeH="0" baseline="0" noProof="0">
                <a:ln>
                  <a:noFill/>
                </a:ln>
                <a:solidFill>
                  <a:srgbClr val="1F497D"/>
                </a:solidFill>
                <a:effectLst/>
                <a:uLnTx/>
                <a:uFillTx/>
                <a:latin typeface="HGPｺﾞｼｯｸE" pitchFamily="50" charset="-128"/>
                <a:ea typeface="HGPｺﾞｼｯｸE" pitchFamily="50" charset="-128"/>
              </a:endParaRPr>
            </a:p>
          </p:txBody>
        </p:sp>
        <p:sp>
          <p:nvSpPr>
            <p:cNvPr id="48" name="テキスト ボックス 47">
              <a:extLst>
                <a:ext uri="{FF2B5EF4-FFF2-40B4-BE49-F238E27FC236}">
                  <a16:creationId xmlns:a16="http://schemas.microsoft.com/office/drawing/2014/main" id="{DB15DB40-FAFC-09E6-D9FF-E8DFA44D0696}"/>
                </a:ext>
              </a:extLst>
            </p:cNvPr>
            <p:cNvSpPr txBox="1"/>
            <p:nvPr/>
          </p:nvSpPr>
          <p:spPr>
            <a:xfrm>
              <a:off x="6539340" y="2162529"/>
              <a:ext cx="2147085" cy="480131"/>
            </a:xfrm>
            <a:prstGeom prst="rect">
              <a:avLst/>
            </a:prstGeom>
            <a:noFill/>
          </p:spPr>
          <p:txBody>
            <a:bodyPr wrap="square" rtlCol="0">
              <a:spAutoFit/>
            </a:bodyPr>
            <a:lstStyle/>
            <a:p>
              <a:pPr algn="ctr" defTabSz="914400" fontAlgn="base">
                <a:lnSpc>
                  <a:spcPct val="90000"/>
                </a:lnSpc>
                <a:spcBef>
                  <a:spcPct val="0"/>
                </a:spcBef>
                <a:spcAft>
                  <a:spcPct val="0"/>
                </a:spcAft>
              </a:pPr>
              <a:r>
                <a:rPr kumimoji="1" lang="ja-JP" altLang="en-US" sz="1400" dirty="0">
                  <a:solidFill>
                    <a:srgbClr val="1F497D"/>
                  </a:solidFill>
                  <a:latin typeface="HGPｺﾞｼｯｸE" pitchFamily="50" charset="-128"/>
                  <a:ea typeface="HGPｺﾞｼｯｸE" pitchFamily="50" charset="-128"/>
                </a:rPr>
                <a:t>定義に基づいた</a:t>
              </a:r>
              <a:endParaRPr kumimoji="1" lang="en-US" altLang="ja-JP" sz="1400" dirty="0">
                <a:solidFill>
                  <a:srgbClr val="1F497D"/>
                </a:solidFill>
                <a:latin typeface="HGPｺﾞｼｯｸE" pitchFamily="50" charset="-128"/>
                <a:ea typeface="HGPｺﾞｼｯｸE" pitchFamily="50" charset="-128"/>
              </a:endParaRPr>
            </a:p>
            <a:p>
              <a:pPr algn="ctr" defTabSz="914400" fontAlgn="base">
                <a:lnSpc>
                  <a:spcPct val="90000"/>
                </a:lnSpc>
                <a:spcBef>
                  <a:spcPct val="0"/>
                </a:spcBef>
                <a:spcAft>
                  <a:spcPct val="0"/>
                </a:spcAft>
              </a:pPr>
              <a:r>
                <a:rPr kumimoji="1" lang="ja-JP" altLang="en-US" sz="1400" dirty="0">
                  <a:solidFill>
                    <a:srgbClr val="1F497D"/>
                  </a:solidFill>
                  <a:latin typeface="HGPｺﾞｼｯｸE" pitchFamily="50" charset="-128"/>
                  <a:ea typeface="HGPｺﾞｼｯｸE" pitchFamily="50" charset="-128"/>
                </a:rPr>
                <a:t>ｱﾗｰﾄ</a:t>
              </a:r>
              <a:r>
                <a:rPr kumimoji="1" lang="en-US" altLang="ja-JP" sz="1400" dirty="0">
                  <a:solidFill>
                    <a:srgbClr val="1F497D"/>
                  </a:solidFill>
                  <a:latin typeface="HGPｺﾞｼｯｸE" pitchFamily="50" charset="-128"/>
                  <a:ea typeface="HGPｺﾞｼｯｸE" pitchFamily="50" charset="-128"/>
                </a:rPr>
                <a:t>/</a:t>
              </a:r>
              <a:r>
                <a:rPr kumimoji="1" lang="ja-JP" altLang="en-US" sz="1400" dirty="0">
                  <a:solidFill>
                    <a:srgbClr val="1F497D"/>
                  </a:solidFill>
                  <a:latin typeface="HGPｺﾞｼｯｸE" pitchFamily="50" charset="-128"/>
                  <a:ea typeface="HGPｺﾞｼｯｸE" pitchFamily="50" charset="-128"/>
                </a:rPr>
                <a:t>ﾚﾎﾟｰﾄ出力</a:t>
              </a:r>
            </a:p>
          </p:txBody>
        </p:sp>
        <p:sp>
          <p:nvSpPr>
            <p:cNvPr id="49" name="テキスト ボックス 48">
              <a:extLst>
                <a:ext uri="{FF2B5EF4-FFF2-40B4-BE49-F238E27FC236}">
                  <a16:creationId xmlns:a16="http://schemas.microsoft.com/office/drawing/2014/main" id="{C3195BF5-5508-3A61-D2F8-B0704F4C1994}"/>
                </a:ext>
              </a:extLst>
            </p:cNvPr>
            <p:cNvSpPr txBox="1"/>
            <p:nvPr/>
          </p:nvSpPr>
          <p:spPr>
            <a:xfrm>
              <a:off x="5936513" y="3553480"/>
              <a:ext cx="902811" cy="286232"/>
            </a:xfrm>
            <a:prstGeom prst="rect">
              <a:avLst/>
            </a:prstGeom>
            <a:noFill/>
          </p:spPr>
          <p:txBody>
            <a:bodyPr wrap="none" rtlCol="0">
              <a:spAutoFit/>
            </a:bodyPr>
            <a:lstStyle/>
            <a:p>
              <a:pPr defTabSz="914400" fontAlgn="base">
                <a:lnSpc>
                  <a:spcPct val="90000"/>
                </a:lnSpc>
                <a:spcBef>
                  <a:spcPct val="0"/>
                </a:spcBef>
                <a:spcAft>
                  <a:spcPct val="0"/>
                </a:spcAft>
              </a:pPr>
              <a:r>
                <a:rPr kumimoji="1" lang="ja-JP" altLang="en-US" sz="1400" dirty="0">
                  <a:solidFill>
                    <a:srgbClr val="1F497D"/>
                  </a:solidFill>
                  <a:latin typeface="HGPｺﾞｼｯｸE" pitchFamily="50" charset="-128"/>
                  <a:ea typeface="HGPｺﾞｼｯｸE" pitchFamily="50" charset="-128"/>
                </a:rPr>
                <a:t>調査分析</a:t>
              </a:r>
            </a:p>
          </p:txBody>
        </p:sp>
        <p:sp>
          <p:nvSpPr>
            <p:cNvPr id="50" name="テキスト ボックス 49">
              <a:extLst>
                <a:ext uri="{FF2B5EF4-FFF2-40B4-BE49-F238E27FC236}">
                  <a16:creationId xmlns:a16="http://schemas.microsoft.com/office/drawing/2014/main" id="{0A3CE6A5-F4BE-33D3-9BB6-0082698259AC}"/>
                </a:ext>
              </a:extLst>
            </p:cNvPr>
            <p:cNvSpPr txBox="1"/>
            <p:nvPr/>
          </p:nvSpPr>
          <p:spPr>
            <a:xfrm>
              <a:off x="2337376" y="2777246"/>
              <a:ext cx="1027845" cy="286232"/>
            </a:xfrm>
            <a:prstGeom prst="rect">
              <a:avLst/>
            </a:prstGeom>
            <a:noFill/>
          </p:spPr>
          <p:txBody>
            <a:bodyPr wrap="none" rtlCol="0">
              <a:spAutoFit/>
            </a:bodyPr>
            <a:lstStyle/>
            <a:p>
              <a:pPr algn="ctr" defTabSz="914400" fontAlgn="base">
                <a:lnSpc>
                  <a:spcPct val="90000"/>
                </a:lnSpc>
                <a:spcBef>
                  <a:spcPct val="0"/>
                </a:spcBef>
                <a:spcAft>
                  <a:spcPct val="0"/>
                </a:spcAft>
              </a:pPr>
              <a:r>
                <a:rPr kumimoji="1" lang="ja-JP" altLang="en-US" sz="1400" dirty="0">
                  <a:solidFill>
                    <a:srgbClr val="1F497D"/>
                  </a:solidFill>
                  <a:latin typeface="HGPｺﾞｼｯｸE" pitchFamily="50" charset="-128"/>
                  <a:ea typeface="HGPｺﾞｼｯｸE" pitchFamily="50" charset="-128"/>
                </a:rPr>
                <a:t>ｾｷｭﾘﾃｨﾛｸﾞ</a:t>
              </a:r>
            </a:p>
          </p:txBody>
        </p:sp>
        <p:pic>
          <p:nvPicPr>
            <p:cNvPr id="51" name="Picture 65" descr="cms">
              <a:extLst>
                <a:ext uri="{FF2B5EF4-FFF2-40B4-BE49-F238E27FC236}">
                  <a16:creationId xmlns:a16="http://schemas.microsoft.com/office/drawing/2014/main" id="{31E8842C-01C5-77F8-D272-148DA4B8E642}"/>
                </a:ext>
              </a:extLst>
            </p:cNvPr>
            <p:cNvPicPr preferRelativeResize="0">
              <a:picLocks noChangeAspect="1" noChangeArrowheads="1"/>
            </p:cNvPicPr>
            <p:nvPr/>
          </p:nvPicPr>
          <p:blipFill>
            <a:blip r:embed="rId4" cstate="print">
              <a:clrChange>
                <a:clrFrom>
                  <a:srgbClr val="08369A"/>
                </a:clrFrom>
                <a:clrTo>
                  <a:srgbClr val="08369A">
                    <a:alpha val="0"/>
                  </a:srgbClr>
                </a:clrTo>
              </a:clrChange>
            </a:blip>
            <a:srcRect/>
            <a:stretch>
              <a:fillRect/>
            </a:stretch>
          </p:blipFill>
          <p:spPr bwMode="gray">
            <a:xfrm>
              <a:off x="5191516" y="2522028"/>
              <a:ext cx="632282" cy="787344"/>
            </a:xfrm>
            <a:prstGeom prst="rect">
              <a:avLst/>
            </a:prstGeom>
            <a:noFill/>
            <a:ln w="9525">
              <a:noFill/>
              <a:miter lim="800000"/>
              <a:headEnd/>
              <a:tailEnd/>
            </a:ln>
          </p:spPr>
        </p:pic>
        <p:pic>
          <p:nvPicPr>
            <p:cNvPr id="52" name="Picture 7" descr="C:\Documents\Pictures\Microsoft クリップ オーガナイザ\00428969.wmf">
              <a:extLst>
                <a:ext uri="{FF2B5EF4-FFF2-40B4-BE49-F238E27FC236}">
                  <a16:creationId xmlns:a16="http://schemas.microsoft.com/office/drawing/2014/main" id="{53DFCF4C-018F-161D-42F5-9C2F9D1C471A}"/>
                </a:ext>
              </a:extLst>
            </p:cNvPr>
            <p:cNvPicPr>
              <a:picLocks noChangeAspect="1" noChangeArrowheads="1"/>
            </p:cNvPicPr>
            <p:nvPr/>
          </p:nvPicPr>
          <p:blipFill>
            <a:blip r:embed="rId5" cstate="print"/>
            <a:srcRect/>
            <a:stretch>
              <a:fillRect/>
            </a:stretch>
          </p:blipFill>
          <p:spPr bwMode="gray">
            <a:xfrm>
              <a:off x="3545050" y="2542598"/>
              <a:ext cx="468056" cy="660871"/>
            </a:xfrm>
            <a:prstGeom prst="rect">
              <a:avLst/>
            </a:prstGeom>
            <a:noFill/>
          </p:spPr>
        </p:pic>
        <p:pic>
          <p:nvPicPr>
            <p:cNvPr id="53" name="Picture 7" descr="C:\Documents\Pictures\Microsoft クリップ オーガナイザ\00428969.wmf">
              <a:extLst>
                <a:ext uri="{FF2B5EF4-FFF2-40B4-BE49-F238E27FC236}">
                  <a16:creationId xmlns:a16="http://schemas.microsoft.com/office/drawing/2014/main" id="{E6BFCDE5-6F36-A60D-8C5F-C4E45EA99875}"/>
                </a:ext>
              </a:extLst>
            </p:cNvPr>
            <p:cNvPicPr>
              <a:picLocks noChangeAspect="1" noChangeArrowheads="1"/>
            </p:cNvPicPr>
            <p:nvPr/>
          </p:nvPicPr>
          <p:blipFill>
            <a:blip r:embed="rId5" cstate="print"/>
            <a:srcRect/>
            <a:stretch>
              <a:fillRect/>
            </a:stretch>
          </p:blipFill>
          <p:spPr bwMode="gray">
            <a:xfrm>
              <a:off x="3560826" y="3010806"/>
              <a:ext cx="468056" cy="660871"/>
            </a:xfrm>
            <a:prstGeom prst="rect">
              <a:avLst/>
            </a:prstGeom>
            <a:noFill/>
          </p:spPr>
        </p:pic>
        <p:pic>
          <p:nvPicPr>
            <p:cNvPr id="54" name="Picture 65" descr="cms">
              <a:extLst>
                <a:ext uri="{FF2B5EF4-FFF2-40B4-BE49-F238E27FC236}">
                  <a16:creationId xmlns:a16="http://schemas.microsoft.com/office/drawing/2014/main" id="{A0450185-1F22-1A93-B6EE-FE7384F1807A}"/>
                </a:ext>
              </a:extLst>
            </p:cNvPr>
            <p:cNvPicPr preferRelativeResize="0">
              <a:picLocks noChangeAspect="1" noChangeArrowheads="1"/>
            </p:cNvPicPr>
            <p:nvPr/>
          </p:nvPicPr>
          <p:blipFill>
            <a:blip r:embed="rId4" cstate="print">
              <a:clrChange>
                <a:clrFrom>
                  <a:srgbClr val="08369A"/>
                </a:clrFrom>
                <a:clrTo>
                  <a:srgbClr val="08369A">
                    <a:alpha val="0"/>
                  </a:srgbClr>
                </a:clrTo>
              </a:clrChange>
            </a:blip>
            <a:srcRect/>
            <a:stretch>
              <a:fillRect/>
            </a:stretch>
          </p:blipFill>
          <p:spPr bwMode="gray">
            <a:xfrm>
              <a:off x="5471511" y="2770122"/>
              <a:ext cx="632282" cy="787344"/>
            </a:xfrm>
            <a:prstGeom prst="rect">
              <a:avLst/>
            </a:prstGeom>
            <a:noFill/>
            <a:ln w="9525">
              <a:noFill/>
              <a:miter lim="800000"/>
              <a:headEnd/>
              <a:tailEnd/>
            </a:ln>
          </p:spPr>
        </p:pic>
        <p:pic>
          <p:nvPicPr>
            <p:cNvPr id="55" name="Picture 65" descr="cms">
              <a:extLst>
                <a:ext uri="{FF2B5EF4-FFF2-40B4-BE49-F238E27FC236}">
                  <a16:creationId xmlns:a16="http://schemas.microsoft.com/office/drawing/2014/main" id="{AD1D01A5-834F-425E-080F-D6BD2D811C94}"/>
                </a:ext>
              </a:extLst>
            </p:cNvPr>
            <p:cNvPicPr preferRelativeResize="0">
              <a:picLocks noChangeAspect="1" noChangeArrowheads="1"/>
            </p:cNvPicPr>
            <p:nvPr/>
          </p:nvPicPr>
          <p:blipFill>
            <a:blip r:embed="rId4" cstate="print">
              <a:clrChange>
                <a:clrFrom>
                  <a:srgbClr val="08369A"/>
                </a:clrFrom>
                <a:clrTo>
                  <a:srgbClr val="08369A">
                    <a:alpha val="0"/>
                  </a:srgbClr>
                </a:clrTo>
              </a:clrChange>
            </a:blip>
            <a:srcRect/>
            <a:stretch>
              <a:fillRect/>
            </a:stretch>
          </p:blipFill>
          <p:spPr bwMode="gray">
            <a:xfrm>
              <a:off x="5296520" y="3005588"/>
              <a:ext cx="632282" cy="787344"/>
            </a:xfrm>
            <a:prstGeom prst="rect">
              <a:avLst/>
            </a:prstGeom>
            <a:noFill/>
            <a:ln w="9525">
              <a:noFill/>
              <a:miter lim="800000"/>
              <a:headEnd/>
              <a:tailEnd/>
            </a:ln>
          </p:spPr>
        </p:pic>
        <p:sp>
          <p:nvSpPr>
            <p:cNvPr id="56" name="フローチャート : 書類 119">
              <a:extLst>
                <a:ext uri="{FF2B5EF4-FFF2-40B4-BE49-F238E27FC236}">
                  <a16:creationId xmlns:a16="http://schemas.microsoft.com/office/drawing/2014/main" id="{8B86C4C5-9234-D5C6-5452-F278CB21C762}"/>
                </a:ext>
              </a:extLst>
            </p:cNvPr>
            <p:cNvSpPr/>
            <p:nvPr/>
          </p:nvSpPr>
          <p:spPr bwMode="auto">
            <a:xfrm>
              <a:off x="5256768" y="2199593"/>
              <a:ext cx="519509" cy="422201"/>
            </a:xfrm>
            <a:prstGeom prst="flowChartDocument">
              <a:avLst/>
            </a:prstGeom>
            <a:solidFill>
              <a:srgbClr val="C0504D">
                <a:lumMod val="60000"/>
                <a:lumOff val="40000"/>
              </a:srgbClr>
            </a:solidFill>
            <a:ln w="9525">
              <a:solidFill>
                <a:srgbClr val="C0504D">
                  <a:lumMod val="75000"/>
                </a:srgbClr>
              </a:solidFill>
              <a:miter lim="800000"/>
              <a:headEnd/>
              <a:tailEnd/>
            </a:ln>
            <a:effectLst/>
          </p:spPr>
          <p:txBody>
            <a:bodyPr wrap="none" rtlCol="0" anchor="ctr" anchorCtr="0">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1" lang="ja-JP" altLang="en-US" sz="1800" b="0" i="0" u="none" strike="noStrike" kern="0" cap="none" spc="0" normalizeH="0" baseline="0" noProof="0">
                <a:ln>
                  <a:noFill/>
                </a:ln>
                <a:solidFill>
                  <a:srgbClr val="C0504D">
                    <a:lumMod val="75000"/>
                  </a:srgbClr>
                </a:solidFill>
                <a:effectLst/>
                <a:uLnTx/>
                <a:uFillTx/>
                <a:latin typeface="HGPｺﾞｼｯｸE" pitchFamily="50" charset="-128"/>
                <a:ea typeface="HGPｺﾞｼｯｸE" pitchFamily="50" charset="-128"/>
              </a:endParaRPr>
            </a:p>
          </p:txBody>
        </p:sp>
        <p:sp>
          <p:nvSpPr>
            <p:cNvPr id="57" name="フローチャート : 書類 120">
              <a:extLst>
                <a:ext uri="{FF2B5EF4-FFF2-40B4-BE49-F238E27FC236}">
                  <a16:creationId xmlns:a16="http://schemas.microsoft.com/office/drawing/2014/main" id="{25FA95E9-BFC4-D0F5-328B-DC268D7F3C14}"/>
                </a:ext>
              </a:extLst>
            </p:cNvPr>
            <p:cNvSpPr/>
            <p:nvPr/>
          </p:nvSpPr>
          <p:spPr bwMode="auto">
            <a:xfrm>
              <a:off x="5306377" y="2236142"/>
              <a:ext cx="519509" cy="422201"/>
            </a:xfrm>
            <a:prstGeom prst="flowChartDocument">
              <a:avLst/>
            </a:prstGeom>
            <a:solidFill>
              <a:srgbClr val="C0504D">
                <a:lumMod val="60000"/>
                <a:lumOff val="40000"/>
              </a:srgbClr>
            </a:solidFill>
            <a:ln w="9525">
              <a:solidFill>
                <a:srgbClr val="C0504D">
                  <a:lumMod val="75000"/>
                </a:srgbClr>
              </a:solidFill>
              <a:miter lim="800000"/>
              <a:headEnd/>
              <a:tailEnd/>
            </a:ln>
            <a:effectLst/>
          </p:spPr>
          <p:txBody>
            <a:bodyPr wrap="none" rtlCol="0" anchor="ctr" anchorCtr="0">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endParaRPr kumimoji="1" lang="ja-JP" altLang="en-US" sz="1800" b="0" i="0" u="none" strike="noStrike" kern="0" cap="none" spc="0" normalizeH="0" baseline="0" noProof="0">
                <a:ln>
                  <a:noFill/>
                </a:ln>
                <a:solidFill>
                  <a:srgbClr val="C0504D">
                    <a:lumMod val="75000"/>
                  </a:srgbClr>
                </a:solidFill>
                <a:effectLst/>
                <a:uLnTx/>
                <a:uFillTx/>
                <a:latin typeface="HGPｺﾞｼｯｸE" pitchFamily="50" charset="-128"/>
                <a:ea typeface="HGPｺﾞｼｯｸE" pitchFamily="50" charset="-128"/>
              </a:endParaRPr>
            </a:p>
          </p:txBody>
        </p:sp>
        <p:sp>
          <p:nvSpPr>
            <p:cNvPr id="58" name="フローチャート : 書類 121">
              <a:extLst>
                <a:ext uri="{FF2B5EF4-FFF2-40B4-BE49-F238E27FC236}">
                  <a16:creationId xmlns:a16="http://schemas.microsoft.com/office/drawing/2014/main" id="{2CAC7E6B-12DF-DE66-F249-78B1DB32E5FA}"/>
                </a:ext>
              </a:extLst>
            </p:cNvPr>
            <p:cNvSpPr/>
            <p:nvPr/>
          </p:nvSpPr>
          <p:spPr bwMode="auto">
            <a:xfrm>
              <a:off x="5365909" y="2282217"/>
              <a:ext cx="519509" cy="422201"/>
            </a:xfrm>
            <a:prstGeom prst="flowChartDocument">
              <a:avLst/>
            </a:prstGeom>
            <a:solidFill>
              <a:srgbClr val="C0504D">
                <a:lumMod val="60000"/>
                <a:lumOff val="40000"/>
              </a:srgbClr>
            </a:solidFill>
            <a:ln w="9525">
              <a:solidFill>
                <a:srgbClr val="C0504D">
                  <a:lumMod val="75000"/>
                </a:srgbClr>
              </a:solidFill>
              <a:miter lim="800000"/>
              <a:headEnd/>
              <a:tailEnd/>
            </a:ln>
            <a:effectLst/>
          </p:spPr>
          <p:txBody>
            <a:bodyPr wrap="none" rtlCol="0" anchor="t" anchorCtr="0">
              <a:noAutofit/>
            </a:bodyPr>
            <a:lstStyle/>
            <a:p>
              <a:pPr marL="0" marR="0" lvl="0" indent="0" algn="ctr" defTabSz="914400" eaLnBrk="1" fontAlgn="base" latinLnBrk="0" hangingPunct="1">
                <a:lnSpc>
                  <a:spcPct val="80000"/>
                </a:lnSpc>
                <a:spcBef>
                  <a:spcPct val="0"/>
                </a:spcBef>
                <a:spcAft>
                  <a:spcPct val="0"/>
                </a:spcAft>
                <a:buClrTx/>
                <a:buSzTx/>
                <a:buFontTx/>
                <a:buNone/>
                <a:tabLst/>
                <a:defRPr/>
              </a:pPr>
              <a:r>
                <a:rPr kumimoji="1" lang="ja-JP" altLang="en-US" sz="1200" b="0" i="0" u="none" strike="noStrike" kern="0" cap="none" spc="0" normalizeH="0" baseline="0" noProof="0" dirty="0">
                  <a:ln>
                    <a:noFill/>
                  </a:ln>
                  <a:solidFill>
                    <a:srgbClr val="C0504D">
                      <a:lumMod val="75000"/>
                    </a:srgbClr>
                  </a:solidFill>
                  <a:effectLst/>
                  <a:uLnTx/>
                  <a:uFillTx/>
                  <a:latin typeface="HGPｺﾞｼｯｸE" pitchFamily="50" charset="-128"/>
                  <a:ea typeface="HGPｺﾞｼｯｸE" pitchFamily="50" charset="-128"/>
                </a:rPr>
                <a:t>検知</a:t>
              </a:r>
              <a:endParaRPr kumimoji="1" lang="en-US" altLang="ja-JP" sz="1200" b="0" i="0" u="none" strike="noStrike" kern="0" cap="none" spc="0" normalizeH="0" baseline="0" noProof="0" dirty="0">
                <a:ln>
                  <a:noFill/>
                </a:ln>
                <a:solidFill>
                  <a:srgbClr val="C0504D">
                    <a:lumMod val="75000"/>
                  </a:srgbClr>
                </a:solidFill>
                <a:effectLst/>
                <a:uLnTx/>
                <a:uFillTx/>
                <a:latin typeface="HGPｺﾞｼｯｸE" pitchFamily="50" charset="-128"/>
                <a:ea typeface="HGPｺﾞｼｯｸE" pitchFamily="50" charset="-128"/>
              </a:endParaRPr>
            </a:p>
            <a:p>
              <a:pPr marL="0" marR="0" lvl="0" indent="0" algn="ctr" defTabSz="914400" eaLnBrk="1" fontAlgn="base" latinLnBrk="0" hangingPunct="1">
                <a:lnSpc>
                  <a:spcPct val="80000"/>
                </a:lnSpc>
                <a:spcBef>
                  <a:spcPct val="0"/>
                </a:spcBef>
                <a:spcAft>
                  <a:spcPct val="0"/>
                </a:spcAft>
                <a:buClrTx/>
                <a:buSzTx/>
                <a:buFontTx/>
                <a:buNone/>
                <a:tabLst/>
                <a:defRPr/>
              </a:pPr>
              <a:r>
                <a:rPr kumimoji="1" lang="ja-JP" altLang="en-US" sz="1200" b="0" i="0" u="none" strike="noStrike" kern="0" cap="none" spc="0" normalizeH="0" baseline="0" noProof="0" dirty="0">
                  <a:ln>
                    <a:noFill/>
                  </a:ln>
                  <a:solidFill>
                    <a:srgbClr val="C0504D">
                      <a:lumMod val="75000"/>
                    </a:srgbClr>
                  </a:solidFill>
                  <a:effectLst/>
                  <a:uLnTx/>
                  <a:uFillTx/>
                  <a:latin typeface="HGPｺﾞｼｯｸE" pitchFamily="50" charset="-128"/>
                  <a:ea typeface="HGPｺﾞｼｯｸE" pitchFamily="50" charset="-128"/>
                </a:rPr>
                <a:t>ﾙｰﾙ</a:t>
              </a:r>
            </a:p>
          </p:txBody>
        </p:sp>
        <p:pic>
          <p:nvPicPr>
            <p:cNvPr id="59" name="Picture 89" descr="SQL sm">
              <a:extLst>
                <a:ext uri="{FF2B5EF4-FFF2-40B4-BE49-F238E27FC236}">
                  <a16:creationId xmlns:a16="http://schemas.microsoft.com/office/drawing/2014/main" id="{90C0C5B8-CD09-CAF4-76B0-6FB6FB54576E}"/>
                </a:ext>
              </a:extLst>
            </p:cNvPr>
            <p:cNvPicPr>
              <a:picLocks noChangeAspect="1" noChangeArrowheads="1"/>
            </p:cNvPicPr>
            <p:nvPr/>
          </p:nvPicPr>
          <p:blipFill>
            <a:blip r:embed="rId6" cstate="print"/>
            <a:srcRect/>
            <a:stretch>
              <a:fillRect/>
            </a:stretch>
          </p:blipFill>
          <p:spPr bwMode="gray">
            <a:xfrm>
              <a:off x="4325633" y="2570364"/>
              <a:ext cx="484046" cy="668222"/>
            </a:xfrm>
            <a:prstGeom prst="rect">
              <a:avLst/>
            </a:prstGeom>
            <a:noFill/>
            <a:ln w="9525">
              <a:noFill/>
              <a:miter lim="800000"/>
              <a:headEnd/>
              <a:tailEnd/>
            </a:ln>
          </p:spPr>
        </p:pic>
        <p:pic>
          <p:nvPicPr>
            <p:cNvPr id="60" name="Picture 89" descr="SQL sm">
              <a:extLst>
                <a:ext uri="{FF2B5EF4-FFF2-40B4-BE49-F238E27FC236}">
                  <a16:creationId xmlns:a16="http://schemas.microsoft.com/office/drawing/2014/main" id="{9953158E-6D57-547D-BF13-5402CEAEB0A2}"/>
                </a:ext>
              </a:extLst>
            </p:cNvPr>
            <p:cNvPicPr>
              <a:picLocks noChangeAspect="1" noChangeArrowheads="1"/>
            </p:cNvPicPr>
            <p:nvPr/>
          </p:nvPicPr>
          <p:blipFill>
            <a:blip r:embed="rId6" cstate="print"/>
            <a:srcRect/>
            <a:stretch>
              <a:fillRect/>
            </a:stretch>
          </p:blipFill>
          <p:spPr bwMode="gray">
            <a:xfrm>
              <a:off x="4357351" y="3024440"/>
              <a:ext cx="484046" cy="668222"/>
            </a:xfrm>
            <a:prstGeom prst="rect">
              <a:avLst/>
            </a:prstGeom>
            <a:noFill/>
            <a:ln w="9525">
              <a:noFill/>
              <a:miter lim="800000"/>
              <a:headEnd/>
              <a:tailEnd/>
            </a:ln>
          </p:spPr>
        </p:pic>
        <p:sp>
          <p:nvSpPr>
            <p:cNvPr id="61" name="フローチャート : 書類 126">
              <a:extLst>
                <a:ext uri="{FF2B5EF4-FFF2-40B4-BE49-F238E27FC236}">
                  <a16:creationId xmlns:a16="http://schemas.microsoft.com/office/drawing/2014/main" id="{1992F84F-135F-42C4-F148-CD654E578EDC}"/>
                </a:ext>
              </a:extLst>
            </p:cNvPr>
            <p:cNvSpPr>
              <a:spLocks noChangeAspect="1"/>
            </p:cNvSpPr>
            <p:nvPr/>
          </p:nvSpPr>
          <p:spPr bwMode="auto">
            <a:xfrm>
              <a:off x="7786334" y="3004542"/>
              <a:ext cx="621659" cy="402983"/>
            </a:xfrm>
            <a:prstGeom prst="flowChartDocument">
              <a:avLst/>
            </a:prstGeom>
            <a:solidFill>
              <a:srgbClr val="C0504D">
                <a:lumMod val="40000"/>
                <a:lumOff val="60000"/>
              </a:srgbClr>
            </a:solidFill>
            <a:ln w="9525">
              <a:solidFill>
                <a:sysClr val="windowText" lastClr="000000"/>
              </a:solidFill>
              <a:miter lim="800000"/>
              <a:headEnd/>
              <a:tailEnd/>
            </a:ln>
            <a:effectLst/>
          </p:spPr>
          <p:txBody>
            <a:bodyPr wrap="none" rtlCol="0" anchor="ctr" anchorCtr="0">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r>
                <a:rPr kumimoji="1" lang="ja-JP" altLang="en-US" sz="1400" b="0" i="0" u="none" strike="noStrike" kern="0" cap="none" spc="0" normalizeH="0" baseline="0" noProof="0" dirty="0">
                  <a:ln>
                    <a:noFill/>
                  </a:ln>
                  <a:solidFill>
                    <a:srgbClr val="000000"/>
                  </a:solidFill>
                  <a:effectLst/>
                  <a:uLnTx/>
                  <a:uFillTx/>
                  <a:latin typeface="HGPｺﾞｼｯｸE" pitchFamily="50" charset="-128"/>
                  <a:ea typeface="HGPｺﾞｼｯｸE" pitchFamily="50" charset="-128"/>
                </a:rPr>
                <a:t>ﾚﾎﾟｰﾄ</a:t>
              </a:r>
            </a:p>
          </p:txBody>
        </p:sp>
        <p:pic>
          <p:nvPicPr>
            <p:cNvPr id="62" name="図 40" descr="user business man.png">
              <a:extLst>
                <a:ext uri="{FF2B5EF4-FFF2-40B4-BE49-F238E27FC236}">
                  <a16:creationId xmlns:a16="http://schemas.microsoft.com/office/drawing/2014/main" id="{3463604D-9294-2FC8-1161-31283DAC9BBC}"/>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bwMode="auto">
            <a:xfrm flipH="1">
              <a:off x="7557467" y="3348945"/>
              <a:ext cx="436886" cy="584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3" name="グループ化 59">
              <a:extLst>
                <a:ext uri="{FF2B5EF4-FFF2-40B4-BE49-F238E27FC236}">
                  <a16:creationId xmlns:a16="http://schemas.microsoft.com/office/drawing/2014/main" id="{B67A9964-37EF-FF8C-B08C-5B090467A648}"/>
                </a:ext>
              </a:extLst>
            </p:cNvPr>
            <p:cNvGrpSpPr/>
            <p:nvPr/>
          </p:nvGrpSpPr>
          <p:grpSpPr>
            <a:xfrm>
              <a:off x="4956007" y="3858636"/>
              <a:ext cx="1312560" cy="507161"/>
              <a:chOff x="3264299" y="2840812"/>
              <a:chExt cx="941941" cy="321935"/>
            </a:xfrm>
          </p:grpSpPr>
          <p:sp>
            <p:nvSpPr>
              <p:cNvPr id="64" name="Rounded Rectangle 33">
                <a:extLst>
                  <a:ext uri="{FF2B5EF4-FFF2-40B4-BE49-F238E27FC236}">
                    <a16:creationId xmlns:a16="http://schemas.microsoft.com/office/drawing/2014/main" id="{AB55EADE-3BBA-9D7B-6028-71EA1E3464AA}"/>
                  </a:ext>
                </a:extLst>
              </p:cNvPr>
              <p:cNvSpPr/>
              <p:nvPr/>
            </p:nvSpPr>
            <p:spPr bwMode="gray">
              <a:xfrm>
                <a:off x="3264299" y="2840812"/>
                <a:ext cx="941941" cy="321935"/>
              </a:xfrm>
              <a:prstGeom prst="roundRect">
                <a:avLst>
                  <a:gd name="adj" fmla="val 5129"/>
                </a:avLst>
              </a:prstGeom>
              <a:gradFill flip="none" rotWithShape="1">
                <a:gsLst>
                  <a:gs pos="0">
                    <a:srgbClr val="656565"/>
                  </a:gs>
                  <a:gs pos="50000">
                    <a:srgbClr val="383A39"/>
                  </a:gs>
                  <a:gs pos="100000">
                    <a:srgbClr val="080A09"/>
                  </a:gs>
                </a:gsLst>
                <a:lin ang="5400000" scaled="1"/>
                <a:tileRect/>
              </a:gradFill>
              <a:ln w="12700" cap="flat" cmpd="sng" algn="ctr">
                <a:noFill/>
                <a:prstDash val="solid"/>
              </a:ln>
              <a:effectLst/>
            </p:spPr>
            <p:txBody>
              <a:bodyPr anchor="ctr"/>
              <a:lstStyle/>
              <a:p>
                <a:pPr algn="ctr" defTabSz="914400">
                  <a:defRPr/>
                </a:pPr>
                <a:endParaRPr lang="en-US" kern="0" dirty="0">
                  <a:solidFill>
                    <a:sysClr val="windowText" lastClr="000000"/>
                  </a:solidFill>
                  <a:latin typeface="HGPｺﾞｼｯｸE" pitchFamily="50" charset="-128"/>
                  <a:ea typeface="HGPｺﾞｼｯｸE" pitchFamily="50" charset="-128"/>
                </a:endParaRPr>
              </a:p>
            </p:txBody>
          </p:sp>
          <p:pic>
            <p:nvPicPr>
              <p:cNvPr id="65" name="Picture 77" descr="logo_splunk_product_2color_W.png">
                <a:extLst>
                  <a:ext uri="{FF2B5EF4-FFF2-40B4-BE49-F238E27FC236}">
                    <a16:creationId xmlns:a16="http://schemas.microsoft.com/office/drawing/2014/main" id="{078BCD69-10F9-7605-8242-013C9E9DA90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395442" y="2899834"/>
                <a:ext cx="688820" cy="203891"/>
              </a:xfrm>
              <a:prstGeom prst="rect">
                <a:avLst/>
              </a:prstGeom>
            </p:spPr>
          </p:pic>
        </p:grpSp>
        <p:sp>
          <p:nvSpPr>
            <p:cNvPr id="66" name="右カーブ矢印 37">
              <a:extLst>
                <a:ext uri="{FF2B5EF4-FFF2-40B4-BE49-F238E27FC236}">
                  <a16:creationId xmlns:a16="http://schemas.microsoft.com/office/drawing/2014/main" id="{3C5F7123-80E1-EE77-7F28-1CC2C8B29CE3}"/>
                </a:ext>
              </a:extLst>
            </p:cNvPr>
            <p:cNvSpPr/>
            <p:nvPr/>
          </p:nvSpPr>
          <p:spPr bwMode="auto">
            <a:xfrm flipH="1">
              <a:off x="8695971" y="4600043"/>
              <a:ext cx="279544" cy="932236"/>
            </a:xfrm>
            <a:prstGeom prst="curvedRightArrow">
              <a:avLst/>
            </a:prstGeom>
            <a:solidFill>
              <a:schemeClr val="bg1">
                <a:lumMod val="75000"/>
              </a:schemeClr>
            </a:solidFill>
            <a:ln w="9525">
              <a:noFill/>
              <a:miter lim="800000"/>
              <a:headEnd/>
              <a:tailEnd/>
            </a:ln>
            <a:effectLst/>
          </p:spPr>
          <p:txBody>
            <a:bodyPr wrap="none" rtlCol="0" anchor="ctr" anchorCtr="0">
              <a:noAutofit/>
            </a:bodyPr>
            <a:lstStyle/>
            <a:p>
              <a:pPr algn="ctr"/>
              <a:endParaRPr lang="ja-JP" altLang="en-US" sz="1800">
                <a:solidFill>
                  <a:prstClr val="black"/>
                </a:solidFill>
                <a:ea typeface="HGPｺﾞｼｯｸE"/>
              </a:endParaRPr>
            </a:p>
          </p:txBody>
        </p:sp>
        <p:sp>
          <p:nvSpPr>
            <p:cNvPr id="67" name="角丸四角形吹き出し 85">
              <a:extLst>
                <a:ext uri="{FF2B5EF4-FFF2-40B4-BE49-F238E27FC236}">
                  <a16:creationId xmlns:a16="http://schemas.microsoft.com/office/drawing/2014/main" id="{F7C3496A-ADE5-21D0-1942-6FC0DC29CB16}"/>
                </a:ext>
              </a:extLst>
            </p:cNvPr>
            <p:cNvSpPr/>
            <p:nvPr/>
          </p:nvSpPr>
          <p:spPr bwMode="auto">
            <a:xfrm>
              <a:off x="2342776" y="2081990"/>
              <a:ext cx="1406647" cy="384592"/>
            </a:xfrm>
            <a:prstGeom prst="wedgeRoundRectCallout">
              <a:avLst>
                <a:gd name="adj1" fmla="val 41594"/>
                <a:gd name="adj2" fmla="val 107716"/>
                <a:gd name="adj3" fmla="val 16667"/>
              </a:avLst>
            </a:prstGeom>
            <a:solidFill>
              <a:srgbClr val="1F497D">
                <a:lumMod val="60000"/>
                <a:lumOff val="40000"/>
              </a:srgbClr>
            </a:solidFill>
            <a:ln w="9525">
              <a:noFill/>
              <a:miter lim="800000"/>
              <a:headEnd/>
              <a:tailEnd/>
            </a:ln>
            <a:effectLst>
              <a:outerShdw blurRad="50800" dist="38100" dir="16200000" rotWithShape="0">
                <a:prstClr val="black">
                  <a:alpha val="40000"/>
                </a:prstClr>
              </a:outerShdw>
            </a:effectLst>
          </p:spPr>
          <p:txBody>
            <a:bodyPr wrap="square" rtlCol="0" anchor="t" anchorCtr="0">
              <a:noAutofit/>
            </a:bodyPr>
            <a:lstStyle/>
            <a:p>
              <a:pPr marL="0" marR="0" lvl="0" indent="0" defTabSz="914400" eaLnBrk="1" fontAlgn="base" latinLnBrk="0" hangingPunct="1">
                <a:lnSpc>
                  <a:spcPct val="90000"/>
                </a:lnSpc>
                <a:spcBef>
                  <a:spcPct val="0"/>
                </a:spcBef>
                <a:spcAft>
                  <a:spcPct val="0"/>
                </a:spcAft>
                <a:buClrTx/>
                <a:buSzTx/>
                <a:buFontTx/>
                <a:buNone/>
                <a:tabLst/>
                <a:defRPr/>
              </a:pPr>
              <a:r>
                <a:rPr kumimoji="1" lang="ja-JP" altLang="en-US" sz="1600" b="0" i="0" u="none" strike="noStrike" kern="0" cap="none" spc="0" normalizeH="0" baseline="0" noProof="0" dirty="0">
                  <a:ln>
                    <a:noFill/>
                  </a:ln>
                  <a:solidFill>
                    <a:prstClr val="white"/>
                  </a:solidFill>
                  <a:effectLst/>
                  <a:uLnTx/>
                  <a:uFillTx/>
                  <a:latin typeface="HGPｺﾞｼｯｸE" pitchFamily="50" charset="-128"/>
                  <a:ea typeface="HGPｺﾞｼｯｸE" pitchFamily="50" charset="-128"/>
                </a:rPr>
                <a:t>ﾛｸﾞ</a:t>
              </a:r>
              <a:r>
                <a:rPr kumimoji="1" lang="ja-JP" altLang="en-US" sz="1600" kern="0" dirty="0">
                  <a:solidFill>
                    <a:prstClr val="white"/>
                  </a:solidFill>
                  <a:latin typeface="HGPｺﾞｼｯｸE" pitchFamily="50" charset="-128"/>
                  <a:ea typeface="HGPｺﾞｼｯｸE" pitchFamily="50" charset="-128"/>
                </a:rPr>
                <a:t>取り込み</a:t>
              </a:r>
              <a:endParaRPr kumimoji="1" lang="ja-JP" altLang="en-US" sz="1400" b="0" i="0" u="none" strike="noStrike" kern="0" cap="none" spc="0" normalizeH="0" baseline="0" noProof="0" dirty="0">
                <a:ln>
                  <a:noFill/>
                </a:ln>
                <a:solidFill>
                  <a:prstClr val="black"/>
                </a:solidFill>
                <a:effectLst/>
                <a:uLnTx/>
                <a:uFillTx/>
                <a:latin typeface="HGPｺﾞｼｯｸE" pitchFamily="50" charset="-128"/>
                <a:ea typeface="HGPｺﾞｼｯｸE" pitchFamily="50" charset="-128"/>
              </a:endParaRPr>
            </a:p>
          </p:txBody>
        </p:sp>
        <p:pic>
          <p:nvPicPr>
            <p:cNvPr id="69" name="グラフィックス 68" descr="ドキュメント 単色塗りつぶし">
              <a:extLst>
                <a:ext uri="{FF2B5EF4-FFF2-40B4-BE49-F238E27FC236}">
                  <a16:creationId xmlns:a16="http://schemas.microsoft.com/office/drawing/2014/main" id="{3BD5618D-0B20-FF8A-DFD3-AFAD242F563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648955" y="2993909"/>
              <a:ext cx="424784" cy="424784"/>
            </a:xfrm>
            <a:prstGeom prst="rect">
              <a:avLst/>
            </a:prstGeom>
          </p:spPr>
        </p:pic>
        <p:sp>
          <p:nvSpPr>
            <p:cNvPr id="70" name="角丸四角形吹き出し 90">
              <a:extLst>
                <a:ext uri="{FF2B5EF4-FFF2-40B4-BE49-F238E27FC236}">
                  <a16:creationId xmlns:a16="http://schemas.microsoft.com/office/drawing/2014/main" id="{9421B048-89CC-E6CA-5267-F953D685EB02}"/>
                </a:ext>
              </a:extLst>
            </p:cNvPr>
            <p:cNvSpPr/>
            <p:nvPr/>
          </p:nvSpPr>
          <p:spPr bwMode="auto">
            <a:xfrm>
              <a:off x="6784478" y="4172666"/>
              <a:ext cx="2020186" cy="630866"/>
            </a:xfrm>
            <a:prstGeom prst="wedgeRoundRectCallout">
              <a:avLst>
                <a:gd name="adj1" fmla="val 4063"/>
                <a:gd name="adj2" fmla="val -83281"/>
                <a:gd name="adj3" fmla="val 16667"/>
              </a:avLst>
            </a:prstGeom>
            <a:solidFill>
              <a:srgbClr val="1F497D">
                <a:lumMod val="60000"/>
                <a:lumOff val="40000"/>
              </a:srgbClr>
            </a:solidFill>
            <a:ln w="9525">
              <a:noFill/>
              <a:miter lim="800000"/>
              <a:headEnd/>
              <a:tailEnd/>
            </a:ln>
            <a:effectLst>
              <a:outerShdw blurRad="50800" dist="38100" algn="l" rotWithShape="0">
                <a:prstClr val="black">
                  <a:alpha val="40000"/>
                </a:prstClr>
              </a:outerShdw>
            </a:effectLst>
          </p:spPr>
          <p:txBody>
            <a:bodyPr wrap="square" rtlCol="0" anchor="t" anchorCtr="0">
              <a:noAutofit/>
            </a:bodyPr>
            <a:lstStyle/>
            <a:p>
              <a:pPr marL="0" marR="0" lvl="0" indent="0" algn="ctr" defTabSz="914400" eaLnBrk="1" fontAlgn="base" latinLnBrk="0" hangingPunct="1">
                <a:lnSpc>
                  <a:spcPct val="90000"/>
                </a:lnSpc>
                <a:spcBef>
                  <a:spcPct val="0"/>
                </a:spcBef>
                <a:spcAft>
                  <a:spcPct val="0"/>
                </a:spcAft>
                <a:buClrTx/>
                <a:buSzTx/>
                <a:buFontTx/>
                <a:buNone/>
                <a:tabLst/>
                <a:defRPr/>
              </a:pPr>
              <a:r>
                <a:rPr kumimoji="1" lang="ja-JP" altLang="en-US" sz="1600" b="0" i="0" u="none" strike="noStrike" kern="0" cap="none" spc="0" normalizeH="0" baseline="0" noProof="0" dirty="0">
                  <a:ln>
                    <a:noFill/>
                  </a:ln>
                  <a:solidFill>
                    <a:prstClr val="white"/>
                  </a:solidFill>
                  <a:effectLst/>
                  <a:uLnTx/>
                  <a:uFillTx/>
                  <a:latin typeface="HGPｺﾞｼｯｸE" pitchFamily="50" charset="-128"/>
                  <a:ea typeface="HGPｺﾞｼｯｸE" pitchFamily="50" charset="-128"/>
                </a:rPr>
                <a:t>ﾚﾎﾟｰﾄに基づいた調査分析</a:t>
              </a:r>
            </a:p>
          </p:txBody>
        </p:sp>
        <p:pic>
          <p:nvPicPr>
            <p:cNvPr id="76" name="Picture 43">
              <a:extLst>
                <a:ext uri="{FF2B5EF4-FFF2-40B4-BE49-F238E27FC236}">
                  <a16:creationId xmlns:a16="http://schemas.microsoft.com/office/drawing/2014/main" id="{9A26329E-9F86-77CD-71FA-BE0B0F7FD4FC}"/>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6886244" y="4834621"/>
              <a:ext cx="1800181" cy="112341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角丸四角形吹き出し 85">
              <a:extLst>
                <a:ext uri="{FF2B5EF4-FFF2-40B4-BE49-F238E27FC236}">
                  <a16:creationId xmlns:a16="http://schemas.microsoft.com/office/drawing/2014/main" id="{34BB628B-568B-A9B6-94F6-A971B8781883}"/>
                </a:ext>
              </a:extLst>
            </p:cNvPr>
            <p:cNvSpPr/>
            <p:nvPr/>
          </p:nvSpPr>
          <p:spPr bwMode="auto">
            <a:xfrm>
              <a:off x="3328559" y="3835481"/>
              <a:ext cx="1591285" cy="396757"/>
            </a:xfrm>
            <a:prstGeom prst="wedgeRoundRectCallout">
              <a:avLst>
                <a:gd name="adj1" fmla="val 29277"/>
                <a:gd name="adj2" fmla="val -79988"/>
                <a:gd name="adj3" fmla="val 16667"/>
              </a:avLst>
            </a:prstGeom>
            <a:solidFill>
              <a:srgbClr val="1F497D">
                <a:lumMod val="60000"/>
                <a:lumOff val="40000"/>
              </a:srgbClr>
            </a:solidFill>
            <a:ln w="9525">
              <a:noFill/>
              <a:miter lim="800000"/>
              <a:headEnd/>
              <a:tailEnd/>
            </a:ln>
            <a:effectLst>
              <a:outerShdw blurRad="50800" dist="38100" dir="16200000" rotWithShape="0">
                <a:prstClr val="black">
                  <a:alpha val="40000"/>
                </a:prstClr>
              </a:outerShdw>
            </a:effectLst>
          </p:spPr>
          <p:txBody>
            <a:bodyPr wrap="square" rtlCol="0" anchor="t" anchorCtr="0">
              <a:noAutofit/>
            </a:bodyPr>
            <a:lstStyle/>
            <a:p>
              <a:pPr marL="0" marR="0" lvl="0" indent="0" defTabSz="914400" eaLnBrk="1" fontAlgn="base" latinLnBrk="0" hangingPunct="1">
                <a:lnSpc>
                  <a:spcPct val="90000"/>
                </a:lnSpc>
                <a:spcBef>
                  <a:spcPct val="0"/>
                </a:spcBef>
                <a:spcAft>
                  <a:spcPct val="0"/>
                </a:spcAft>
                <a:buClrTx/>
                <a:buSzTx/>
                <a:buFontTx/>
                <a:buNone/>
                <a:tabLst/>
                <a:defRPr/>
              </a:pPr>
              <a:r>
                <a:rPr kumimoji="1" lang="ja-JP" altLang="en-US" sz="1600" b="0" i="0" u="none" strike="noStrike" kern="0" cap="none" spc="0" normalizeH="0" baseline="0" noProof="0" dirty="0">
                  <a:ln>
                    <a:noFill/>
                  </a:ln>
                  <a:solidFill>
                    <a:prstClr val="white"/>
                  </a:solidFill>
                  <a:effectLst/>
                  <a:uLnTx/>
                  <a:uFillTx/>
                  <a:latin typeface="HGPｺﾞｼｯｸE" pitchFamily="50" charset="-128"/>
                  <a:ea typeface="HGPｺﾞｼｯｸE" pitchFamily="50" charset="-128"/>
                </a:rPr>
                <a:t>ﾛｸﾞ</a:t>
              </a:r>
              <a:r>
                <a:rPr kumimoji="1" lang="ja-JP" altLang="en-US" sz="1600" kern="0" dirty="0">
                  <a:solidFill>
                    <a:prstClr val="white"/>
                  </a:solidFill>
                  <a:latin typeface="HGPｺﾞｼｯｸE" pitchFamily="50" charset="-128"/>
                  <a:ea typeface="HGPｺﾞｼｯｸE" pitchFamily="50" charset="-128"/>
                </a:rPr>
                <a:t>保管</a:t>
              </a:r>
              <a:r>
                <a:rPr kumimoji="1" lang="en-US" altLang="ja-JP" sz="1600" kern="0" dirty="0">
                  <a:solidFill>
                    <a:prstClr val="white"/>
                  </a:solidFill>
                  <a:latin typeface="HGPｺﾞｼｯｸE" pitchFamily="50" charset="-128"/>
                  <a:ea typeface="HGPｺﾞｼｯｸE" pitchFamily="50" charset="-128"/>
                </a:rPr>
                <a:t>/</a:t>
              </a:r>
              <a:r>
                <a:rPr kumimoji="1" lang="ja-JP" altLang="en-US" sz="1600" kern="0" dirty="0">
                  <a:solidFill>
                    <a:prstClr val="white"/>
                  </a:solidFill>
                  <a:latin typeface="HGPｺﾞｼｯｸE" pitchFamily="50" charset="-128"/>
                  <a:ea typeface="HGPｺﾞｼｯｸE" pitchFamily="50" charset="-128"/>
                </a:rPr>
                <a:t>監理</a:t>
              </a:r>
              <a:endParaRPr kumimoji="1" lang="ja-JP" altLang="en-US" sz="1400" b="0" i="0" u="none" strike="noStrike" kern="0" cap="none" spc="0" normalizeH="0" baseline="0" noProof="0" dirty="0">
                <a:ln>
                  <a:noFill/>
                </a:ln>
                <a:solidFill>
                  <a:prstClr val="black"/>
                </a:solidFill>
                <a:effectLst/>
                <a:uLnTx/>
                <a:uFillTx/>
                <a:latin typeface="HGPｺﾞｼｯｸE" pitchFamily="50" charset="-128"/>
                <a:ea typeface="HGPｺﾞｼｯｸE" pitchFamily="50" charset="-128"/>
              </a:endParaRPr>
            </a:p>
          </p:txBody>
        </p:sp>
        <p:pic>
          <p:nvPicPr>
            <p:cNvPr id="80" name="Picture 7" descr="C:\Documents\Pictures\Microsoft クリップ オーガナイザ\00428969.wmf">
              <a:extLst>
                <a:ext uri="{FF2B5EF4-FFF2-40B4-BE49-F238E27FC236}">
                  <a16:creationId xmlns:a16="http://schemas.microsoft.com/office/drawing/2014/main" id="{88731476-2744-797D-1765-036111D30EFE}"/>
                </a:ext>
              </a:extLst>
            </p:cNvPr>
            <p:cNvPicPr>
              <a:picLocks noChangeAspect="1" noChangeArrowheads="1"/>
            </p:cNvPicPr>
            <p:nvPr/>
          </p:nvPicPr>
          <p:blipFill>
            <a:blip r:embed="rId5" cstate="print"/>
            <a:srcRect/>
            <a:stretch>
              <a:fillRect/>
            </a:stretch>
          </p:blipFill>
          <p:spPr bwMode="gray">
            <a:xfrm>
              <a:off x="1314003" y="2667595"/>
              <a:ext cx="325888" cy="460137"/>
            </a:xfrm>
            <a:prstGeom prst="rect">
              <a:avLst/>
            </a:prstGeom>
            <a:noFill/>
          </p:spPr>
        </p:pic>
        <p:cxnSp>
          <p:nvCxnSpPr>
            <p:cNvPr id="83" name="直線矢印コネクタ 82">
              <a:extLst>
                <a:ext uri="{FF2B5EF4-FFF2-40B4-BE49-F238E27FC236}">
                  <a16:creationId xmlns:a16="http://schemas.microsoft.com/office/drawing/2014/main" id="{44A8535D-7584-6BE2-3E39-C90A6EB3052A}"/>
                </a:ext>
              </a:extLst>
            </p:cNvPr>
            <p:cNvCxnSpPr>
              <a:cxnSpLocks/>
            </p:cNvCxnSpPr>
            <p:nvPr/>
          </p:nvCxnSpPr>
          <p:spPr>
            <a:xfrm>
              <a:off x="2286000" y="3175887"/>
              <a:ext cx="12590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5" name="直線矢印コネクタ 84">
              <a:extLst>
                <a:ext uri="{FF2B5EF4-FFF2-40B4-BE49-F238E27FC236}">
                  <a16:creationId xmlns:a16="http://schemas.microsoft.com/office/drawing/2014/main" id="{1D85A7FD-BF7F-73C1-41F1-B44F71798A85}"/>
                </a:ext>
              </a:extLst>
            </p:cNvPr>
            <p:cNvCxnSpPr>
              <a:cxnSpLocks/>
            </p:cNvCxnSpPr>
            <p:nvPr/>
          </p:nvCxnSpPr>
          <p:spPr>
            <a:xfrm>
              <a:off x="4028882" y="3178935"/>
              <a:ext cx="32846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7" name="直線矢印コネクタ 86">
              <a:extLst>
                <a:ext uri="{FF2B5EF4-FFF2-40B4-BE49-F238E27FC236}">
                  <a16:creationId xmlns:a16="http://schemas.microsoft.com/office/drawing/2014/main" id="{0DD1948F-F9FE-DCDF-FF16-1303497C69C8}"/>
                </a:ext>
              </a:extLst>
            </p:cNvPr>
            <p:cNvCxnSpPr>
              <a:cxnSpLocks/>
            </p:cNvCxnSpPr>
            <p:nvPr/>
          </p:nvCxnSpPr>
          <p:spPr>
            <a:xfrm>
              <a:off x="4841397" y="3173472"/>
              <a:ext cx="4153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aphicFrame>
        <p:nvGraphicFramePr>
          <p:cNvPr id="2" name="表 1">
            <a:extLst>
              <a:ext uri="{FF2B5EF4-FFF2-40B4-BE49-F238E27FC236}">
                <a16:creationId xmlns:a16="http://schemas.microsoft.com/office/drawing/2014/main" id="{652931AB-5763-C6CB-5553-201DD957A259}"/>
              </a:ext>
            </a:extLst>
          </p:cNvPr>
          <p:cNvGraphicFramePr>
            <a:graphicFrameLocks noGrp="1"/>
          </p:cNvGraphicFramePr>
          <p:nvPr>
            <p:extLst>
              <p:ext uri="{D42A27DB-BD31-4B8C-83A1-F6EECF244321}">
                <p14:modId xmlns:p14="http://schemas.microsoft.com/office/powerpoint/2010/main" val="2570736159"/>
              </p:ext>
            </p:extLst>
          </p:nvPr>
        </p:nvGraphicFramePr>
        <p:xfrm>
          <a:off x="615177" y="4813237"/>
          <a:ext cx="4518011" cy="1444848"/>
        </p:xfrm>
        <a:graphic>
          <a:graphicData uri="http://schemas.openxmlformats.org/drawingml/2006/table">
            <a:tbl>
              <a:tblPr firstRow="1" bandRow="1">
                <a:tableStyleId>{073A0DAA-6AF3-43AB-8588-CEC1D06C72B9}</a:tableStyleId>
              </a:tblPr>
              <a:tblGrid>
                <a:gridCol w="833755">
                  <a:extLst>
                    <a:ext uri="{9D8B030D-6E8A-4147-A177-3AD203B41FA5}">
                      <a16:colId xmlns:a16="http://schemas.microsoft.com/office/drawing/2014/main" val="3017635136"/>
                    </a:ext>
                  </a:extLst>
                </a:gridCol>
                <a:gridCol w="921064">
                  <a:extLst>
                    <a:ext uri="{9D8B030D-6E8A-4147-A177-3AD203B41FA5}">
                      <a16:colId xmlns:a16="http://schemas.microsoft.com/office/drawing/2014/main" val="1307962584"/>
                    </a:ext>
                  </a:extLst>
                </a:gridCol>
                <a:gridCol w="921064">
                  <a:extLst>
                    <a:ext uri="{9D8B030D-6E8A-4147-A177-3AD203B41FA5}">
                      <a16:colId xmlns:a16="http://schemas.microsoft.com/office/drawing/2014/main" val="3382082185"/>
                    </a:ext>
                  </a:extLst>
                </a:gridCol>
                <a:gridCol w="921064">
                  <a:extLst>
                    <a:ext uri="{9D8B030D-6E8A-4147-A177-3AD203B41FA5}">
                      <a16:colId xmlns:a16="http://schemas.microsoft.com/office/drawing/2014/main" val="2988793335"/>
                    </a:ext>
                  </a:extLst>
                </a:gridCol>
                <a:gridCol w="921064">
                  <a:extLst>
                    <a:ext uri="{9D8B030D-6E8A-4147-A177-3AD203B41FA5}">
                      <a16:colId xmlns:a16="http://schemas.microsoft.com/office/drawing/2014/main" val="2293095525"/>
                    </a:ext>
                  </a:extLst>
                </a:gridCol>
              </a:tblGrid>
              <a:tr h="347568">
                <a:tc>
                  <a:txBody>
                    <a:bodyPr/>
                    <a:lstStyle/>
                    <a:p>
                      <a:r>
                        <a:rPr kumimoji="1" lang="ja-JP" altLang="en-US" sz="1200" dirty="0"/>
                        <a:t>案件種別</a:t>
                      </a:r>
                    </a:p>
                  </a:txBody>
                  <a:tcPr>
                    <a:solidFill>
                      <a:srgbClr val="0070C0"/>
                    </a:solidFill>
                  </a:tcPr>
                </a:tc>
                <a:tc>
                  <a:txBody>
                    <a:bodyPr/>
                    <a:lstStyle/>
                    <a:p>
                      <a:pPr algn="r"/>
                      <a:r>
                        <a:rPr kumimoji="1" lang="en-US" altLang="ja-JP" sz="1200" dirty="0"/>
                        <a:t>2022</a:t>
                      </a:r>
                      <a:r>
                        <a:rPr kumimoji="1" lang="ja-JP" altLang="en-US" sz="1200" dirty="0"/>
                        <a:t>年度</a:t>
                      </a:r>
                    </a:p>
                  </a:txBody>
                  <a:tcPr>
                    <a:solidFill>
                      <a:srgbClr val="0070C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200" dirty="0"/>
                        <a:t>2023</a:t>
                      </a:r>
                      <a:r>
                        <a:rPr kumimoji="1" lang="ja-JP" altLang="en-US" sz="1200" dirty="0"/>
                        <a:t>年度</a:t>
                      </a:r>
                    </a:p>
                  </a:txBody>
                  <a:tcPr>
                    <a:solidFill>
                      <a:srgbClr val="0070C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200" dirty="0"/>
                        <a:t>2024</a:t>
                      </a:r>
                      <a:r>
                        <a:rPr kumimoji="1" lang="ja-JP" altLang="en-US" sz="1200" dirty="0"/>
                        <a:t>年度</a:t>
                      </a:r>
                    </a:p>
                  </a:txBody>
                  <a:tcPr>
                    <a:solidFill>
                      <a:srgbClr val="0070C0"/>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200" dirty="0"/>
                        <a:t>2025</a:t>
                      </a:r>
                      <a:r>
                        <a:rPr kumimoji="1" lang="ja-JP" altLang="en-US" sz="1200" dirty="0"/>
                        <a:t>年度</a:t>
                      </a:r>
                    </a:p>
                  </a:txBody>
                  <a:tcPr>
                    <a:solidFill>
                      <a:srgbClr val="0070C0"/>
                    </a:solidFill>
                  </a:tcPr>
                </a:tc>
                <a:extLst>
                  <a:ext uri="{0D108BD9-81ED-4DB2-BD59-A6C34878D82A}">
                    <a16:rowId xmlns:a16="http://schemas.microsoft.com/office/drawing/2014/main" val="2618488754"/>
                  </a:ext>
                </a:extLst>
              </a:tr>
              <a:tr h="0">
                <a:tc>
                  <a:txBody>
                    <a:bodyPr/>
                    <a:lstStyle/>
                    <a:p>
                      <a:r>
                        <a:rPr kumimoji="1" lang="ja-JP" altLang="en-US" sz="1200" dirty="0"/>
                        <a:t>開発</a:t>
                      </a:r>
                    </a:p>
                  </a:txBody>
                  <a:tcPr/>
                </a:tc>
                <a:tc>
                  <a:txBody>
                    <a:bodyPr/>
                    <a:lstStyle/>
                    <a:p>
                      <a:pPr algn="r"/>
                      <a:r>
                        <a:rPr kumimoji="1" lang="en-US" altLang="ja-JP" sz="1200" dirty="0"/>
                        <a:t>14.2M\</a:t>
                      </a:r>
                    </a:p>
                  </a:txBody>
                  <a:tcPr/>
                </a:tc>
                <a:tc>
                  <a:txBody>
                    <a:bodyPr/>
                    <a:lstStyle/>
                    <a:p>
                      <a:pPr algn="r"/>
                      <a:r>
                        <a:rPr kumimoji="1" lang="en-US" altLang="ja-JP" sz="1200" dirty="0"/>
                        <a:t>48.6M\</a:t>
                      </a:r>
                      <a:endParaRPr kumimoji="1" lang="ja-JP" altLang="en-US" sz="1200" dirty="0"/>
                    </a:p>
                  </a:txBody>
                  <a:tcPr/>
                </a:tc>
                <a:tc>
                  <a:txBody>
                    <a:bodyPr/>
                    <a:lstStyle/>
                    <a:p>
                      <a:pPr algn="r"/>
                      <a:r>
                        <a:rPr kumimoji="1" lang="en-US" altLang="ja-JP" sz="1200" dirty="0"/>
                        <a:t>39.0M\</a:t>
                      </a:r>
                      <a:endParaRPr kumimoji="1" lang="ja-JP" altLang="en-US" sz="1200" dirty="0"/>
                    </a:p>
                  </a:txBody>
                  <a:tcPr/>
                </a:tc>
                <a:tc>
                  <a:txBody>
                    <a:bodyPr/>
                    <a:lstStyle/>
                    <a:p>
                      <a:pPr algn="r"/>
                      <a:r>
                        <a:rPr kumimoji="1" lang="en-US" altLang="ja-JP" sz="1200" dirty="0">
                          <a:solidFill>
                            <a:schemeClr val="tx1"/>
                          </a:solidFill>
                        </a:rPr>
                        <a:t>―</a:t>
                      </a:r>
                      <a:endParaRPr kumimoji="1" lang="ja-JP" altLang="en-US" sz="1200" dirty="0">
                        <a:solidFill>
                          <a:schemeClr val="tx1"/>
                        </a:solidFill>
                      </a:endParaRPr>
                    </a:p>
                  </a:txBody>
                  <a:tcPr/>
                </a:tc>
                <a:extLst>
                  <a:ext uri="{0D108BD9-81ED-4DB2-BD59-A6C34878D82A}">
                    <a16:rowId xmlns:a16="http://schemas.microsoft.com/office/drawing/2014/main" val="652891657"/>
                  </a:ext>
                </a:extLst>
              </a:tr>
              <a:tr h="0">
                <a:tc>
                  <a:txBody>
                    <a:bodyPr/>
                    <a:lstStyle/>
                    <a:p>
                      <a:r>
                        <a:rPr kumimoji="1" lang="ja-JP" altLang="en-US" sz="1200" dirty="0"/>
                        <a:t>物販</a:t>
                      </a:r>
                    </a:p>
                  </a:txBody>
                  <a:tcPr/>
                </a:tc>
                <a:tc>
                  <a:txBody>
                    <a:bodyPr/>
                    <a:lstStyle/>
                    <a:p>
                      <a:pPr algn="r"/>
                      <a:r>
                        <a:rPr kumimoji="1" lang="en-US" altLang="ja-JP" sz="1200" dirty="0"/>
                        <a:t>3.5M\</a:t>
                      </a:r>
                      <a:endParaRPr kumimoji="1" lang="ja-JP" altLang="en-US" sz="1200" dirty="0"/>
                    </a:p>
                  </a:txBody>
                  <a:tcPr/>
                </a:tc>
                <a:tc>
                  <a:txBody>
                    <a:bodyPr/>
                    <a:lstStyle/>
                    <a:p>
                      <a:pPr algn="r"/>
                      <a:r>
                        <a:rPr kumimoji="1" lang="en-US" altLang="ja-JP" sz="1200" dirty="0"/>
                        <a:t>1.2M\</a:t>
                      </a:r>
                      <a:endParaRPr kumimoji="1" lang="ja-JP" altLang="en-US" sz="1200" dirty="0"/>
                    </a:p>
                  </a:txBody>
                  <a:tcPr/>
                </a:tc>
                <a:tc>
                  <a:txBody>
                    <a:bodyPr/>
                    <a:lstStyle/>
                    <a:p>
                      <a:pPr algn="r"/>
                      <a:r>
                        <a:rPr kumimoji="1" lang="en-US" altLang="ja-JP" sz="1200" dirty="0"/>
                        <a:t>1.2M\</a:t>
                      </a:r>
                      <a:endParaRPr kumimoji="1" lang="ja-JP" altLang="en-US" sz="1200" dirty="0"/>
                    </a:p>
                  </a:txBody>
                  <a:tcPr/>
                </a:tc>
                <a:tc>
                  <a:txBody>
                    <a:bodyPr/>
                    <a:lstStyle/>
                    <a:p>
                      <a:pPr algn="r"/>
                      <a:r>
                        <a:rPr kumimoji="1" lang="en-US" altLang="ja-JP" sz="1200" dirty="0">
                          <a:solidFill>
                            <a:schemeClr val="tx1"/>
                          </a:solidFill>
                        </a:rPr>
                        <a:t>2.5M\</a:t>
                      </a:r>
                      <a:endParaRPr kumimoji="1" lang="ja-JP" altLang="en-US" sz="1200" dirty="0">
                        <a:solidFill>
                          <a:schemeClr val="tx1"/>
                        </a:solidFill>
                      </a:endParaRPr>
                    </a:p>
                  </a:txBody>
                  <a:tcPr/>
                </a:tc>
                <a:extLst>
                  <a:ext uri="{0D108BD9-81ED-4DB2-BD59-A6C34878D82A}">
                    <a16:rowId xmlns:a16="http://schemas.microsoft.com/office/drawing/2014/main" val="913770123"/>
                  </a:ext>
                </a:extLst>
              </a:tr>
              <a:tr h="0">
                <a:tc>
                  <a:txBody>
                    <a:bodyPr/>
                    <a:lstStyle/>
                    <a:p>
                      <a:r>
                        <a:rPr kumimoji="1" lang="ja-JP" altLang="en-US" sz="1200" dirty="0"/>
                        <a:t>保守</a:t>
                      </a:r>
                    </a:p>
                  </a:txBody>
                  <a:tcPr/>
                </a:tc>
                <a:tc>
                  <a:txBody>
                    <a:bodyPr/>
                    <a:lstStyle/>
                    <a:p>
                      <a:pPr algn="r"/>
                      <a:r>
                        <a:rPr kumimoji="1" lang="en-US" altLang="ja-JP" sz="1200" b="0" i="0" u="none" strike="noStrike" kern="1200" cap="none" spc="0" normalizeH="0" baseline="0" noProof="0" dirty="0">
                          <a:ln>
                            <a:noFill/>
                          </a:ln>
                          <a:solidFill>
                            <a:prstClr val="black"/>
                          </a:solidFill>
                          <a:effectLst/>
                          <a:uLnTx/>
                          <a:uFillTx/>
                          <a:latin typeface="Yu Gothic UI"/>
                          <a:ea typeface="+mn-ea"/>
                          <a:cs typeface="+mn-cs"/>
                        </a:rPr>
                        <a:t>―</a:t>
                      </a:r>
                      <a:endParaRPr kumimoji="1" lang="ja-JP" altLang="en-US" sz="1200" dirty="0"/>
                    </a:p>
                  </a:txBody>
                  <a:tcPr/>
                </a:tc>
                <a:tc>
                  <a:txBody>
                    <a:bodyPr/>
                    <a:lstStyle/>
                    <a:p>
                      <a:pPr algn="r"/>
                      <a:r>
                        <a:rPr kumimoji="1" lang="en-US" altLang="ja-JP" sz="1200" b="0" i="0" u="none" strike="noStrike" kern="1200" cap="none" spc="0" normalizeH="0" baseline="0" noProof="0" dirty="0">
                          <a:ln>
                            <a:noFill/>
                          </a:ln>
                          <a:solidFill>
                            <a:prstClr val="black"/>
                          </a:solidFill>
                          <a:effectLst/>
                          <a:uLnTx/>
                          <a:uFillTx/>
                          <a:latin typeface="Yu Gothic UI"/>
                          <a:ea typeface="+mn-ea"/>
                          <a:cs typeface="+mn-cs"/>
                        </a:rPr>
                        <a:t>―</a:t>
                      </a:r>
                      <a:endParaRPr kumimoji="1" lang="ja-JP" altLang="en-US" sz="1200" dirty="0"/>
                    </a:p>
                  </a:txBody>
                  <a:tcPr/>
                </a:tc>
                <a:tc>
                  <a:txBody>
                    <a:bodyPr/>
                    <a:lstStyle/>
                    <a:p>
                      <a:pPr algn="r"/>
                      <a:r>
                        <a:rPr kumimoji="1" lang="en-US" altLang="ja-JP" sz="1200" dirty="0"/>
                        <a:t>8.9M\</a:t>
                      </a:r>
                      <a:endParaRPr kumimoji="1" lang="ja-JP" altLang="en-US" sz="1200" dirty="0"/>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200" dirty="0">
                          <a:solidFill>
                            <a:schemeClr val="tx1"/>
                          </a:solidFill>
                        </a:rPr>
                        <a:t>21.8M\</a:t>
                      </a:r>
                      <a:endParaRPr kumimoji="1" lang="ja-JP" altLang="en-US" sz="1200" dirty="0">
                        <a:solidFill>
                          <a:schemeClr val="tx1"/>
                        </a:solidFill>
                      </a:endParaRPr>
                    </a:p>
                  </a:txBody>
                  <a:tcPr/>
                </a:tc>
                <a:extLst>
                  <a:ext uri="{0D108BD9-81ED-4DB2-BD59-A6C34878D82A}">
                    <a16:rowId xmlns:a16="http://schemas.microsoft.com/office/drawing/2014/main" val="3980255437"/>
                  </a:ext>
                </a:extLst>
              </a:tr>
              <a:tr h="0">
                <a:tc>
                  <a:txBody>
                    <a:bodyPr/>
                    <a:lstStyle/>
                    <a:p>
                      <a:pPr algn="r"/>
                      <a:r>
                        <a:rPr kumimoji="1" lang="ja-JP" altLang="en-US" sz="1200" dirty="0"/>
                        <a:t>計</a:t>
                      </a:r>
                    </a:p>
                  </a:txBody>
                  <a:tcPr/>
                </a:tc>
                <a:tc>
                  <a:txBody>
                    <a:bodyPr/>
                    <a:lstStyle/>
                    <a:p>
                      <a:pPr algn="r"/>
                      <a:r>
                        <a:rPr kumimoji="1" lang="en-US" altLang="ja-JP" sz="1200" dirty="0"/>
                        <a:t>17.7M\</a:t>
                      </a:r>
                      <a:endParaRPr kumimoji="1" lang="ja-JP" altLang="en-US" sz="1200" dirty="0"/>
                    </a:p>
                  </a:txBody>
                  <a:tcPr/>
                </a:tc>
                <a:tc>
                  <a:txBody>
                    <a:bodyPr/>
                    <a:lstStyle/>
                    <a:p>
                      <a:pPr algn="r"/>
                      <a:r>
                        <a:rPr kumimoji="1" lang="en-US" altLang="ja-JP" sz="1200" dirty="0"/>
                        <a:t>49.8M\</a:t>
                      </a:r>
                      <a:endParaRPr kumimoji="1" lang="ja-JP" altLang="en-US" sz="1200" dirty="0"/>
                    </a:p>
                  </a:txBody>
                  <a:tcPr/>
                </a:tc>
                <a:tc>
                  <a:txBody>
                    <a:bodyPr/>
                    <a:lstStyle/>
                    <a:p>
                      <a:pPr algn="r"/>
                      <a:r>
                        <a:rPr kumimoji="1" lang="en-US" altLang="ja-JP" sz="1200" dirty="0"/>
                        <a:t>49.1M\</a:t>
                      </a:r>
                      <a:endParaRPr kumimoji="1" lang="ja-JP" altLang="en-US" sz="1200" dirty="0"/>
                    </a:p>
                  </a:txBody>
                  <a:tcPr/>
                </a:tc>
                <a:tc>
                  <a:txBody>
                    <a:bodyPr/>
                    <a:lstStyle/>
                    <a:p>
                      <a:pPr algn="r"/>
                      <a:r>
                        <a:rPr kumimoji="1" lang="en-US" altLang="ja-JP" sz="1200" dirty="0">
                          <a:solidFill>
                            <a:schemeClr val="tx1"/>
                          </a:solidFill>
                        </a:rPr>
                        <a:t>24.3M\</a:t>
                      </a:r>
                      <a:endParaRPr kumimoji="1" lang="ja-JP" altLang="en-US" sz="1200" dirty="0">
                        <a:solidFill>
                          <a:schemeClr val="tx1"/>
                        </a:solidFill>
                      </a:endParaRPr>
                    </a:p>
                  </a:txBody>
                  <a:tcPr/>
                </a:tc>
                <a:extLst>
                  <a:ext uri="{0D108BD9-81ED-4DB2-BD59-A6C34878D82A}">
                    <a16:rowId xmlns:a16="http://schemas.microsoft.com/office/drawing/2014/main" val="1189180679"/>
                  </a:ext>
                </a:extLst>
              </a:tr>
            </a:tbl>
          </a:graphicData>
        </a:graphic>
      </p:graphicFrame>
    </p:spTree>
    <p:extLst>
      <p:ext uri="{BB962C8B-B14F-4D97-AF65-F5344CB8AC3E}">
        <p14:creationId xmlns:p14="http://schemas.microsoft.com/office/powerpoint/2010/main" val="15226195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9CFCA-4C53-A0D0-10FC-4DFBFCB4DAB6}"/>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4B8374F-F938-04ED-E7E9-D5FD6177E56D}"/>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mj-lt"/>
                <a:ea typeface="Yu Gothic UI" panose="020B0500000000000000" pitchFamily="50" charset="-128"/>
              </a:rPr>
              <a:pPr marL="0" marR="0" lvl="0" indent="0" algn="l" defTabSz="457200" rtl="0" eaLnBrk="1" fontAlgn="auto" latinLnBrk="0" hangingPunct="1">
                <a:lnSpc>
                  <a:spcPct val="100000"/>
                </a:lnSpc>
                <a:spcBef>
                  <a:spcPts val="0"/>
                </a:spcBef>
                <a:spcAft>
                  <a:spcPts val="0"/>
                </a:spcAft>
                <a:buClrTx/>
                <a:buSzTx/>
                <a:buFontTx/>
                <a:buNone/>
                <a:tabLst/>
                <a:defRPr/>
              </a:pPr>
              <a:t>6</a:t>
            </a:fld>
            <a:endParaRPr kumimoji="0" lang="en-GB" sz="800" b="1" i="0" u="none" strike="noStrike" kern="1200" cap="none" spc="0" normalizeH="0" baseline="0" noProof="0" dirty="0">
              <a:ln>
                <a:noFill/>
              </a:ln>
              <a:solidFill>
                <a:prstClr val="black"/>
              </a:solidFill>
              <a:effectLst/>
              <a:uLnTx/>
              <a:uFillTx/>
              <a:latin typeface="+mj-lt"/>
              <a:ea typeface="Yu Gothic UI" panose="020B0500000000000000" pitchFamily="50" charset="-128"/>
            </a:endParaRPr>
          </a:p>
        </p:txBody>
      </p:sp>
      <p:sp>
        <p:nvSpPr>
          <p:cNvPr id="36" name="テキスト プレースホルダー 4">
            <a:extLst>
              <a:ext uri="{FF2B5EF4-FFF2-40B4-BE49-F238E27FC236}">
                <a16:creationId xmlns:a16="http://schemas.microsoft.com/office/drawing/2014/main" id="{FECC8BF1-E616-B842-40A6-7A13263904BF}"/>
              </a:ext>
            </a:extLst>
          </p:cNvPr>
          <p:cNvSpPr>
            <a:spLocks noGrp="1"/>
          </p:cNvSpPr>
          <p:nvPr>
            <p:ph type="body" sz="half" idx="2"/>
          </p:nvPr>
        </p:nvSpPr>
        <p:spPr>
          <a:xfrm>
            <a:off x="463550" y="260617"/>
            <a:ext cx="3600000" cy="373115"/>
          </a:xfrm>
        </p:spPr>
        <p:txBody>
          <a:bodyPr/>
          <a:lstStyle/>
          <a:p>
            <a:r>
              <a:rPr kumimoji="1" lang="ja-JP" altLang="en-US" sz="1800" dirty="0">
                <a:latin typeface="Yu Gothic UI" panose="020B0500000000000000" pitchFamily="50" charset="-128"/>
                <a:ea typeface="Yu Gothic UI" panose="020B0500000000000000" pitchFamily="50" charset="-128"/>
              </a:rPr>
              <a:t>４．グループの現状把握</a:t>
            </a:r>
          </a:p>
        </p:txBody>
      </p:sp>
      <p:graphicFrame>
        <p:nvGraphicFramePr>
          <p:cNvPr id="5" name="表 5">
            <a:extLst>
              <a:ext uri="{FF2B5EF4-FFF2-40B4-BE49-F238E27FC236}">
                <a16:creationId xmlns:a16="http://schemas.microsoft.com/office/drawing/2014/main" id="{3BD8D331-20DF-4B3C-ADC1-71DD0FA5EEC5}"/>
              </a:ext>
            </a:extLst>
          </p:cNvPr>
          <p:cNvGraphicFramePr>
            <a:graphicFrameLocks noGrp="1"/>
          </p:cNvGraphicFramePr>
          <p:nvPr>
            <p:extLst>
              <p:ext uri="{D42A27DB-BD31-4B8C-83A1-F6EECF244321}">
                <p14:modId xmlns:p14="http://schemas.microsoft.com/office/powerpoint/2010/main" val="3676106343"/>
              </p:ext>
            </p:extLst>
          </p:nvPr>
        </p:nvGraphicFramePr>
        <p:xfrm>
          <a:off x="552103" y="2644697"/>
          <a:ext cx="5469924" cy="2273344"/>
        </p:xfrm>
        <a:graphic>
          <a:graphicData uri="http://schemas.openxmlformats.org/drawingml/2006/table">
            <a:tbl>
              <a:tblPr firstRow="1" bandRow="1">
                <a:tableStyleId>{5C22544A-7EE6-4342-B048-85BDC9FD1C3A}</a:tableStyleId>
              </a:tblPr>
              <a:tblGrid>
                <a:gridCol w="2734962">
                  <a:extLst>
                    <a:ext uri="{9D8B030D-6E8A-4147-A177-3AD203B41FA5}">
                      <a16:colId xmlns:a16="http://schemas.microsoft.com/office/drawing/2014/main" val="3613311589"/>
                    </a:ext>
                  </a:extLst>
                </a:gridCol>
                <a:gridCol w="2734962">
                  <a:extLst>
                    <a:ext uri="{9D8B030D-6E8A-4147-A177-3AD203B41FA5}">
                      <a16:colId xmlns:a16="http://schemas.microsoft.com/office/drawing/2014/main" val="844607081"/>
                    </a:ext>
                  </a:extLst>
                </a:gridCol>
              </a:tblGrid>
              <a:tr h="1136672">
                <a:tc>
                  <a:txBody>
                    <a:bodyPr/>
                    <a:lstStyle/>
                    <a:p>
                      <a:r>
                        <a:rPr kumimoji="1" lang="en-US" altLang="ja-JP" sz="1600" b="1" dirty="0">
                          <a:solidFill>
                            <a:sysClr val="windowText" lastClr="000000"/>
                          </a:solidFill>
                          <a:latin typeface="+mn-lt"/>
                        </a:rPr>
                        <a:t>Strengths</a:t>
                      </a:r>
                      <a:r>
                        <a:rPr kumimoji="1" lang="ja-JP" altLang="en-US" sz="1600" b="1" dirty="0">
                          <a:solidFill>
                            <a:sysClr val="windowText" lastClr="000000"/>
                          </a:solidFill>
                          <a:latin typeface="+mn-lt"/>
                        </a:rPr>
                        <a:t>（強み）</a:t>
                      </a:r>
                      <a:endParaRPr kumimoji="1" lang="en-US" altLang="ja-JP" sz="1600" b="1" dirty="0">
                        <a:solidFill>
                          <a:sysClr val="windowText" lastClr="000000"/>
                        </a:solidFill>
                        <a:latin typeface="+mn-lt"/>
                      </a:endParaRPr>
                    </a:p>
                    <a:p>
                      <a:r>
                        <a:rPr kumimoji="1" lang="ja-JP" altLang="en-US" sz="1400" b="0" dirty="0">
                          <a:solidFill>
                            <a:sysClr val="windowText" lastClr="000000"/>
                          </a:solidFill>
                          <a:latin typeface="+mn-lt"/>
                        </a:rPr>
                        <a:t>・東電</a:t>
                      </a:r>
                      <a:r>
                        <a:rPr kumimoji="1" lang="en-US" altLang="ja-JP" sz="1400" b="0" dirty="0">
                          <a:solidFill>
                            <a:sysClr val="windowText" lastClr="000000"/>
                          </a:solidFill>
                          <a:latin typeface="+mn-lt"/>
                        </a:rPr>
                        <a:t>HD</a:t>
                      </a:r>
                      <a:r>
                        <a:rPr kumimoji="1" lang="ja-JP" altLang="en-US" sz="1400" b="0" dirty="0">
                          <a:solidFill>
                            <a:sysClr val="windowText" lastClr="000000"/>
                          </a:solidFill>
                          <a:latin typeface="+mn-lt"/>
                        </a:rPr>
                        <a:t>での開発実績</a:t>
                      </a:r>
                      <a:endParaRPr kumimoji="1" lang="en-US" altLang="ja-JP" sz="1400" b="0" dirty="0">
                        <a:solidFill>
                          <a:sysClr val="windowText" lastClr="000000"/>
                        </a:solidFill>
                        <a:latin typeface="+mn-lt"/>
                      </a:endParaRPr>
                    </a:p>
                    <a:p>
                      <a:r>
                        <a:rPr kumimoji="1" lang="ja-JP" altLang="en-US" sz="1400" b="0" dirty="0">
                          <a:solidFill>
                            <a:sysClr val="windowText" lastClr="000000"/>
                          </a:solidFill>
                          <a:latin typeface="+mn-lt"/>
                        </a:rPr>
                        <a:t>・東電からの信頼</a:t>
                      </a:r>
                      <a:endParaRPr kumimoji="1" lang="en-US" altLang="ja-JP" sz="1400" b="0" dirty="0">
                        <a:solidFill>
                          <a:sysClr val="windowText" lastClr="000000"/>
                        </a:solidFill>
                        <a:latin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solidFill>
                            <a:sysClr val="windowText" lastClr="000000"/>
                          </a:solidFill>
                          <a:latin typeface="+mn-lt"/>
                        </a:rPr>
                        <a:t>・先進技術の知識・スキル</a:t>
                      </a:r>
                      <a:r>
                        <a:rPr kumimoji="1" lang="en-US" altLang="ja-JP" sz="1400" b="0" dirty="0">
                          <a:solidFill>
                            <a:sysClr val="windowText" lastClr="000000"/>
                          </a:solidFill>
                          <a:latin typeface="+mn-lt"/>
                        </a:rPr>
                        <a:t>(</a:t>
                      </a:r>
                      <a:r>
                        <a:rPr kumimoji="1" lang="ja-JP" altLang="en-US" sz="1400" b="0" dirty="0">
                          <a:solidFill>
                            <a:sysClr val="windowText" lastClr="000000"/>
                          </a:solidFill>
                          <a:latin typeface="+mn-lt"/>
                        </a:rPr>
                        <a:t>中堅層</a:t>
                      </a:r>
                      <a:r>
                        <a:rPr kumimoji="1" lang="en-US" altLang="ja-JP" sz="1400" b="0" dirty="0">
                          <a:solidFill>
                            <a:sysClr val="windowText" lastClr="000000"/>
                          </a:solidFill>
                          <a:latin typeface="+mn-lt"/>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600" b="1" dirty="0">
                          <a:solidFill>
                            <a:sysClr val="windowText" lastClr="000000"/>
                          </a:solidFill>
                          <a:latin typeface="+mn-lt"/>
                        </a:rPr>
                        <a:t>Weaknesses</a:t>
                      </a:r>
                      <a:r>
                        <a:rPr kumimoji="1" lang="ja-JP" altLang="en-US" sz="1600" b="1" dirty="0">
                          <a:solidFill>
                            <a:sysClr val="windowText" lastClr="000000"/>
                          </a:solidFill>
                          <a:latin typeface="+mn-lt"/>
                        </a:rPr>
                        <a:t>（弱み）</a:t>
                      </a:r>
                      <a:endParaRPr kumimoji="1" lang="en-US" altLang="ja-JP" sz="1600" b="1" dirty="0">
                        <a:solidFill>
                          <a:sysClr val="windowText" lastClr="000000"/>
                        </a:solidFill>
                        <a:latin typeface="+mn-lt"/>
                      </a:endParaRPr>
                    </a:p>
                    <a:p>
                      <a:r>
                        <a:rPr kumimoji="1" lang="ja-JP" altLang="en-US" sz="1400" b="1" dirty="0">
                          <a:solidFill>
                            <a:srgbClr val="FF0000"/>
                          </a:solidFill>
                          <a:latin typeface="+mn-lt"/>
                        </a:rPr>
                        <a:t>・人手不足による外注利用</a:t>
                      </a:r>
                      <a:endParaRPr kumimoji="1" lang="en-US" altLang="ja-JP" sz="1400" b="1" dirty="0">
                        <a:solidFill>
                          <a:srgbClr val="FF0000"/>
                        </a:solidFill>
                        <a:latin typeface="+mn-lt"/>
                      </a:endParaRPr>
                    </a:p>
                    <a:p>
                      <a:r>
                        <a:rPr kumimoji="1" lang="ja-JP" altLang="en-US" sz="1400" b="1" dirty="0">
                          <a:solidFill>
                            <a:srgbClr val="FF0000"/>
                          </a:solidFill>
                          <a:latin typeface="+mn-lt"/>
                        </a:rPr>
                        <a:t>・後進育成</a:t>
                      </a:r>
                      <a:endParaRPr kumimoji="1" lang="en-US" altLang="ja-JP" sz="1400" b="1"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2842634"/>
                  </a:ext>
                </a:extLst>
              </a:tr>
              <a:tr h="1136672">
                <a:tc>
                  <a:txBody>
                    <a:bodyPr/>
                    <a:lstStyle/>
                    <a:p>
                      <a:r>
                        <a:rPr kumimoji="1" lang="en-US" altLang="ja-JP" sz="1600" b="1" dirty="0">
                          <a:solidFill>
                            <a:sysClr val="windowText" lastClr="000000"/>
                          </a:solidFill>
                          <a:latin typeface="+mn-lt"/>
                        </a:rPr>
                        <a:t>Opportunities</a:t>
                      </a:r>
                      <a:r>
                        <a:rPr kumimoji="1" lang="ja-JP" altLang="en-US" sz="1600" b="1" dirty="0">
                          <a:solidFill>
                            <a:sysClr val="windowText" lastClr="000000"/>
                          </a:solidFill>
                          <a:latin typeface="+mn-lt"/>
                        </a:rPr>
                        <a:t>（機会）</a:t>
                      </a:r>
                      <a:endParaRPr kumimoji="1" lang="en-US" altLang="ja-JP" sz="1600" b="1" dirty="0">
                        <a:solidFill>
                          <a:sysClr val="windowText" lastClr="000000"/>
                        </a:solidFill>
                        <a:latin typeface="+mn-lt"/>
                      </a:endParaRPr>
                    </a:p>
                    <a:p>
                      <a:r>
                        <a:rPr kumimoji="1" lang="ja-JP" altLang="en-US" sz="1400" b="0" dirty="0">
                          <a:solidFill>
                            <a:sysClr val="windowText" lastClr="000000"/>
                          </a:solidFill>
                          <a:latin typeface="+mn-lt"/>
                        </a:rPr>
                        <a:t>・</a:t>
                      </a:r>
                      <a:r>
                        <a:rPr kumimoji="1" lang="en-US" altLang="ja-JP" sz="1400" b="0" dirty="0">
                          <a:solidFill>
                            <a:sysClr val="windowText" lastClr="000000"/>
                          </a:solidFill>
                          <a:latin typeface="+mn-lt"/>
                        </a:rPr>
                        <a:t>DX</a:t>
                      </a:r>
                      <a:r>
                        <a:rPr kumimoji="1" lang="ja-JP" altLang="en-US" sz="1400" b="0" dirty="0">
                          <a:solidFill>
                            <a:sysClr val="windowText" lastClr="000000"/>
                          </a:solidFill>
                          <a:latin typeface="+mn-lt"/>
                        </a:rPr>
                        <a:t>推進、研究開発</a:t>
                      </a:r>
                      <a:endParaRPr kumimoji="1" lang="en-US" altLang="ja-JP" sz="1400" b="0" dirty="0">
                        <a:solidFill>
                          <a:sysClr val="windowText" lastClr="000000"/>
                        </a:solidFill>
                        <a:latin typeface="+mn-lt"/>
                      </a:endParaRPr>
                    </a:p>
                    <a:p>
                      <a:r>
                        <a:rPr kumimoji="1" lang="ja-JP" altLang="en-US" sz="1400" b="0" dirty="0">
                          <a:solidFill>
                            <a:sysClr val="windowText" lastClr="000000"/>
                          </a:solidFill>
                          <a:latin typeface="+mn-lt"/>
                        </a:rPr>
                        <a:t>・若手社員の増加</a:t>
                      </a:r>
                      <a:endParaRPr kumimoji="1" lang="en-US" altLang="ja-JP" sz="1400" b="0" dirty="0">
                        <a:solidFill>
                          <a:sysClr val="windowText" lastClr="00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en-US" altLang="ja-JP" sz="1600" b="1" dirty="0">
                          <a:solidFill>
                            <a:sysClr val="windowText" lastClr="000000"/>
                          </a:solidFill>
                          <a:latin typeface="+mn-lt"/>
                        </a:rPr>
                        <a:t>Threats</a:t>
                      </a:r>
                      <a:r>
                        <a:rPr kumimoji="1" lang="ja-JP" altLang="en-US" sz="1600" b="1" dirty="0">
                          <a:solidFill>
                            <a:sysClr val="windowText" lastClr="000000"/>
                          </a:solidFill>
                          <a:latin typeface="+mn-lt"/>
                        </a:rPr>
                        <a:t>（脅威）</a:t>
                      </a:r>
                      <a:endParaRPr kumimoji="1" lang="en-US" altLang="ja-JP" sz="1600" b="1" dirty="0">
                        <a:solidFill>
                          <a:sysClr val="windowText" lastClr="000000"/>
                        </a:solidFill>
                        <a:latin typeface="+mn-lt"/>
                      </a:endParaRPr>
                    </a:p>
                    <a:p>
                      <a:r>
                        <a:rPr kumimoji="1" lang="ja-JP" altLang="en-US" sz="1400" b="0" dirty="0">
                          <a:solidFill>
                            <a:sysClr val="windowText" lastClr="000000"/>
                          </a:solidFill>
                          <a:latin typeface="+mn-lt"/>
                        </a:rPr>
                        <a:t>・技術革新、業界の変化</a:t>
                      </a:r>
                      <a:endParaRPr kumimoji="1" lang="en-US" altLang="ja-JP" sz="1400" b="0" dirty="0">
                        <a:solidFill>
                          <a:sysClr val="windowText" lastClr="000000"/>
                        </a:solidFill>
                        <a:latin typeface="+mn-lt"/>
                      </a:endParaRPr>
                    </a:p>
                    <a:p>
                      <a:r>
                        <a:rPr kumimoji="1" lang="ja-JP" altLang="en-US" sz="1400" b="1" dirty="0">
                          <a:solidFill>
                            <a:srgbClr val="FF0000"/>
                          </a:solidFill>
                          <a:latin typeface="+mn-lt"/>
                        </a:rPr>
                        <a:t>・中堅層の不足</a:t>
                      </a:r>
                      <a:endParaRPr kumimoji="1" lang="en-US" altLang="ja-JP" sz="1400" b="1" dirty="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99827012"/>
                  </a:ext>
                </a:extLst>
              </a:tr>
            </a:tbl>
          </a:graphicData>
        </a:graphic>
      </p:graphicFrame>
      <p:sp>
        <p:nvSpPr>
          <p:cNvPr id="9" name="テキスト ボックス 8">
            <a:extLst>
              <a:ext uri="{FF2B5EF4-FFF2-40B4-BE49-F238E27FC236}">
                <a16:creationId xmlns:a16="http://schemas.microsoft.com/office/drawing/2014/main" id="{85FE0844-CAAF-489B-99D4-9E067ADCFAFB}"/>
              </a:ext>
            </a:extLst>
          </p:cNvPr>
          <p:cNvSpPr txBox="1"/>
          <p:nvPr/>
        </p:nvSpPr>
        <p:spPr>
          <a:xfrm>
            <a:off x="2731745" y="2338529"/>
            <a:ext cx="1251286" cy="338554"/>
          </a:xfrm>
          <a:prstGeom prst="rect">
            <a:avLst/>
          </a:prstGeom>
          <a:noFill/>
        </p:spPr>
        <p:txBody>
          <a:bodyPr wrap="square" rtlCol="0">
            <a:spAutoFit/>
          </a:bodyPr>
          <a:lstStyle/>
          <a:p>
            <a:pPr lvl="0" defTabSz="914400" fontAlgn="base">
              <a:spcBef>
                <a:spcPct val="0"/>
              </a:spcBef>
              <a:spcAft>
                <a:spcPct val="0"/>
              </a:spcAft>
              <a:defRPr/>
            </a:pPr>
            <a:r>
              <a:rPr lang="en-US" altLang="ja-JP" sz="1600" b="1" i="0" dirty="0">
                <a:solidFill>
                  <a:srgbClr val="211512"/>
                </a:solidFill>
                <a:effectLst/>
                <a:latin typeface="+mj-lt"/>
                <a:ea typeface="Noto Sans JP" panose="020B0200000000000000" pitchFamily="50" charset="-128"/>
              </a:rPr>
              <a:t>SWOT</a:t>
            </a:r>
            <a:r>
              <a:rPr lang="ja-JP" altLang="en-US" sz="1600" b="1" i="0" dirty="0">
                <a:solidFill>
                  <a:srgbClr val="211512"/>
                </a:solidFill>
                <a:effectLst/>
                <a:latin typeface="+mj-lt"/>
                <a:ea typeface="Noto Sans JP" panose="020B0200000000000000" pitchFamily="50" charset="-128"/>
              </a:rPr>
              <a:t>分析</a:t>
            </a:r>
            <a:endParaRPr kumimoji="1" lang="en-US" altLang="ja-JP" sz="1400" b="1" i="0" u="none" strike="noStrike" kern="1200" cap="none" spc="0" normalizeH="0" baseline="0" noProof="0" dirty="0">
              <a:ln>
                <a:noFill/>
              </a:ln>
              <a:solidFill>
                <a:srgbClr val="FF0000"/>
              </a:solidFill>
              <a:effectLst/>
              <a:uLnTx/>
              <a:uFillTx/>
              <a:latin typeface="+mj-lt"/>
              <a:ea typeface="+mj-ea"/>
              <a:cs typeface="+mn-cs"/>
            </a:endParaRPr>
          </a:p>
        </p:txBody>
      </p:sp>
      <p:graphicFrame>
        <p:nvGraphicFramePr>
          <p:cNvPr id="7" name="グラフ 6">
            <a:extLst>
              <a:ext uri="{FF2B5EF4-FFF2-40B4-BE49-F238E27FC236}">
                <a16:creationId xmlns:a16="http://schemas.microsoft.com/office/drawing/2014/main" id="{6737A2E4-3BA1-A705-C2AE-E6D994231FC5}"/>
              </a:ext>
            </a:extLst>
          </p:cNvPr>
          <p:cNvGraphicFramePr>
            <a:graphicFrameLocks/>
          </p:cNvGraphicFramePr>
          <p:nvPr>
            <p:extLst>
              <p:ext uri="{D42A27DB-BD31-4B8C-83A1-F6EECF244321}">
                <p14:modId xmlns:p14="http://schemas.microsoft.com/office/powerpoint/2010/main" val="2616468690"/>
              </p:ext>
            </p:extLst>
          </p:nvPr>
        </p:nvGraphicFramePr>
        <p:xfrm>
          <a:off x="6022025" y="1824728"/>
          <a:ext cx="2564337" cy="3442894"/>
        </p:xfrm>
        <a:graphic>
          <a:graphicData uri="http://schemas.openxmlformats.org/drawingml/2006/chart">
            <c:chart xmlns:c="http://schemas.openxmlformats.org/drawingml/2006/chart" xmlns:r="http://schemas.openxmlformats.org/officeDocument/2006/relationships" r:id="rId2"/>
          </a:graphicData>
        </a:graphic>
      </p:graphicFrame>
      <p:sp>
        <p:nvSpPr>
          <p:cNvPr id="8" name="テキスト ボックス 7">
            <a:extLst>
              <a:ext uri="{FF2B5EF4-FFF2-40B4-BE49-F238E27FC236}">
                <a16:creationId xmlns:a16="http://schemas.microsoft.com/office/drawing/2014/main" id="{4EB64E72-BBCE-ECA8-B600-B040CC026C75}"/>
              </a:ext>
            </a:extLst>
          </p:cNvPr>
          <p:cNvSpPr txBox="1"/>
          <p:nvPr/>
        </p:nvSpPr>
        <p:spPr>
          <a:xfrm>
            <a:off x="552103" y="862742"/>
            <a:ext cx="8034261" cy="1077218"/>
          </a:xfrm>
          <a:prstGeom prst="rect">
            <a:avLst/>
          </a:prstGeom>
          <a:noFill/>
          <a:ln>
            <a:solidFill>
              <a:schemeClr val="tx1"/>
            </a:solidFill>
          </a:ln>
        </p:spPr>
        <p:txBody>
          <a:bodyPr wrap="square" rtlCol="0">
            <a:spAutoFit/>
          </a:bodyPr>
          <a:lstStyle/>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東電</a:t>
            </a:r>
            <a:r>
              <a:rPr lang="en-US" altLang="ja-JP" sz="1600" dirty="0">
                <a:latin typeface="Yu Gothic UI" panose="020B0500000000000000" pitchFamily="50" charset="-128"/>
                <a:ea typeface="Yu Gothic UI" panose="020B0500000000000000" pitchFamily="50" charset="-128"/>
                <a:cs typeface="Meiryo UI" panose="020B0604030504040204" pitchFamily="50" charset="-128"/>
              </a:rPr>
              <a:t>HD</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での開発ノウハウや先進技術の知識やスキルを持っていることが強みで、グループとしては売上を伸ばしてはいるが案件の遂行には外注を利用している。</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これはメンバーの半数以上が若手社員で</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中堅層が少ない</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ことから案件対応は中堅層を中心に外注を使っている状況となっており</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スキル蓄積が限定的</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でメンバーの成長が追い付いていない。</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p:txBody>
      </p:sp>
      <p:sp>
        <p:nvSpPr>
          <p:cNvPr id="3" name="正方形/長方形 2">
            <a:extLst>
              <a:ext uri="{FF2B5EF4-FFF2-40B4-BE49-F238E27FC236}">
                <a16:creationId xmlns:a16="http://schemas.microsoft.com/office/drawing/2014/main" id="{123706D4-A8CD-3125-D2C9-FE4FD6156DAF}"/>
              </a:ext>
            </a:extLst>
          </p:cNvPr>
          <p:cNvSpPr/>
          <p:nvPr/>
        </p:nvSpPr>
        <p:spPr>
          <a:xfrm>
            <a:off x="6022026" y="2644697"/>
            <a:ext cx="2564338" cy="227334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kumimoji="1" lang="ja-JP" altLang="en-US" sz="1400" dirty="0">
              <a:solidFill>
                <a:schemeClr val="tx1"/>
              </a:solidFill>
            </a:endParaRPr>
          </a:p>
        </p:txBody>
      </p:sp>
      <p:sp>
        <p:nvSpPr>
          <p:cNvPr id="6" name="矢印: 上 5">
            <a:extLst>
              <a:ext uri="{FF2B5EF4-FFF2-40B4-BE49-F238E27FC236}">
                <a16:creationId xmlns:a16="http://schemas.microsoft.com/office/drawing/2014/main" id="{6FEBBC04-7E08-6D17-80A4-C039AD06FE28}"/>
              </a:ext>
            </a:extLst>
          </p:cNvPr>
          <p:cNvSpPr/>
          <p:nvPr/>
        </p:nvSpPr>
        <p:spPr>
          <a:xfrm rot="10800000">
            <a:off x="3357388" y="5096224"/>
            <a:ext cx="2777066" cy="269308"/>
          </a:xfrm>
          <a:prstGeom prst="upArrow">
            <a:avLst>
              <a:gd name="adj1" fmla="val 50000"/>
              <a:gd name="adj2" fmla="val 71956"/>
            </a:avLst>
          </a:prstGeom>
          <a:gradFill flip="none" rotWithShape="1">
            <a:gsLst>
              <a:gs pos="0">
                <a:srgbClr val="CCECFF"/>
              </a:gs>
              <a:gs pos="74000">
                <a:srgbClr val="00B0F0"/>
              </a:gs>
              <a:gs pos="100000">
                <a:srgbClr val="00B0F0"/>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9CC07081-990F-64B0-871E-ECD5EC8EC975}"/>
              </a:ext>
            </a:extLst>
          </p:cNvPr>
          <p:cNvSpPr txBox="1"/>
          <p:nvPr/>
        </p:nvSpPr>
        <p:spPr>
          <a:xfrm>
            <a:off x="2338939" y="5622778"/>
            <a:ext cx="4812632" cy="338554"/>
          </a:xfrm>
          <a:prstGeom prst="rect">
            <a:avLst/>
          </a:prstGeom>
          <a:noFill/>
          <a:ln>
            <a:solidFill>
              <a:schemeClr val="tx1"/>
            </a:solidFill>
          </a:ln>
        </p:spPr>
        <p:txBody>
          <a:bodyPr wrap="square" rtlCol="0">
            <a:spAutoFit/>
          </a:bodyPr>
          <a:lstStyle/>
          <a:p>
            <a:pPr algn="ct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外注に頼らず内製で業務遂行できる体制作りが必要</a:t>
            </a:r>
            <a:endParaRPr lang="en-US" altLang="ja-JP" sz="1600" b="1" u="sng" dirty="0">
              <a:latin typeface="Yu Gothic UI" panose="020B0500000000000000" pitchFamily="50" charset="-128"/>
              <a:ea typeface="Yu Gothic UI" panose="020B0500000000000000" pitchFamily="50" charset="-128"/>
              <a:cs typeface="Meiryo UI" panose="020B0604030504040204" pitchFamily="50" charset="-128"/>
            </a:endParaRPr>
          </a:p>
        </p:txBody>
      </p:sp>
    </p:spTree>
    <p:extLst>
      <p:ext uri="{BB962C8B-B14F-4D97-AF65-F5344CB8AC3E}">
        <p14:creationId xmlns:p14="http://schemas.microsoft.com/office/powerpoint/2010/main" val="3162368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AB8E-FB8F-F176-A171-A62A2E799BE7}"/>
            </a:ext>
          </a:extLst>
        </p:cNvPr>
        <p:cNvGrpSpPr/>
        <p:nvPr/>
      </p:nvGrpSpPr>
      <p:grpSpPr>
        <a:xfrm>
          <a:off x="0" y="0"/>
          <a:ext cx="0" cy="0"/>
          <a:chOff x="0" y="0"/>
          <a:chExt cx="0" cy="0"/>
        </a:xfrm>
      </p:grpSpPr>
      <p:sp>
        <p:nvSpPr>
          <p:cNvPr id="36" name="テキスト プレースホルダー 4">
            <a:extLst>
              <a:ext uri="{FF2B5EF4-FFF2-40B4-BE49-F238E27FC236}">
                <a16:creationId xmlns:a16="http://schemas.microsoft.com/office/drawing/2014/main" id="{75BB77B0-E376-40EA-BDDD-E6D9A7C32055}"/>
              </a:ext>
            </a:extLst>
          </p:cNvPr>
          <p:cNvSpPr>
            <a:spLocks noGrp="1"/>
          </p:cNvSpPr>
          <p:nvPr>
            <p:ph type="body" sz="half" idx="2"/>
          </p:nvPr>
        </p:nvSpPr>
        <p:spPr>
          <a:xfrm>
            <a:off x="463550" y="260617"/>
            <a:ext cx="3600000" cy="373115"/>
          </a:xfrm>
        </p:spPr>
        <p:txBody>
          <a:bodyPr/>
          <a:lstStyle/>
          <a:p>
            <a:r>
              <a:rPr kumimoji="1" lang="ja-JP" altLang="en-US" sz="1800" dirty="0">
                <a:latin typeface="Yu Gothic UI" panose="020B0500000000000000" pitchFamily="50" charset="-128"/>
                <a:ea typeface="Yu Gothic UI" panose="020B0500000000000000" pitchFamily="50" charset="-128"/>
              </a:rPr>
              <a:t>５．成長戦略</a:t>
            </a:r>
          </a:p>
        </p:txBody>
      </p:sp>
      <p:sp>
        <p:nvSpPr>
          <p:cNvPr id="64" name="テキスト ボックス 63">
            <a:extLst>
              <a:ext uri="{FF2B5EF4-FFF2-40B4-BE49-F238E27FC236}">
                <a16:creationId xmlns:a16="http://schemas.microsoft.com/office/drawing/2014/main" id="{5BD368F3-F77E-C9A3-2FEF-8D5516F43A6C}"/>
              </a:ext>
            </a:extLst>
          </p:cNvPr>
          <p:cNvSpPr txBox="1"/>
          <p:nvPr/>
        </p:nvSpPr>
        <p:spPr>
          <a:xfrm>
            <a:off x="552103" y="862742"/>
            <a:ext cx="8034261" cy="830997"/>
          </a:xfrm>
          <a:prstGeom prst="rect">
            <a:avLst/>
          </a:prstGeom>
          <a:noFill/>
          <a:ln>
            <a:solidFill>
              <a:schemeClr val="tx1"/>
            </a:solidFill>
          </a:ln>
        </p:spPr>
        <p:txBody>
          <a:bodyPr wrap="square" rtlCol="0">
            <a:spAutoFit/>
          </a:bodyPr>
          <a:lstStyle/>
          <a:p>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営業部門と協力して新規顧客の獲得・販路拡大による売上増加</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で成長の土台を作り、派遣採用、若手の育成、シニア活用、派遣の社員化を行うことにより</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中堅層を育成・確保</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これらを行うことにより</a:t>
            </a:r>
            <a:r>
              <a:rPr lang="ja-JP" altLang="en-US" sz="1600" b="1" u="sng" kern="0" dirty="0">
                <a:solidFill>
                  <a:prstClr val="black"/>
                </a:solidFill>
                <a:latin typeface="Meiryo UI" panose="020B0604030504040204" pitchFamily="50" charset="-128"/>
                <a:ea typeface="Meiryo UI" panose="020B0604030504040204" pitchFamily="50" charset="-128"/>
              </a:rPr>
              <a:t>高度スキル要員を育成することで</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組織を成長</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させることを目標とする。</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p:txBody>
      </p:sp>
      <p:sp>
        <p:nvSpPr>
          <p:cNvPr id="65" name="スライド番号プレースホルダー 3">
            <a:extLst>
              <a:ext uri="{FF2B5EF4-FFF2-40B4-BE49-F238E27FC236}">
                <a16:creationId xmlns:a16="http://schemas.microsoft.com/office/drawing/2014/main" id="{82B13D76-2957-FFA4-2DFA-90C411B62722}"/>
              </a:ext>
            </a:extLst>
          </p:cNvPr>
          <p:cNvSpPr>
            <a:spLocks noGrp="1"/>
          </p:cNvSpPr>
          <p:nvPr>
            <p:ph type="sldNum" sz="quarter" idx="12"/>
          </p:nvPr>
        </p:nvSpPr>
        <p:spPr>
          <a:xfrm>
            <a:off x="463550" y="6354000"/>
            <a:ext cx="346450" cy="144000"/>
          </a:xfrm>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mj-lt"/>
                <a:ea typeface="Yu Gothic UI" panose="020B0500000000000000" pitchFamily="50" charset="-128"/>
              </a:rPr>
              <a:pPr marL="0" marR="0" lvl="0" indent="0" algn="l" defTabSz="457200" rtl="0" eaLnBrk="1" fontAlgn="auto" latinLnBrk="0" hangingPunct="1">
                <a:lnSpc>
                  <a:spcPct val="100000"/>
                </a:lnSpc>
                <a:spcBef>
                  <a:spcPts val="0"/>
                </a:spcBef>
                <a:spcAft>
                  <a:spcPts val="0"/>
                </a:spcAft>
                <a:buClrTx/>
                <a:buSzTx/>
                <a:buFontTx/>
                <a:buNone/>
                <a:tabLst/>
                <a:defRPr/>
              </a:pPr>
              <a:t>7</a:t>
            </a:fld>
            <a:endParaRPr kumimoji="0" lang="en-GB" sz="800" b="1" i="0" u="none" strike="noStrike" kern="1200" cap="none" spc="0" normalizeH="0" baseline="0" noProof="0" dirty="0">
              <a:ln>
                <a:noFill/>
              </a:ln>
              <a:solidFill>
                <a:prstClr val="black"/>
              </a:solidFill>
              <a:effectLst/>
              <a:uLnTx/>
              <a:uFillTx/>
              <a:latin typeface="+mj-lt"/>
              <a:ea typeface="Yu Gothic UI" panose="020B0500000000000000" pitchFamily="50" charset="-128"/>
            </a:endParaRPr>
          </a:p>
        </p:txBody>
      </p:sp>
      <p:sp>
        <p:nvSpPr>
          <p:cNvPr id="67" name="矢印: 上 66">
            <a:extLst>
              <a:ext uri="{FF2B5EF4-FFF2-40B4-BE49-F238E27FC236}">
                <a16:creationId xmlns:a16="http://schemas.microsoft.com/office/drawing/2014/main" id="{51F1ABFA-0A25-F73D-78E0-B91E61114981}"/>
              </a:ext>
            </a:extLst>
          </p:cNvPr>
          <p:cNvSpPr/>
          <p:nvPr/>
        </p:nvSpPr>
        <p:spPr>
          <a:xfrm rot="3951804">
            <a:off x="3332257" y="849411"/>
            <a:ext cx="865684" cy="6286364"/>
          </a:xfrm>
          <a:prstGeom prst="upArrow">
            <a:avLst>
              <a:gd name="adj1" fmla="val 50000"/>
              <a:gd name="adj2" fmla="val 71956"/>
            </a:avLst>
          </a:prstGeom>
          <a:gradFill flip="none" rotWithShape="1">
            <a:gsLst>
              <a:gs pos="0">
                <a:schemeClr val="accent1">
                  <a:lumMod val="5000"/>
                  <a:lumOff val="95000"/>
                  <a:alpha val="5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四角形: 角を丸くする 79">
            <a:extLst>
              <a:ext uri="{FF2B5EF4-FFF2-40B4-BE49-F238E27FC236}">
                <a16:creationId xmlns:a16="http://schemas.microsoft.com/office/drawing/2014/main" id="{C862F242-CC82-1171-6146-7DDE5DD26A22}"/>
              </a:ext>
            </a:extLst>
          </p:cNvPr>
          <p:cNvSpPr/>
          <p:nvPr/>
        </p:nvSpPr>
        <p:spPr>
          <a:xfrm>
            <a:off x="1307992" y="4250224"/>
            <a:ext cx="3145662" cy="318540"/>
          </a:xfrm>
          <a:prstGeom prst="roundRect">
            <a:avLst>
              <a:gd name="adj" fmla="val 50000"/>
            </a:avLst>
          </a:prstGeom>
          <a:solidFill>
            <a:srgbClr val="0070C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200" b="1" kern="0" dirty="0">
                <a:solidFill>
                  <a:schemeClr val="bg1"/>
                </a:solidFill>
                <a:latin typeface="Yu Gothic UI"/>
                <a:ea typeface="Yu Gothic UI" panose="020B0500000000000000" pitchFamily="50" charset="-128"/>
              </a:rPr>
              <a:t>派遣採用等による業務負荷軽減</a:t>
            </a:r>
          </a:p>
        </p:txBody>
      </p:sp>
      <p:sp>
        <p:nvSpPr>
          <p:cNvPr id="81" name="四角形: 角を丸くする 80">
            <a:extLst>
              <a:ext uri="{FF2B5EF4-FFF2-40B4-BE49-F238E27FC236}">
                <a16:creationId xmlns:a16="http://schemas.microsoft.com/office/drawing/2014/main" id="{18E4D0C4-FC37-219D-2391-9FE6224C2C07}"/>
              </a:ext>
            </a:extLst>
          </p:cNvPr>
          <p:cNvSpPr/>
          <p:nvPr/>
        </p:nvSpPr>
        <p:spPr>
          <a:xfrm>
            <a:off x="695900" y="5203796"/>
            <a:ext cx="5533639" cy="318540"/>
          </a:xfrm>
          <a:prstGeom prst="roundRect">
            <a:avLst>
              <a:gd name="adj" fmla="val 50000"/>
            </a:avLst>
          </a:prstGeom>
          <a:solidFill>
            <a:srgbClr val="0070C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200" b="1" kern="0" dirty="0">
                <a:solidFill>
                  <a:schemeClr val="bg1"/>
                </a:solidFill>
                <a:latin typeface="Yu Gothic UI"/>
                <a:ea typeface="Yu Gothic UI" panose="020B0500000000000000" pitchFamily="50" charset="-128"/>
              </a:rPr>
              <a:t>営業部門と協力して新規顧客の獲得・販路拡大</a:t>
            </a:r>
            <a:endParaRPr kumimoji="1" lang="en-US" altLang="ja-JP" sz="1200" b="1" kern="0" dirty="0">
              <a:solidFill>
                <a:schemeClr val="bg1"/>
              </a:solidFill>
              <a:latin typeface="Yu Gothic UI"/>
              <a:ea typeface="Yu Gothic UI" panose="020B0500000000000000" pitchFamily="50" charset="-128"/>
            </a:endParaRPr>
          </a:p>
        </p:txBody>
      </p:sp>
      <p:sp>
        <p:nvSpPr>
          <p:cNvPr id="83" name="四角形: 角を丸くする 82">
            <a:extLst>
              <a:ext uri="{FF2B5EF4-FFF2-40B4-BE49-F238E27FC236}">
                <a16:creationId xmlns:a16="http://schemas.microsoft.com/office/drawing/2014/main" id="{9EBD0D05-4754-96A3-278C-214CE2DB634B}"/>
              </a:ext>
            </a:extLst>
          </p:cNvPr>
          <p:cNvSpPr/>
          <p:nvPr/>
        </p:nvSpPr>
        <p:spPr>
          <a:xfrm>
            <a:off x="4454742" y="3453214"/>
            <a:ext cx="1775885" cy="318540"/>
          </a:xfrm>
          <a:prstGeom prst="roundRect">
            <a:avLst>
              <a:gd name="adj" fmla="val 50000"/>
            </a:avLst>
          </a:prstGeom>
          <a:solidFill>
            <a:srgbClr val="0070C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200" b="1" kern="0" dirty="0">
                <a:solidFill>
                  <a:schemeClr val="bg1"/>
                </a:solidFill>
                <a:latin typeface="Yu Gothic UI"/>
                <a:ea typeface="Yu Gothic UI" panose="020B0500000000000000" pitchFamily="50" charset="-128"/>
              </a:rPr>
              <a:t>派遣の社員化</a:t>
            </a:r>
            <a:endParaRPr kumimoji="1" lang="en-US" altLang="ja-JP" sz="1200" b="1" kern="0" dirty="0">
              <a:solidFill>
                <a:schemeClr val="bg1"/>
              </a:solidFill>
              <a:latin typeface="Yu Gothic UI"/>
              <a:ea typeface="Yu Gothic UI" panose="020B0500000000000000" pitchFamily="50" charset="-128"/>
            </a:endParaRPr>
          </a:p>
        </p:txBody>
      </p:sp>
      <p:sp>
        <p:nvSpPr>
          <p:cNvPr id="102" name="四角形: 角を丸くする 101">
            <a:extLst>
              <a:ext uri="{FF2B5EF4-FFF2-40B4-BE49-F238E27FC236}">
                <a16:creationId xmlns:a16="http://schemas.microsoft.com/office/drawing/2014/main" id="{202ACE91-C6DD-D9FD-C6EE-ED2C5D25ED86}"/>
              </a:ext>
            </a:extLst>
          </p:cNvPr>
          <p:cNvSpPr/>
          <p:nvPr/>
        </p:nvSpPr>
        <p:spPr>
          <a:xfrm>
            <a:off x="4453654" y="3118226"/>
            <a:ext cx="1775885" cy="318540"/>
          </a:xfrm>
          <a:prstGeom prst="roundRect">
            <a:avLst>
              <a:gd name="adj" fmla="val 50000"/>
            </a:avLst>
          </a:prstGeom>
          <a:solidFill>
            <a:srgbClr val="0070C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200" b="1" kern="0" dirty="0">
                <a:solidFill>
                  <a:schemeClr val="bg1"/>
                </a:solidFill>
                <a:latin typeface="Yu Gothic UI"/>
                <a:ea typeface="Yu Gothic UI" panose="020B0500000000000000" pitchFamily="50" charset="-128"/>
              </a:rPr>
              <a:t>シニア活用</a:t>
            </a:r>
            <a:endParaRPr kumimoji="1" lang="en-US" altLang="ja-JP" sz="1200" b="1" kern="0" dirty="0">
              <a:solidFill>
                <a:schemeClr val="bg1"/>
              </a:solidFill>
              <a:latin typeface="Yu Gothic UI"/>
              <a:ea typeface="Yu Gothic UI" panose="020B0500000000000000" pitchFamily="50" charset="-128"/>
            </a:endParaRPr>
          </a:p>
        </p:txBody>
      </p:sp>
      <p:sp>
        <p:nvSpPr>
          <p:cNvPr id="103" name="フローチャート: 代替処理 102">
            <a:extLst>
              <a:ext uri="{FF2B5EF4-FFF2-40B4-BE49-F238E27FC236}">
                <a16:creationId xmlns:a16="http://schemas.microsoft.com/office/drawing/2014/main" id="{91FECE94-9ACB-506C-7CBB-0642CAFA7C9C}"/>
              </a:ext>
            </a:extLst>
          </p:cNvPr>
          <p:cNvSpPr/>
          <p:nvPr/>
        </p:nvSpPr>
        <p:spPr>
          <a:xfrm>
            <a:off x="6650627" y="2112136"/>
            <a:ext cx="1770473" cy="736221"/>
          </a:xfrm>
          <a:prstGeom prst="flowChartAlternateProcess">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高度スキルを取得したプロフェッショナル集団に成長</a:t>
            </a:r>
          </a:p>
        </p:txBody>
      </p:sp>
      <p:sp>
        <p:nvSpPr>
          <p:cNvPr id="104" name="四角形: 角を丸くする 103">
            <a:extLst>
              <a:ext uri="{FF2B5EF4-FFF2-40B4-BE49-F238E27FC236}">
                <a16:creationId xmlns:a16="http://schemas.microsoft.com/office/drawing/2014/main" id="{15D56022-429A-B81E-95C3-4A314AEAEB2B}"/>
              </a:ext>
            </a:extLst>
          </p:cNvPr>
          <p:cNvSpPr/>
          <p:nvPr/>
        </p:nvSpPr>
        <p:spPr>
          <a:xfrm>
            <a:off x="2245460" y="3858392"/>
            <a:ext cx="3984079" cy="302102"/>
          </a:xfrm>
          <a:prstGeom prst="roundRect">
            <a:avLst>
              <a:gd name="adj" fmla="val 50000"/>
            </a:avLst>
          </a:prstGeom>
          <a:solidFill>
            <a:srgbClr val="0070C0"/>
          </a:solidFill>
          <a:ln w="1905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200" b="1" kern="0" dirty="0">
                <a:solidFill>
                  <a:schemeClr val="bg1"/>
                </a:solidFill>
                <a:latin typeface="Yu Gothic UI"/>
                <a:ea typeface="Yu Gothic UI" panose="020B0500000000000000" pitchFamily="50" charset="-128"/>
              </a:rPr>
              <a:t>若手の育成・スキル継承</a:t>
            </a:r>
          </a:p>
        </p:txBody>
      </p:sp>
      <p:sp>
        <p:nvSpPr>
          <p:cNvPr id="107" name="フローチャート: 代替処理 106">
            <a:extLst>
              <a:ext uri="{FF2B5EF4-FFF2-40B4-BE49-F238E27FC236}">
                <a16:creationId xmlns:a16="http://schemas.microsoft.com/office/drawing/2014/main" id="{37E14204-E098-9E7C-9142-5EFAC4B35FF4}"/>
              </a:ext>
            </a:extLst>
          </p:cNvPr>
          <p:cNvSpPr/>
          <p:nvPr/>
        </p:nvSpPr>
        <p:spPr>
          <a:xfrm>
            <a:off x="6677628" y="5203797"/>
            <a:ext cx="1770473" cy="318540"/>
          </a:xfrm>
          <a:prstGeom prst="flowChartAlternateProcess">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売上増加</a:t>
            </a:r>
          </a:p>
        </p:txBody>
      </p:sp>
      <p:sp>
        <p:nvSpPr>
          <p:cNvPr id="110" name="フローチャート: 代替処理 109">
            <a:extLst>
              <a:ext uri="{FF2B5EF4-FFF2-40B4-BE49-F238E27FC236}">
                <a16:creationId xmlns:a16="http://schemas.microsoft.com/office/drawing/2014/main" id="{EF88985B-3E9D-CD9E-01B6-64A8FE3998C9}"/>
              </a:ext>
            </a:extLst>
          </p:cNvPr>
          <p:cNvSpPr/>
          <p:nvPr/>
        </p:nvSpPr>
        <p:spPr>
          <a:xfrm>
            <a:off x="6659490" y="4250224"/>
            <a:ext cx="1794520" cy="318540"/>
          </a:xfrm>
          <a:prstGeom prst="flowChartAlternateProcess">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育成余力の創出</a:t>
            </a:r>
          </a:p>
        </p:txBody>
      </p:sp>
      <p:sp>
        <p:nvSpPr>
          <p:cNvPr id="112" name="フローチャート: 代替処理 111">
            <a:extLst>
              <a:ext uri="{FF2B5EF4-FFF2-40B4-BE49-F238E27FC236}">
                <a16:creationId xmlns:a16="http://schemas.microsoft.com/office/drawing/2014/main" id="{D1F0E985-9D62-9B85-7B6D-7326203A279D}"/>
              </a:ext>
            </a:extLst>
          </p:cNvPr>
          <p:cNvSpPr/>
          <p:nvPr/>
        </p:nvSpPr>
        <p:spPr>
          <a:xfrm>
            <a:off x="6650627" y="3838046"/>
            <a:ext cx="1794520" cy="318540"/>
          </a:xfrm>
          <a:prstGeom prst="flowChartAlternateProcess">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指導力の強化</a:t>
            </a:r>
          </a:p>
        </p:txBody>
      </p:sp>
      <p:sp>
        <p:nvSpPr>
          <p:cNvPr id="113" name="フローチャート: 代替処理 112">
            <a:extLst>
              <a:ext uri="{FF2B5EF4-FFF2-40B4-BE49-F238E27FC236}">
                <a16:creationId xmlns:a16="http://schemas.microsoft.com/office/drawing/2014/main" id="{D650D3BA-B138-09A4-0124-6DD6F5198BED}"/>
              </a:ext>
            </a:extLst>
          </p:cNvPr>
          <p:cNvSpPr/>
          <p:nvPr/>
        </p:nvSpPr>
        <p:spPr>
          <a:xfrm>
            <a:off x="6659489" y="3249637"/>
            <a:ext cx="1794520" cy="318540"/>
          </a:xfrm>
          <a:prstGeom prst="flowChartAlternateProcess">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rPr>
              <a:t>即戦力</a:t>
            </a:r>
          </a:p>
        </p:txBody>
      </p:sp>
      <p:cxnSp>
        <p:nvCxnSpPr>
          <p:cNvPr id="114" name="直線コネクタ 113">
            <a:extLst>
              <a:ext uri="{FF2B5EF4-FFF2-40B4-BE49-F238E27FC236}">
                <a16:creationId xmlns:a16="http://schemas.microsoft.com/office/drawing/2014/main" id="{A75E96FF-3992-75FA-697B-348CD06EE852}"/>
              </a:ext>
            </a:extLst>
          </p:cNvPr>
          <p:cNvCxnSpPr>
            <a:cxnSpLocks/>
            <a:stCxn id="81" idx="3"/>
            <a:endCxn id="107" idx="1"/>
          </p:cNvCxnSpPr>
          <p:nvPr/>
        </p:nvCxnSpPr>
        <p:spPr>
          <a:xfrm>
            <a:off x="6229539" y="5363066"/>
            <a:ext cx="448089" cy="1"/>
          </a:xfrm>
          <a:prstGeom prst="line">
            <a:avLst/>
          </a:prstGeom>
        </p:spPr>
        <p:style>
          <a:lnRef idx="2">
            <a:schemeClr val="accent1"/>
          </a:lnRef>
          <a:fillRef idx="0">
            <a:schemeClr val="accent1"/>
          </a:fillRef>
          <a:effectRef idx="1">
            <a:schemeClr val="accent1"/>
          </a:effectRef>
          <a:fontRef idx="minor">
            <a:schemeClr val="tx1"/>
          </a:fontRef>
        </p:style>
      </p:cxnSp>
      <p:cxnSp>
        <p:nvCxnSpPr>
          <p:cNvPr id="118" name="直線コネクタ 117">
            <a:extLst>
              <a:ext uri="{FF2B5EF4-FFF2-40B4-BE49-F238E27FC236}">
                <a16:creationId xmlns:a16="http://schemas.microsoft.com/office/drawing/2014/main" id="{59226D99-92F8-0717-0000-4BB16567F2F1}"/>
              </a:ext>
            </a:extLst>
          </p:cNvPr>
          <p:cNvCxnSpPr>
            <a:cxnSpLocks/>
            <a:stCxn id="80" idx="3"/>
            <a:endCxn id="110" idx="1"/>
          </p:cNvCxnSpPr>
          <p:nvPr/>
        </p:nvCxnSpPr>
        <p:spPr>
          <a:xfrm>
            <a:off x="4453654" y="4409494"/>
            <a:ext cx="220583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2" name="直線コネクタ 121">
            <a:extLst>
              <a:ext uri="{FF2B5EF4-FFF2-40B4-BE49-F238E27FC236}">
                <a16:creationId xmlns:a16="http://schemas.microsoft.com/office/drawing/2014/main" id="{1A2E246D-5896-DA4C-02AE-132EB76E0DC0}"/>
              </a:ext>
            </a:extLst>
          </p:cNvPr>
          <p:cNvCxnSpPr>
            <a:cxnSpLocks/>
            <a:stCxn id="104" idx="3"/>
            <a:endCxn id="112" idx="1"/>
          </p:cNvCxnSpPr>
          <p:nvPr/>
        </p:nvCxnSpPr>
        <p:spPr>
          <a:xfrm flipV="1">
            <a:off x="6229539" y="3997316"/>
            <a:ext cx="421088" cy="12127"/>
          </a:xfrm>
          <a:prstGeom prst="line">
            <a:avLst/>
          </a:prstGeom>
        </p:spPr>
        <p:style>
          <a:lnRef idx="2">
            <a:schemeClr val="accent1"/>
          </a:lnRef>
          <a:fillRef idx="0">
            <a:schemeClr val="accent1"/>
          </a:fillRef>
          <a:effectRef idx="1">
            <a:schemeClr val="accent1"/>
          </a:effectRef>
          <a:fontRef idx="minor">
            <a:schemeClr val="tx1"/>
          </a:fontRef>
        </p:style>
      </p:cxnSp>
      <p:cxnSp>
        <p:nvCxnSpPr>
          <p:cNvPr id="125" name="直線コネクタ 124">
            <a:extLst>
              <a:ext uri="{FF2B5EF4-FFF2-40B4-BE49-F238E27FC236}">
                <a16:creationId xmlns:a16="http://schemas.microsoft.com/office/drawing/2014/main" id="{0F1299EF-BE6A-446A-D7B7-901D3AE9E148}"/>
              </a:ext>
            </a:extLst>
          </p:cNvPr>
          <p:cNvCxnSpPr>
            <a:cxnSpLocks/>
            <a:stCxn id="102" idx="3"/>
            <a:endCxn id="113" idx="1"/>
          </p:cNvCxnSpPr>
          <p:nvPr/>
        </p:nvCxnSpPr>
        <p:spPr>
          <a:xfrm>
            <a:off x="6229539" y="3277496"/>
            <a:ext cx="429950" cy="131411"/>
          </a:xfrm>
          <a:prstGeom prst="line">
            <a:avLst/>
          </a:prstGeom>
        </p:spPr>
        <p:style>
          <a:lnRef idx="2">
            <a:schemeClr val="accent1"/>
          </a:lnRef>
          <a:fillRef idx="0">
            <a:schemeClr val="accent1"/>
          </a:fillRef>
          <a:effectRef idx="1">
            <a:schemeClr val="accent1"/>
          </a:effectRef>
          <a:fontRef idx="minor">
            <a:schemeClr val="tx1"/>
          </a:fontRef>
        </p:style>
      </p:cxnSp>
      <p:cxnSp>
        <p:nvCxnSpPr>
          <p:cNvPr id="128" name="直線コネクタ 127">
            <a:extLst>
              <a:ext uri="{FF2B5EF4-FFF2-40B4-BE49-F238E27FC236}">
                <a16:creationId xmlns:a16="http://schemas.microsoft.com/office/drawing/2014/main" id="{922CE714-F4E5-4727-F44B-C0B0466344CF}"/>
              </a:ext>
            </a:extLst>
          </p:cNvPr>
          <p:cNvCxnSpPr>
            <a:cxnSpLocks/>
            <a:stCxn id="83" idx="3"/>
            <a:endCxn id="113" idx="1"/>
          </p:cNvCxnSpPr>
          <p:nvPr/>
        </p:nvCxnSpPr>
        <p:spPr>
          <a:xfrm flipV="1">
            <a:off x="6230627" y="3408907"/>
            <a:ext cx="428862" cy="203577"/>
          </a:xfrm>
          <a:prstGeom prst="line">
            <a:avLst/>
          </a:prstGeom>
        </p:spPr>
        <p:style>
          <a:lnRef idx="2">
            <a:schemeClr val="accent1"/>
          </a:lnRef>
          <a:fillRef idx="0">
            <a:schemeClr val="accent1"/>
          </a:fillRef>
          <a:effectRef idx="1">
            <a:schemeClr val="accent1"/>
          </a:effectRef>
          <a:fontRef idx="minor">
            <a:schemeClr val="tx1"/>
          </a:fontRef>
        </p:style>
      </p:cxnSp>
      <p:sp>
        <p:nvSpPr>
          <p:cNvPr id="131" name="正方形/長方形 130">
            <a:extLst>
              <a:ext uri="{FF2B5EF4-FFF2-40B4-BE49-F238E27FC236}">
                <a16:creationId xmlns:a16="http://schemas.microsoft.com/office/drawing/2014/main" id="{972F00C5-38A5-64A9-69DE-378BAD090E98}"/>
              </a:ext>
            </a:extLst>
          </p:cNvPr>
          <p:cNvSpPr/>
          <p:nvPr/>
        </p:nvSpPr>
        <p:spPr>
          <a:xfrm>
            <a:off x="6567660" y="3069170"/>
            <a:ext cx="2018704" cy="285532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kumimoji="1" lang="ja-JP" altLang="en-US" sz="1400" dirty="0">
                <a:solidFill>
                  <a:schemeClr val="tx1"/>
                </a:solidFill>
              </a:rPr>
              <a:t>成果</a:t>
            </a:r>
          </a:p>
        </p:txBody>
      </p:sp>
      <p:sp>
        <p:nvSpPr>
          <p:cNvPr id="132" name="正方形/長方形 131">
            <a:extLst>
              <a:ext uri="{FF2B5EF4-FFF2-40B4-BE49-F238E27FC236}">
                <a16:creationId xmlns:a16="http://schemas.microsoft.com/office/drawing/2014/main" id="{72786D2E-8949-3578-EA2F-20DB3F079C9E}"/>
              </a:ext>
            </a:extLst>
          </p:cNvPr>
          <p:cNvSpPr/>
          <p:nvPr/>
        </p:nvSpPr>
        <p:spPr>
          <a:xfrm>
            <a:off x="552104" y="4789218"/>
            <a:ext cx="5842330" cy="113266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400" dirty="0">
                <a:solidFill>
                  <a:schemeClr val="tx1"/>
                </a:solidFill>
              </a:rPr>
              <a:t>販路拡大による売上増加</a:t>
            </a:r>
          </a:p>
        </p:txBody>
      </p:sp>
      <p:sp>
        <p:nvSpPr>
          <p:cNvPr id="134" name="正方形/長方形 133">
            <a:extLst>
              <a:ext uri="{FF2B5EF4-FFF2-40B4-BE49-F238E27FC236}">
                <a16:creationId xmlns:a16="http://schemas.microsoft.com/office/drawing/2014/main" id="{5466A74A-DAA1-1A16-3AA6-D7A9B44FEA90}"/>
              </a:ext>
            </a:extLst>
          </p:cNvPr>
          <p:cNvSpPr/>
          <p:nvPr/>
        </p:nvSpPr>
        <p:spPr>
          <a:xfrm>
            <a:off x="6567660" y="1825150"/>
            <a:ext cx="2018704" cy="108142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400" dirty="0">
                <a:solidFill>
                  <a:schemeClr val="tx1"/>
                </a:solidFill>
              </a:rPr>
              <a:t>目標</a:t>
            </a:r>
          </a:p>
        </p:txBody>
      </p:sp>
      <p:sp>
        <p:nvSpPr>
          <p:cNvPr id="109" name="正方形/長方形 108">
            <a:extLst>
              <a:ext uri="{FF2B5EF4-FFF2-40B4-BE49-F238E27FC236}">
                <a16:creationId xmlns:a16="http://schemas.microsoft.com/office/drawing/2014/main" id="{84B3AEF6-AAF6-F723-A733-56E225FA3701}"/>
              </a:ext>
            </a:extLst>
          </p:cNvPr>
          <p:cNvSpPr/>
          <p:nvPr/>
        </p:nvSpPr>
        <p:spPr>
          <a:xfrm>
            <a:off x="1134358" y="3069170"/>
            <a:ext cx="5264242" cy="154944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400" dirty="0">
                <a:solidFill>
                  <a:schemeClr val="tx1"/>
                </a:solidFill>
              </a:rPr>
              <a:t>中堅層の育成・確保</a:t>
            </a:r>
          </a:p>
        </p:txBody>
      </p:sp>
    </p:spTree>
    <p:extLst>
      <p:ext uri="{BB962C8B-B14F-4D97-AF65-F5344CB8AC3E}">
        <p14:creationId xmlns:p14="http://schemas.microsoft.com/office/powerpoint/2010/main" val="1038987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60E1B-5CEE-AE1C-8E21-542778994687}"/>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0369EC6-6FEF-9766-B4A1-5997A86DF5E5}"/>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mj-lt"/>
                <a:ea typeface="Yu Gothic UI" panose="020B0500000000000000" pitchFamily="50" charset="-128"/>
              </a:rPr>
              <a:pPr marL="0" marR="0" lvl="0" indent="0" algn="l" defTabSz="457200" rtl="0" eaLnBrk="1" fontAlgn="auto" latinLnBrk="0" hangingPunct="1">
                <a:lnSpc>
                  <a:spcPct val="100000"/>
                </a:lnSpc>
                <a:spcBef>
                  <a:spcPts val="0"/>
                </a:spcBef>
                <a:spcAft>
                  <a:spcPts val="0"/>
                </a:spcAft>
                <a:buClrTx/>
                <a:buSzTx/>
                <a:buFontTx/>
                <a:buNone/>
                <a:tabLst/>
                <a:defRPr/>
              </a:pPr>
              <a:t>8</a:t>
            </a:fld>
            <a:endParaRPr kumimoji="0" lang="en-GB" sz="800" b="1" i="0" u="none" strike="noStrike" kern="1200" cap="none" spc="0" normalizeH="0" baseline="0" noProof="0" dirty="0">
              <a:ln>
                <a:noFill/>
              </a:ln>
              <a:solidFill>
                <a:prstClr val="black"/>
              </a:solidFill>
              <a:effectLst/>
              <a:uLnTx/>
              <a:uFillTx/>
              <a:latin typeface="+mj-lt"/>
              <a:ea typeface="Yu Gothic UI" panose="020B0500000000000000" pitchFamily="50" charset="-128"/>
            </a:endParaRPr>
          </a:p>
        </p:txBody>
      </p:sp>
      <p:sp>
        <p:nvSpPr>
          <p:cNvPr id="36" name="テキスト プレースホルダー 4">
            <a:extLst>
              <a:ext uri="{FF2B5EF4-FFF2-40B4-BE49-F238E27FC236}">
                <a16:creationId xmlns:a16="http://schemas.microsoft.com/office/drawing/2014/main" id="{629CF185-9B6E-12B2-BF1C-5700D5AEAABE}"/>
              </a:ext>
            </a:extLst>
          </p:cNvPr>
          <p:cNvSpPr>
            <a:spLocks noGrp="1"/>
          </p:cNvSpPr>
          <p:nvPr>
            <p:ph type="body" sz="half" idx="2"/>
          </p:nvPr>
        </p:nvSpPr>
        <p:spPr>
          <a:xfrm>
            <a:off x="463550" y="260617"/>
            <a:ext cx="3600000" cy="373115"/>
          </a:xfrm>
        </p:spPr>
        <p:txBody>
          <a:bodyPr/>
          <a:lstStyle/>
          <a:p>
            <a:r>
              <a:rPr kumimoji="1" lang="ja-JP" altLang="en-US" sz="1800" dirty="0">
                <a:latin typeface="Yu Gothic UI" panose="020B0500000000000000" pitchFamily="50" charset="-128"/>
                <a:ea typeface="Yu Gothic UI" panose="020B0500000000000000" pitchFamily="50" charset="-128"/>
              </a:rPr>
              <a:t>６．今後の行動計画</a:t>
            </a:r>
          </a:p>
        </p:txBody>
      </p:sp>
      <p:graphicFrame>
        <p:nvGraphicFramePr>
          <p:cNvPr id="5" name="表 4">
            <a:extLst>
              <a:ext uri="{FF2B5EF4-FFF2-40B4-BE49-F238E27FC236}">
                <a16:creationId xmlns:a16="http://schemas.microsoft.com/office/drawing/2014/main" id="{1099606A-DDD2-575E-4BAB-6AAD6328DFD9}"/>
              </a:ext>
            </a:extLst>
          </p:cNvPr>
          <p:cNvGraphicFramePr>
            <a:graphicFrameLocks noGrp="1"/>
          </p:cNvGraphicFramePr>
          <p:nvPr>
            <p:extLst>
              <p:ext uri="{D42A27DB-BD31-4B8C-83A1-F6EECF244321}">
                <p14:modId xmlns:p14="http://schemas.microsoft.com/office/powerpoint/2010/main" val="3969970615"/>
              </p:ext>
            </p:extLst>
          </p:nvPr>
        </p:nvGraphicFramePr>
        <p:xfrm>
          <a:off x="552103" y="3424346"/>
          <a:ext cx="8027564" cy="2861151"/>
        </p:xfrm>
        <a:graphic>
          <a:graphicData uri="http://schemas.openxmlformats.org/drawingml/2006/table">
            <a:tbl>
              <a:tblPr/>
              <a:tblGrid>
                <a:gridCol w="311497">
                  <a:extLst>
                    <a:ext uri="{9D8B030D-6E8A-4147-A177-3AD203B41FA5}">
                      <a16:colId xmlns:a16="http://schemas.microsoft.com/office/drawing/2014/main" val="1731697406"/>
                    </a:ext>
                  </a:extLst>
                </a:gridCol>
                <a:gridCol w="1792627">
                  <a:extLst>
                    <a:ext uri="{9D8B030D-6E8A-4147-A177-3AD203B41FA5}">
                      <a16:colId xmlns:a16="http://schemas.microsoft.com/office/drawing/2014/main" val="959860201"/>
                    </a:ext>
                  </a:extLst>
                </a:gridCol>
                <a:gridCol w="123405">
                  <a:extLst>
                    <a:ext uri="{9D8B030D-6E8A-4147-A177-3AD203B41FA5}">
                      <a16:colId xmlns:a16="http://schemas.microsoft.com/office/drawing/2014/main" val="948184958"/>
                    </a:ext>
                  </a:extLst>
                </a:gridCol>
                <a:gridCol w="123405">
                  <a:extLst>
                    <a:ext uri="{9D8B030D-6E8A-4147-A177-3AD203B41FA5}">
                      <a16:colId xmlns:a16="http://schemas.microsoft.com/office/drawing/2014/main" val="1025236654"/>
                    </a:ext>
                  </a:extLst>
                </a:gridCol>
                <a:gridCol w="123405">
                  <a:extLst>
                    <a:ext uri="{9D8B030D-6E8A-4147-A177-3AD203B41FA5}">
                      <a16:colId xmlns:a16="http://schemas.microsoft.com/office/drawing/2014/main" val="2973001230"/>
                    </a:ext>
                  </a:extLst>
                </a:gridCol>
                <a:gridCol w="123405">
                  <a:extLst>
                    <a:ext uri="{9D8B030D-6E8A-4147-A177-3AD203B41FA5}">
                      <a16:colId xmlns:a16="http://schemas.microsoft.com/office/drawing/2014/main" val="1009786279"/>
                    </a:ext>
                  </a:extLst>
                </a:gridCol>
                <a:gridCol w="123405">
                  <a:extLst>
                    <a:ext uri="{9D8B030D-6E8A-4147-A177-3AD203B41FA5}">
                      <a16:colId xmlns:a16="http://schemas.microsoft.com/office/drawing/2014/main" val="537349183"/>
                    </a:ext>
                  </a:extLst>
                </a:gridCol>
                <a:gridCol w="123405">
                  <a:extLst>
                    <a:ext uri="{9D8B030D-6E8A-4147-A177-3AD203B41FA5}">
                      <a16:colId xmlns:a16="http://schemas.microsoft.com/office/drawing/2014/main" val="2153004828"/>
                    </a:ext>
                  </a:extLst>
                </a:gridCol>
                <a:gridCol w="123405">
                  <a:extLst>
                    <a:ext uri="{9D8B030D-6E8A-4147-A177-3AD203B41FA5}">
                      <a16:colId xmlns:a16="http://schemas.microsoft.com/office/drawing/2014/main" val="4227445273"/>
                    </a:ext>
                  </a:extLst>
                </a:gridCol>
                <a:gridCol w="123405">
                  <a:extLst>
                    <a:ext uri="{9D8B030D-6E8A-4147-A177-3AD203B41FA5}">
                      <a16:colId xmlns:a16="http://schemas.microsoft.com/office/drawing/2014/main" val="2786338824"/>
                    </a:ext>
                  </a:extLst>
                </a:gridCol>
                <a:gridCol w="123405">
                  <a:extLst>
                    <a:ext uri="{9D8B030D-6E8A-4147-A177-3AD203B41FA5}">
                      <a16:colId xmlns:a16="http://schemas.microsoft.com/office/drawing/2014/main" val="4113315955"/>
                    </a:ext>
                  </a:extLst>
                </a:gridCol>
                <a:gridCol w="123405">
                  <a:extLst>
                    <a:ext uri="{9D8B030D-6E8A-4147-A177-3AD203B41FA5}">
                      <a16:colId xmlns:a16="http://schemas.microsoft.com/office/drawing/2014/main" val="4064735156"/>
                    </a:ext>
                  </a:extLst>
                </a:gridCol>
                <a:gridCol w="123405">
                  <a:extLst>
                    <a:ext uri="{9D8B030D-6E8A-4147-A177-3AD203B41FA5}">
                      <a16:colId xmlns:a16="http://schemas.microsoft.com/office/drawing/2014/main" val="1616331625"/>
                    </a:ext>
                  </a:extLst>
                </a:gridCol>
                <a:gridCol w="123405">
                  <a:extLst>
                    <a:ext uri="{9D8B030D-6E8A-4147-A177-3AD203B41FA5}">
                      <a16:colId xmlns:a16="http://schemas.microsoft.com/office/drawing/2014/main" val="533029879"/>
                    </a:ext>
                  </a:extLst>
                </a:gridCol>
                <a:gridCol w="123405">
                  <a:extLst>
                    <a:ext uri="{9D8B030D-6E8A-4147-A177-3AD203B41FA5}">
                      <a16:colId xmlns:a16="http://schemas.microsoft.com/office/drawing/2014/main" val="2101596695"/>
                    </a:ext>
                  </a:extLst>
                </a:gridCol>
                <a:gridCol w="123405">
                  <a:extLst>
                    <a:ext uri="{9D8B030D-6E8A-4147-A177-3AD203B41FA5}">
                      <a16:colId xmlns:a16="http://schemas.microsoft.com/office/drawing/2014/main" val="552237991"/>
                    </a:ext>
                  </a:extLst>
                </a:gridCol>
                <a:gridCol w="123405">
                  <a:extLst>
                    <a:ext uri="{9D8B030D-6E8A-4147-A177-3AD203B41FA5}">
                      <a16:colId xmlns:a16="http://schemas.microsoft.com/office/drawing/2014/main" val="2679535163"/>
                    </a:ext>
                  </a:extLst>
                </a:gridCol>
                <a:gridCol w="123405">
                  <a:extLst>
                    <a:ext uri="{9D8B030D-6E8A-4147-A177-3AD203B41FA5}">
                      <a16:colId xmlns:a16="http://schemas.microsoft.com/office/drawing/2014/main" val="1185515656"/>
                    </a:ext>
                  </a:extLst>
                </a:gridCol>
                <a:gridCol w="123405">
                  <a:extLst>
                    <a:ext uri="{9D8B030D-6E8A-4147-A177-3AD203B41FA5}">
                      <a16:colId xmlns:a16="http://schemas.microsoft.com/office/drawing/2014/main" val="3738231108"/>
                    </a:ext>
                  </a:extLst>
                </a:gridCol>
                <a:gridCol w="123405">
                  <a:extLst>
                    <a:ext uri="{9D8B030D-6E8A-4147-A177-3AD203B41FA5}">
                      <a16:colId xmlns:a16="http://schemas.microsoft.com/office/drawing/2014/main" val="59008549"/>
                    </a:ext>
                  </a:extLst>
                </a:gridCol>
                <a:gridCol w="123405">
                  <a:extLst>
                    <a:ext uri="{9D8B030D-6E8A-4147-A177-3AD203B41FA5}">
                      <a16:colId xmlns:a16="http://schemas.microsoft.com/office/drawing/2014/main" val="713994853"/>
                    </a:ext>
                  </a:extLst>
                </a:gridCol>
                <a:gridCol w="123405">
                  <a:extLst>
                    <a:ext uri="{9D8B030D-6E8A-4147-A177-3AD203B41FA5}">
                      <a16:colId xmlns:a16="http://schemas.microsoft.com/office/drawing/2014/main" val="1267742180"/>
                    </a:ext>
                  </a:extLst>
                </a:gridCol>
                <a:gridCol w="123405">
                  <a:extLst>
                    <a:ext uri="{9D8B030D-6E8A-4147-A177-3AD203B41FA5}">
                      <a16:colId xmlns:a16="http://schemas.microsoft.com/office/drawing/2014/main" val="1189265967"/>
                    </a:ext>
                  </a:extLst>
                </a:gridCol>
                <a:gridCol w="123405">
                  <a:extLst>
                    <a:ext uri="{9D8B030D-6E8A-4147-A177-3AD203B41FA5}">
                      <a16:colId xmlns:a16="http://schemas.microsoft.com/office/drawing/2014/main" val="3532972665"/>
                    </a:ext>
                  </a:extLst>
                </a:gridCol>
                <a:gridCol w="123405">
                  <a:extLst>
                    <a:ext uri="{9D8B030D-6E8A-4147-A177-3AD203B41FA5}">
                      <a16:colId xmlns:a16="http://schemas.microsoft.com/office/drawing/2014/main" val="1084529294"/>
                    </a:ext>
                  </a:extLst>
                </a:gridCol>
                <a:gridCol w="123405">
                  <a:extLst>
                    <a:ext uri="{9D8B030D-6E8A-4147-A177-3AD203B41FA5}">
                      <a16:colId xmlns:a16="http://schemas.microsoft.com/office/drawing/2014/main" val="1022823874"/>
                    </a:ext>
                  </a:extLst>
                </a:gridCol>
                <a:gridCol w="123405">
                  <a:extLst>
                    <a:ext uri="{9D8B030D-6E8A-4147-A177-3AD203B41FA5}">
                      <a16:colId xmlns:a16="http://schemas.microsoft.com/office/drawing/2014/main" val="3644968097"/>
                    </a:ext>
                  </a:extLst>
                </a:gridCol>
                <a:gridCol w="123405">
                  <a:extLst>
                    <a:ext uri="{9D8B030D-6E8A-4147-A177-3AD203B41FA5}">
                      <a16:colId xmlns:a16="http://schemas.microsoft.com/office/drawing/2014/main" val="3318221428"/>
                    </a:ext>
                  </a:extLst>
                </a:gridCol>
                <a:gridCol w="123405">
                  <a:extLst>
                    <a:ext uri="{9D8B030D-6E8A-4147-A177-3AD203B41FA5}">
                      <a16:colId xmlns:a16="http://schemas.microsoft.com/office/drawing/2014/main" val="15328314"/>
                    </a:ext>
                  </a:extLst>
                </a:gridCol>
                <a:gridCol w="123405">
                  <a:extLst>
                    <a:ext uri="{9D8B030D-6E8A-4147-A177-3AD203B41FA5}">
                      <a16:colId xmlns:a16="http://schemas.microsoft.com/office/drawing/2014/main" val="3789473793"/>
                    </a:ext>
                  </a:extLst>
                </a:gridCol>
                <a:gridCol w="123405">
                  <a:extLst>
                    <a:ext uri="{9D8B030D-6E8A-4147-A177-3AD203B41FA5}">
                      <a16:colId xmlns:a16="http://schemas.microsoft.com/office/drawing/2014/main" val="3418385131"/>
                    </a:ext>
                  </a:extLst>
                </a:gridCol>
                <a:gridCol w="123405">
                  <a:extLst>
                    <a:ext uri="{9D8B030D-6E8A-4147-A177-3AD203B41FA5}">
                      <a16:colId xmlns:a16="http://schemas.microsoft.com/office/drawing/2014/main" val="1272087829"/>
                    </a:ext>
                  </a:extLst>
                </a:gridCol>
                <a:gridCol w="123405">
                  <a:extLst>
                    <a:ext uri="{9D8B030D-6E8A-4147-A177-3AD203B41FA5}">
                      <a16:colId xmlns:a16="http://schemas.microsoft.com/office/drawing/2014/main" val="1841842714"/>
                    </a:ext>
                  </a:extLst>
                </a:gridCol>
                <a:gridCol w="123405">
                  <a:extLst>
                    <a:ext uri="{9D8B030D-6E8A-4147-A177-3AD203B41FA5}">
                      <a16:colId xmlns:a16="http://schemas.microsoft.com/office/drawing/2014/main" val="259792223"/>
                    </a:ext>
                  </a:extLst>
                </a:gridCol>
                <a:gridCol w="123405">
                  <a:extLst>
                    <a:ext uri="{9D8B030D-6E8A-4147-A177-3AD203B41FA5}">
                      <a16:colId xmlns:a16="http://schemas.microsoft.com/office/drawing/2014/main" val="1805729501"/>
                    </a:ext>
                  </a:extLst>
                </a:gridCol>
                <a:gridCol w="123405">
                  <a:extLst>
                    <a:ext uri="{9D8B030D-6E8A-4147-A177-3AD203B41FA5}">
                      <a16:colId xmlns:a16="http://schemas.microsoft.com/office/drawing/2014/main" val="396289675"/>
                    </a:ext>
                  </a:extLst>
                </a:gridCol>
                <a:gridCol w="123405">
                  <a:extLst>
                    <a:ext uri="{9D8B030D-6E8A-4147-A177-3AD203B41FA5}">
                      <a16:colId xmlns:a16="http://schemas.microsoft.com/office/drawing/2014/main" val="228268705"/>
                    </a:ext>
                  </a:extLst>
                </a:gridCol>
                <a:gridCol w="123405">
                  <a:extLst>
                    <a:ext uri="{9D8B030D-6E8A-4147-A177-3AD203B41FA5}">
                      <a16:colId xmlns:a16="http://schemas.microsoft.com/office/drawing/2014/main" val="1462683634"/>
                    </a:ext>
                  </a:extLst>
                </a:gridCol>
                <a:gridCol w="123405">
                  <a:extLst>
                    <a:ext uri="{9D8B030D-6E8A-4147-A177-3AD203B41FA5}">
                      <a16:colId xmlns:a16="http://schemas.microsoft.com/office/drawing/2014/main" val="3841996315"/>
                    </a:ext>
                  </a:extLst>
                </a:gridCol>
                <a:gridCol w="123405">
                  <a:extLst>
                    <a:ext uri="{9D8B030D-6E8A-4147-A177-3AD203B41FA5}">
                      <a16:colId xmlns:a16="http://schemas.microsoft.com/office/drawing/2014/main" val="2491727952"/>
                    </a:ext>
                  </a:extLst>
                </a:gridCol>
                <a:gridCol w="123405">
                  <a:extLst>
                    <a:ext uri="{9D8B030D-6E8A-4147-A177-3AD203B41FA5}">
                      <a16:colId xmlns:a16="http://schemas.microsoft.com/office/drawing/2014/main" val="2586682569"/>
                    </a:ext>
                  </a:extLst>
                </a:gridCol>
                <a:gridCol w="123405">
                  <a:extLst>
                    <a:ext uri="{9D8B030D-6E8A-4147-A177-3AD203B41FA5}">
                      <a16:colId xmlns:a16="http://schemas.microsoft.com/office/drawing/2014/main" val="2626025306"/>
                    </a:ext>
                  </a:extLst>
                </a:gridCol>
                <a:gridCol w="123405">
                  <a:extLst>
                    <a:ext uri="{9D8B030D-6E8A-4147-A177-3AD203B41FA5}">
                      <a16:colId xmlns:a16="http://schemas.microsoft.com/office/drawing/2014/main" val="2622890310"/>
                    </a:ext>
                  </a:extLst>
                </a:gridCol>
                <a:gridCol w="123405">
                  <a:extLst>
                    <a:ext uri="{9D8B030D-6E8A-4147-A177-3AD203B41FA5}">
                      <a16:colId xmlns:a16="http://schemas.microsoft.com/office/drawing/2014/main" val="1981610875"/>
                    </a:ext>
                  </a:extLst>
                </a:gridCol>
                <a:gridCol w="123405">
                  <a:extLst>
                    <a:ext uri="{9D8B030D-6E8A-4147-A177-3AD203B41FA5}">
                      <a16:colId xmlns:a16="http://schemas.microsoft.com/office/drawing/2014/main" val="3268433653"/>
                    </a:ext>
                  </a:extLst>
                </a:gridCol>
                <a:gridCol w="123405">
                  <a:extLst>
                    <a:ext uri="{9D8B030D-6E8A-4147-A177-3AD203B41FA5}">
                      <a16:colId xmlns:a16="http://schemas.microsoft.com/office/drawing/2014/main" val="5467655"/>
                    </a:ext>
                  </a:extLst>
                </a:gridCol>
                <a:gridCol w="123405">
                  <a:extLst>
                    <a:ext uri="{9D8B030D-6E8A-4147-A177-3AD203B41FA5}">
                      <a16:colId xmlns:a16="http://schemas.microsoft.com/office/drawing/2014/main" val="1025340509"/>
                    </a:ext>
                  </a:extLst>
                </a:gridCol>
                <a:gridCol w="123405">
                  <a:extLst>
                    <a:ext uri="{9D8B030D-6E8A-4147-A177-3AD203B41FA5}">
                      <a16:colId xmlns:a16="http://schemas.microsoft.com/office/drawing/2014/main" val="1623583362"/>
                    </a:ext>
                  </a:extLst>
                </a:gridCol>
                <a:gridCol w="123405">
                  <a:extLst>
                    <a:ext uri="{9D8B030D-6E8A-4147-A177-3AD203B41FA5}">
                      <a16:colId xmlns:a16="http://schemas.microsoft.com/office/drawing/2014/main" val="1529238447"/>
                    </a:ext>
                  </a:extLst>
                </a:gridCol>
                <a:gridCol w="123405">
                  <a:extLst>
                    <a:ext uri="{9D8B030D-6E8A-4147-A177-3AD203B41FA5}">
                      <a16:colId xmlns:a16="http://schemas.microsoft.com/office/drawing/2014/main" val="3782907823"/>
                    </a:ext>
                  </a:extLst>
                </a:gridCol>
              </a:tblGrid>
              <a:tr h="215682">
                <a:tc gridSpan="2">
                  <a:txBody>
                    <a:bodyPr/>
                    <a:lstStyle/>
                    <a:p>
                      <a:pPr algn="ctr" fontAlgn="ctr">
                        <a:buNone/>
                      </a:pPr>
                      <a:r>
                        <a:rPr lang="ja-JP" altLang="en-US" sz="1000" b="0" i="0" u="none" strike="noStrike" dirty="0">
                          <a:solidFill>
                            <a:srgbClr val="000000"/>
                          </a:solidFill>
                          <a:effectLst/>
                          <a:latin typeface="+mn-ea"/>
                          <a:ea typeface="+mn-ea"/>
                        </a:rPr>
                        <a:t>　</a:t>
                      </a:r>
                    </a:p>
                  </a:txBody>
                  <a:tcPr marL="3951" marR="3951" marT="3951"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hMerge="1">
                  <a:txBody>
                    <a:bodyPr/>
                    <a:lstStyle/>
                    <a:p>
                      <a:endParaRPr kumimoji="1" lang="ja-JP" altLang="en-US"/>
                    </a:p>
                  </a:txBody>
                  <a:tcPr/>
                </a:tc>
                <a:tc gridSpan="12">
                  <a:txBody>
                    <a:bodyPr/>
                    <a:lstStyle/>
                    <a:p>
                      <a:pPr algn="ctr" fontAlgn="t">
                        <a:buNone/>
                      </a:pPr>
                      <a:r>
                        <a:rPr lang="en-US" altLang="ja-JP" sz="1000" b="1" i="0" u="none" strike="noStrike" dirty="0">
                          <a:solidFill>
                            <a:srgbClr val="000000"/>
                          </a:solidFill>
                          <a:effectLst/>
                          <a:latin typeface="ＭＳ ゴシック" panose="020B0609070205080204" pitchFamily="49" charset="-128"/>
                          <a:ea typeface="ＭＳ ゴシック" panose="020B0609070205080204" pitchFamily="49" charset="-128"/>
                        </a:rPr>
                        <a:t>2025</a:t>
                      </a:r>
                      <a:r>
                        <a:rPr lang="ja-JP" altLang="en-US" sz="1000" b="1" i="0" u="none" strike="noStrike" dirty="0">
                          <a:solidFill>
                            <a:srgbClr val="000000"/>
                          </a:solidFill>
                          <a:effectLst/>
                          <a:latin typeface="ＭＳ ゴシック" panose="020B0609070205080204" pitchFamily="49" charset="-128"/>
                          <a:ea typeface="ＭＳ ゴシック" panose="020B0609070205080204" pitchFamily="49" charset="-128"/>
                        </a:rPr>
                        <a:t>年度</a:t>
                      </a:r>
                    </a:p>
                  </a:txBody>
                  <a:tcPr marL="3951" marR="3951" marT="395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t">
                        <a:buNone/>
                      </a:pPr>
                      <a:r>
                        <a:rPr lang="en-US" altLang="ja-JP" sz="1000" b="1" i="0" u="none" strike="noStrike" dirty="0">
                          <a:solidFill>
                            <a:srgbClr val="000000"/>
                          </a:solidFill>
                          <a:effectLst/>
                          <a:latin typeface="ＭＳ ゴシック" panose="020B0609070205080204" pitchFamily="49" charset="-128"/>
                          <a:ea typeface="ＭＳ ゴシック" panose="020B0609070205080204" pitchFamily="49" charset="-128"/>
                        </a:rPr>
                        <a:t>2026</a:t>
                      </a:r>
                      <a:r>
                        <a:rPr lang="ja-JP" altLang="en-US" sz="1000" b="1" i="0" u="none" strike="noStrike" dirty="0">
                          <a:solidFill>
                            <a:srgbClr val="000000"/>
                          </a:solidFill>
                          <a:effectLst/>
                          <a:latin typeface="ＭＳ ゴシック" panose="020B0609070205080204" pitchFamily="49" charset="-128"/>
                          <a:ea typeface="ＭＳ ゴシック" panose="020B0609070205080204" pitchFamily="49" charset="-128"/>
                        </a:rPr>
                        <a:t>年度</a:t>
                      </a:r>
                    </a:p>
                  </a:txBody>
                  <a:tcPr marL="3951" marR="3951" marT="395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t">
                        <a:buNone/>
                      </a:pPr>
                      <a:r>
                        <a:rPr lang="en-US" altLang="ja-JP" sz="1000" b="1" i="0" u="none" strike="noStrike" dirty="0">
                          <a:solidFill>
                            <a:srgbClr val="000000"/>
                          </a:solidFill>
                          <a:effectLst/>
                          <a:latin typeface="ＭＳ ゴシック" panose="020B0609070205080204" pitchFamily="49" charset="-128"/>
                          <a:ea typeface="ＭＳ ゴシック" panose="020B0609070205080204" pitchFamily="49" charset="-128"/>
                        </a:rPr>
                        <a:t>2027</a:t>
                      </a:r>
                      <a:r>
                        <a:rPr lang="ja-JP" altLang="en-US" sz="1000" b="1" i="0" u="none" strike="noStrike" dirty="0">
                          <a:solidFill>
                            <a:srgbClr val="000000"/>
                          </a:solidFill>
                          <a:effectLst/>
                          <a:latin typeface="ＭＳ ゴシック" panose="020B0609070205080204" pitchFamily="49" charset="-128"/>
                          <a:ea typeface="ＭＳ ゴシック" panose="020B0609070205080204" pitchFamily="49" charset="-128"/>
                        </a:rPr>
                        <a:t>年度</a:t>
                      </a:r>
                    </a:p>
                  </a:txBody>
                  <a:tcPr marL="3951" marR="3951" marT="3951"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12">
                  <a:txBody>
                    <a:bodyPr/>
                    <a:lstStyle/>
                    <a:p>
                      <a:pPr algn="ctr" fontAlgn="t">
                        <a:buNone/>
                      </a:pPr>
                      <a:r>
                        <a:rPr lang="en-US" altLang="ja-JP" sz="1000" b="1" i="0" u="none" strike="noStrike" dirty="0">
                          <a:solidFill>
                            <a:srgbClr val="000000"/>
                          </a:solidFill>
                          <a:effectLst/>
                          <a:latin typeface="ＭＳ ゴシック" panose="020B0609070205080204" pitchFamily="49" charset="-128"/>
                          <a:ea typeface="ＭＳ ゴシック" panose="020B0609070205080204" pitchFamily="49" charset="-128"/>
                        </a:rPr>
                        <a:t>2028</a:t>
                      </a:r>
                      <a:r>
                        <a:rPr lang="ja-JP" altLang="en-US" sz="1000" b="1" i="0" u="none" strike="noStrike" dirty="0">
                          <a:solidFill>
                            <a:srgbClr val="000000"/>
                          </a:solidFill>
                          <a:effectLst/>
                          <a:latin typeface="ＭＳ ゴシック" panose="020B0609070205080204" pitchFamily="49" charset="-128"/>
                          <a:ea typeface="ＭＳ ゴシック" panose="020B0609070205080204" pitchFamily="49" charset="-128"/>
                        </a:rPr>
                        <a:t>年度</a:t>
                      </a:r>
                    </a:p>
                  </a:txBody>
                  <a:tcPr marL="3951" marR="3951" marT="3951" marB="0" anchor="ctr">
                    <a:lnL w="1270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571228775"/>
                  </a:ext>
                </a:extLst>
              </a:tr>
              <a:tr h="148637">
                <a:tc>
                  <a:txBody>
                    <a:bodyPr/>
                    <a:lstStyle/>
                    <a:p>
                      <a:pPr algn="l" fontAlgn="ctr">
                        <a:buNone/>
                      </a:pPr>
                      <a:r>
                        <a:rPr lang="ja-JP" altLang="en-US" sz="1000" b="0" i="0" u="none" strike="noStrike" dirty="0">
                          <a:solidFill>
                            <a:srgbClr val="000000"/>
                          </a:solidFill>
                          <a:effectLst/>
                          <a:latin typeface="+mn-ea"/>
                          <a:ea typeface="+mn-ea"/>
                        </a:rPr>
                        <a:t>区分</a:t>
                      </a:r>
                    </a:p>
                  </a:txBody>
                  <a:tcPr marL="3951" marR="3951" marT="3951"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ja-JP" altLang="en-US" sz="1000" b="0" i="0" u="none" strike="noStrike" dirty="0">
                          <a:solidFill>
                            <a:srgbClr val="000000"/>
                          </a:solidFill>
                          <a:effectLst/>
                          <a:latin typeface="+mn-ea"/>
                          <a:ea typeface="+mn-ea"/>
                        </a:rPr>
                        <a:t>実施内容</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4</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5</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6</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7</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8</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9</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10</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11</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12</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1</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2</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3</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4</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5</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6</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7</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8</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9</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10</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11</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12</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2</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3</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4</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5</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6</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7</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8</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9</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10</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11</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12</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2</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3</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4</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5</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6</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dirty="0">
                          <a:solidFill>
                            <a:srgbClr val="000000"/>
                          </a:solidFill>
                          <a:effectLst/>
                          <a:latin typeface="ＭＳ ゴシック" panose="020B0609070205080204" pitchFamily="49" charset="-128"/>
                          <a:ea typeface="ＭＳ ゴシック" panose="020B0609070205080204" pitchFamily="49" charset="-128"/>
                        </a:rPr>
                        <a:t>7</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8</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9</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10</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11</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12</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1</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2</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en-US" altLang="ja-JP" sz="900" b="0" i="0" u="none" strike="noStrike">
                          <a:solidFill>
                            <a:srgbClr val="000000"/>
                          </a:solidFill>
                          <a:effectLst/>
                          <a:latin typeface="ＭＳ ゴシック" panose="020B0609070205080204" pitchFamily="49" charset="-128"/>
                          <a:ea typeface="ＭＳ ゴシック" panose="020B0609070205080204" pitchFamily="49" charset="-128"/>
                        </a:rPr>
                        <a:t>3</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55915356"/>
                  </a:ext>
                </a:extLst>
              </a:tr>
              <a:tr h="477239">
                <a:tc rowSpan="3">
                  <a:txBody>
                    <a:bodyPr/>
                    <a:lstStyle/>
                    <a:p>
                      <a:pPr algn="ctr" fontAlgn="ctr">
                        <a:buNone/>
                      </a:pPr>
                      <a:r>
                        <a:rPr lang="ja-JP" altLang="en-US" sz="1100" b="0" i="0" u="none" strike="noStrike" dirty="0">
                          <a:solidFill>
                            <a:srgbClr val="000000"/>
                          </a:solidFill>
                          <a:effectLst/>
                          <a:latin typeface="+mn-ea"/>
                          <a:ea typeface="+mn-ea"/>
                        </a:rPr>
                        <a:t>売上拡大</a:t>
                      </a:r>
                      <a:endParaRPr lang="en-US" altLang="ja-JP" sz="1100" b="0" i="0" u="none" strike="noStrike" dirty="0">
                        <a:solidFill>
                          <a:srgbClr val="000000"/>
                        </a:solidFill>
                        <a:effectLst/>
                        <a:latin typeface="+mn-ea"/>
                        <a:ea typeface="+mn-ea"/>
                      </a:endParaRPr>
                    </a:p>
                  </a:txBody>
                  <a:tcPr marL="3951" marR="3951" marT="3951" marB="0" vert="eaVert"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kumimoji="1" lang="ja-JP" altLang="en-US" sz="1100" kern="1200" dirty="0">
                          <a:solidFill>
                            <a:schemeClr val="tx1"/>
                          </a:solidFill>
                          <a:latin typeface="+mn-ea"/>
                          <a:ea typeface="+mn-ea"/>
                          <a:cs typeface="+mn-cs"/>
                        </a:rPr>
                        <a:t>継続受注</a:t>
                      </a:r>
                      <a:endParaRPr kumimoji="1" lang="en-US" altLang="ja-JP" sz="1100" kern="1200" dirty="0">
                        <a:solidFill>
                          <a:schemeClr val="tx1"/>
                        </a:solidFill>
                        <a:latin typeface="+mn-ea"/>
                        <a:ea typeface="+mn-ea"/>
                        <a:cs typeface="+mn-cs"/>
                      </a:endParaRPr>
                    </a:p>
                    <a:p>
                      <a:pPr algn="l" fontAlgn="ctr">
                        <a:buNone/>
                      </a:pPr>
                      <a:r>
                        <a:rPr kumimoji="1" lang="ja-JP" altLang="en-US" sz="1100" kern="1200" dirty="0">
                          <a:solidFill>
                            <a:schemeClr val="tx1"/>
                          </a:solidFill>
                          <a:latin typeface="+mn-ea"/>
                          <a:ea typeface="+mn-ea"/>
                          <a:cs typeface="+mn-cs"/>
                        </a:rPr>
                        <a:t>１Ｆ原子力発電所</a:t>
                      </a:r>
                      <a:endParaRPr lang="ja-JP" altLang="en-US" sz="1100" b="0" i="0" u="none" strike="noStrike" dirty="0">
                        <a:solidFill>
                          <a:srgbClr val="000000"/>
                        </a:solidFill>
                        <a:effectLst/>
                        <a:latin typeface="+mn-ea"/>
                        <a:ea typeface="+mn-ea"/>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1926421"/>
                  </a:ext>
                </a:extLst>
              </a:tr>
              <a:tr h="520091">
                <a:tc vMerge="1">
                  <a:txBody>
                    <a:bodyPr/>
                    <a:lstStyle/>
                    <a:p>
                      <a:pPr algn="ctr" fontAlgn="ctr">
                        <a:buNone/>
                      </a:pPr>
                      <a:endParaRPr lang="en-US" altLang="ja-JP" sz="1400" b="0" i="0" u="none" strike="noStrike" dirty="0">
                        <a:solidFill>
                          <a:srgbClr val="FF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kumimoji="1" lang="ja-JP" altLang="en-US" sz="1100" kern="1200" dirty="0">
                          <a:solidFill>
                            <a:schemeClr val="tx1"/>
                          </a:solidFill>
                          <a:latin typeface="+mn-ea"/>
                          <a:ea typeface="+mn-ea"/>
                          <a:cs typeface="+mn-cs"/>
                        </a:rPr>
                        <a:t>販路拡大</a:t>
                      </a:r>
                      <a:endParaRPr lang="en-US" altLang="ja-JP" sz="1100" b="0" i="0" u="none" strike="noStrike" dirty="0">
                        <a:solidFill>
                          <a:schemeClr val="tx1"/>
                        </a:solidFill>
                        <a:effectLst/>
                        <a:latin typeface="+mn-ea"/>
                        <a:ea typeface="+mn-ea"/>
                      </a:endParaRPr>
                    </a:p>
                    <a:p>
                      <a:pPr algn="l" fontAlgn="ctr">
                        <a:buNone/>
                      </a:pPr>
                      <a:r>
                        <a:rPr lang="ja-JP" altLang="en-US" sz="1100" b="0" i="0" u="none" strike="noStrike" dirty="0">
                          <a:solidFill>
                            <a:schemeClr val="tx1"/>
                          </a:solidFill>
                          <a:effectLst/>
                          <a:latin typeface="+mn-ea"/>
                          <a:ea typeface="+mn-ea"/>
                        </a:rPr>
                        <a:t>新規顧客の獲得</a:t>
                      </a:r>
                      <a:endParaRPr lang="en-US" altLang="ja-JP" sz="1100" b="0" i="0" u="none" strike="noStrike" dirty="0">
                        <a:solidFill>
                          <a:schemeClr val="tx1"/>
                        </a:solidFill>
                        <a:effectLst/>
                        <a:latin typeface="+mn-ea"/>
                        <a:ea typeface="+mn-ea"/>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2648907"/>
                  </a:ext>
                </a:extLst>
              </a:tr>
              <a:tr h="520091">
                <a:tc vMerge="1">
                  <a:txBody>
                    <a:bodyPr/>
                    <a:lstStyle/>
                    <a:p>
                      <a:pPr algn="ctr" fontAlgn="ctr">
                        <a:buNone/>
                      </a:pPr>
                      <a:endParaRPr lang="en-US" altLang="ja-JP" sz="1100" b="0" i="0" u="none" strike="noStrike" dirty="0">
                        <a:solidFill>
                          <a:srgbClr val="000000"/>
                        </a:solidFill>
                        <a:effectLst/>
                        <a:latin typeface="+mn-ea"/>
                        <a:ea typeface="+mn-ea"/>
                      </a:endParaRPr>
                    </a:p>
                  </a:txBody>
                  <a:tcPr marL="3951" marR="3951" marT="3951" marB="0" vert="eaVert"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kumimoji="1" lang="ja-JP" altLang="en-US" sz="1100" kern="1200" dirty="0">
                          <a:solidFill>
                            <a:schemeClr val="tx1"/>
                          </a:solidFill>
                          <a:latin typeface="+mn-ea"/>
                          <a:ea typeface="+mn-ea"/>
                          <a:cs typeface="+mn-cs"/>
                        </a:rPr>
                        <a:t>販路拡大</a:t>
                      </a:r>
                      <a:endParaRPr lang="en-US" altLang="ja-JP" sz="1100" b="0" i="0" u="none" strike="noStrike" dirty="0">
                        <a:solidFill>
                          <a:schemeClr val="tx1"/>
                        </a:solidFill>
                        <a:effectLst/>
                        <a:latin typeface="+mn-ea"/>
                        <a:ea typeface="+mn-ea"/>
                      </a:endParaRPr>
                    </a:p>
                    <a:p>
                      <a:pPr algn="l" fontAlgn="ctr">
                        <a:buNone/>
                      </a:pPr>
                      <a:r>
                        <a:rPr lang="ja-JP" altLang="en-US" sz="1100" b="0" i="0" u="none" strike="noStrike" dirty="0">
                          <a:solidFill>
                            <a:schemeClr val="tx1"/>
                          </a:solidFill>
                          <a:effectLst/>
                          <a:latin typeface="+mn-ea"/>
                          <a:ea typeface="+mn-ea"/>
                        </a:rPr>
                        <a:t>既存顧客の深耕</a:t>
                      </a:r>
                      <a:endParaRPr lang="en-US" altLang="ja-JP" sz="1100" b="0" i="0" u="none" strike="noStrike" dirty="0">
                        <a:solidFill>
                          <a:schemeClr val="tx1"/>
                        </a:solidFill>
                        <a:effectLst/>
                        <a:latin typeface="+mn-ea"/>
                        <a:ea typeface="+mn-ea"/>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r>
                        <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rPr>
                        <a:t>　</a:t>
                      </a: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FFFFFF"/>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4353600"/>
                  </a:ext>
                </a:extLst>
              </a:tr>
              <a:tr h="464826">
                <a:tc rowSpan="2">
                  <a:txBody>
                    <a:bodyPr/>
                    <a:lstStyle/>
                    <a:p>
                      <a:pPr algn="ctr" fontAlgn="ctr">
                        <a:buNone/>
                      </a:pPr>
                      <a:r>
                        <a:rPr lang="ja-JP" altLang="en-US" sz="1100" b="0" i="0" u="none" strike="noStrike" dirty="0">
                          <a:solidFill>
                            <a:schemeClr val="tx1"/>
                          </a:solidFill>
                          <a:effectLst/>
                          <a:latin typeface="+mn-ea"/>
                          <a:ea typeface="+mn-ea"/>
                        </a:rPr>
                        <a:t>中堅層の</a:t>
                      </a:r>
                      <a:endParaRPr lang="en-US" altLang="ja-JP" sz="1100" b="0" i="0" u="none" strike="noStrike" dirty="0">
                        <a:solidFill>
                          <a:schemeClr val="tx1"/>
                        </a:solidFill>
                        <a:effectLst/>
                        <a:latin typeface="+mn-ea"/>
                        <a:ea typeface="+mn-ea"/>
                      </a:endParaRPr>
                    </a:p>
                    <a:p>
                      <a:pPr algn="ctr" fontAlgn="ctr">
                        <a:buNone/>
                      </a:pPr>
                      <a:r>
                        <a:rPr lang="ja-JP" altLang="en-US" sz="1100" b="0" i="0" u="none" strike="noStrike" dirty="0">
                          <a:solidFill>
                            <a:schemeClr val="tx1"/>
                          </a:solidFill>
                          <a:effectLst/>
                          <a:latin typeface="+mn-ea"/>
                          <a:ea typeface="+mn-ea"/>
                        </a:rPr>
                        <a:t>育成・確保</a:t>
                      </a:r>
                      <a:endParaRPr lang="en-US" altLang="ja-JP" sz="1100" b="0" i="0" u="none" strike="noStrike" dirty="0">
                        <a:solidFill>
                          <a:schemeClr val="tx1"/>
                        </a:solidFill>
                        <a:effectLst/>
                        <a:latin typeface="+mn-ea"/>
                        <a:ea typeface="+mn-ea"/>
                      </a:endParaRPr>
                    </a:p>
                  </a:txBody>
                  <a:tcPr marL="3951" marR="3951" marT="3951" marB="0" vert="eaVert"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mn-ea"/>
                          <a:ea typeface="+mn-ea"/>
                        </a:rPr>
                        <a:t>業務負荷軽減</a:t>
                      </a:r>
                      <a:endParaRPr kumimoji="1" lang="en-US" altLang="ja-JP" sz="1100" dirty="0">
                        <a:solidFill>
                          <a:schemeClr val="tx1"/>
                        </a:solidFill>
                        <a:latin typeface="+mn-ea"/>
                        <a:ea typeface="+mn-ea"/>
                      </a:endParaRPr>
                    </a:p>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1100" dirty="0">
                          <a:solidFill>
                            <a:schemeClr val="tx1"/>
                          </a:solidFill>
                          <a:latin typeface="+mn-ea"/>
                          <a:ea typeface="+mn-ea"/>
                        </a:rPr>
                        <a:t>派遣採用・社員化・シニア活用</a:t>
                      </a:r>
                      <a:endParaRPr kumimoji="1" lang="en-US" altLang="ja-JP" sz="1100" dirty="0">
                        <a:solidFill>
                          <a:schemeClr val="tx1"/>
                        </a:solidFill>
                        <a:latin typeface="+mn-ea"/>
                        <a:ea typeface="+mn-ea"/>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7195506"/>
                  </a:ext>
                </a:extLst>
              </a:tr>
              <a:tr h="464826">
                <a:tc vMerge="1">
                  <a:txBody>
                    <a:bodyPr/>
                    <a:lstStyle/>
                    <a:p>
                      <a:pPr algn="ctr" fontAlgn="ctr">
                        <a:buNone/>
                      </a:pPr>
                      <a:endParaRPr lang="en-US" altLang="ja-JP" sz="1400" b="0" i="0" u="none" strike="noStrike" dirty="0">
                        <a:solidFill>
                          <a:srgbClr val="FF0000"/>
                        </a:solidFill>
                        <a:effectLst/>
                        <a:latin typeface="+mj-lt"/>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l" defTabSz="914400" fontAlgn="base">
                        <a:spcBef>
                          <a:spcPct val="0"/>
                        </a:spcBef>
                        <a:spcAft>
                          <a:spcPct val="0"/>
                        </a:spcAft>
                        <a:defRPr/>
                      </a:pPr>
                      <a:r>
                        <a:rPr kumimoji="1" lang="ja-JP" altLang="en-US" sz="1100" dirty="0">
                          <a:solidFill>
                            <a:schemeClr val="tx1"/>
                          </a:solidFill>
                          <a:latin typeface="+mn-ea"/>
                          <a:ea typeface="+mn-ea"/>
                        </a:rPr>
                        <a:t>若手の育成</a:t>
                      </a:r>
                      <a:endParaRPr kumimoji="1" lang="en-US" altLang="ja-JP" sz="1100" dirty="0">
                        <a:solidFill>
                          <a:schemeClr val="tx1"/>
                        </a:solidFill>
                        <a:latin typeface="+mn-ea"/>
                        <a:ea typeface="+mn-ea"/>
                      </a:endParaRPr>
                    </a:p>
                    <a:p>
                      <a:pPr lvl="0" algn="l" defTabSz="914400" fontAlgn="base">
                        <a:spcBef>
                          <a:spcPct val="0"/>
                        </a:spcBef>
                        <a:spcAft>
                          <a:spcPct val="0"/>
                        </a:spcAft>
                        <a:defRPr/>
                      </a:pPr>
                      <a:r>
                        <a:rPr kumimoji="1" lang="ja-JP" altLang="en-US" sz="1100" dirty="0">
                          <a:solidFill>
                            <a:schemeClr val="tx1"/>
                          </a:solidFill>
                          <a:latin typeface="+mn-ea"/>
                          <a:ea typeface="+mn-ea"/>
                        </a:rPr>
                        <a:t>スキル継承</a:t>
                      </a:r>
                      <a:endParaRPr kumimoji="1" lang="en-US" altLang="ja-JP" sz="1100" dirty="0">
                        <a:solidFill>
                          <a:schemeClr val="tx1"/>
                        </a:solidFill>
                        <a:latin typeface="+mn-ea"/>
                        <a:ea typeface="+mn-ea"/>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buNone/>
                      </a:pPr>
                      <a:endParaRPr lang="ja-JP" altLang="en-US" sz="900" b="0" i="0" u="none" strike="noStrike" dirty="0">
                        <a:solidFill>
                          <a:srgbClr val="000000"/>
                        </a:solidFill>
                        <a:effectLst/>
                        <a:latin typeface="ＭＳ Ｐゴシック" panose="020B0600070205080204" pitchFamily="50" charset="-128"/>
                        <a:ea typeface="ＭＳ Ｐゴシック" panose="020B0600070205080204" pitchFamily="50" charset="-128"/>
                      </a:endParaRPr>
                    </a:p>
                  </a:txBody>
                  <a:tcPr marL="3951" marR="3951" marT="3951"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7426384"/>
                  </a:ext>
                </a:extLst>
              </a:tr>
            </a:tbl>
          </a:graphicData>
        </a:graphic>
      </p:graphicFrame>
      <p:sp>
        <p:nvSpPr>
          <p:cNvPr id="6" name="矢印: 五方向 5">
            <a:extLst>
              <a:ext uri="{FF2B5EF4-FFF2-40B4-BE49-F238E27FC236}">
                <a16:creationId xmlns:a16="http://schemas.microsoft.com/office/drawing/2014/main" id="{3538EB6C-A80A-2F59-1F02-E414FE688605}"/>
              </a:ext>
            </a:extLst>
          </p:cNvPr>
          <p:cNvSpPr/>
          <p:nvPr/>
        </p:nvSpPr>
        <p:spPr>
          <a:xfrm>
            <a:off x="4150542" y="3931368"/>
            <a:ext cx="751840" cy="228667"/>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システム開発</a:t>
            </a:r>
            <a:endParaRPr kumimoji="1" lang="en-US" altLang="ja-JP" sz="800" dirty="0"/>
          </a:p>
        </p:txBody>
      </p:sp>
      <p:sp>
        <p:nvSpPr>
          <p:cNvPr id="7" name="矢印: 五方向 6">
            <a:extLst>
              <a:ext uri="{FF2B5EF4-FFF2-40B4-BE49-F238E27FC236}">
                <a16:creationId xmlns:a16="http://schemas.microsoft.com/office/drawing/2014/main" id="{E3122F41-906B-C3B5-FB54-FCB321B61D6A}"/>
              </a:ext>
            </a:extLst>
          </p:cNvPr>
          <p:cNvSpPr/>
          <p:nvPr/>
        </p:nvSpPr>
        <p:spPr>
          <a:xfrm>
            <a:off x="4902382" y="3929456"/>
            <a:ext cx="726440" cy="228667"/>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案件拡大</a:t>
            </a:r>
          </a:p>
        </p:txBody>
      </p:sp>
      <p:sp>
        <p:nvSpPr>
          <p:cNvPr id="10" name="矢印: 五方向 9">
            <a:extLst>
              <a:ext uri="{FF2B5EF4-FFF2-40B4-BE49-F238E27FC236}">
                <a16:creationId xmlns:a16="http://schemas.microsoft.com/office/drawing/2014/main" id="{65083B8B-9B70-060F-679B-80DDCFE54FA7}"/>
              </a:ext>
            </a:extLst>
          </p:cNvPr>
          <p:cNvSpPr/>
          <p:nvPr/>
        </p:nvSpPr>
        <p:spPr>
          <a:xfrm>
            <a:off x="5628821" y="3929456"/>
            <a:ext cx="1468119" cy="228667"/>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案件拡大</a:t>
            </a:r>
          </a:p>
        </p:txBody>
      </p:sp>
      <p:sp>
        <p:nvSpPr>
          <p:cNvPr id="13" name="矢印: 五方向 12">
            <a:extLst>
              <a:ext uri="{FF2B5EF4-FFF2-40B4-BE49-F238E27FC236}">
                <a16:creationId xmlns:a16="http://schemas.microsoft.com/office/drawing/2014/main" id="{D629EB7D-6594-1F61-D18F-708F2969F2CB}"/>
              </a:ext>
            </a:extLst>
          </p:cNvPr>
          <p:cNvSpPr/>
          <p:nvPr/>
        </p:nvSpPr>
        <p:spPr>
          <a:xfrm>
            <a:off x="2663234" y="3932572"/>
            <a:ext cx="859260" cy="228667"/>
          </a:xfrm>
          <a:prstGeom prst="homePlate">
            <a:avLst>
              <a:gd name="adj" fmla="val 18345"/>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技術検討支援</a:t>
            </a:r>
            <a:endParaRPr kumimoji="1" lang="en-US" altLang="ja-JP" sz="800" dirty="0"/>
          </a:p>
        </p:txBody>
      </p:sp>
      <p:sp>
        <p:nvSpPr>
          <p:cNvPr id="12" name="矢印: 五方向 11">
            <a:extLst>
              <a:ext uri="{FF2B5EF4-FFF2-40B4-BE49-F238E27FC236}">
                <a16:creationId xmlns:a16="http://schemas.microsoft.com/office/drawing/2014/main" id="{CB9584E4-1D7D-82C2-99BF-A7A42BCC8CDF}"/>
              </a:ext>
            </a:extLst>
          </p:cNvPr>
          <p:cNvSpPr/>
          <p:nvPr/>
        </p:nvSpPr>
        <p:spPr>
          <a:xfrm>
            <a:off x="4160278" y="4299141"/>
            <a:ext cx="1463462" cy="128037"/>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提案活動</a:t>
            </a:r>
          </a:p>
        </p:txBody>
      </p:sp>
      <p:sp>
        <p:nvSpPr>
          <p:cNvPr id="15" name="矢印: 五方向 14">
            <a:extLst>
              <a:ext uri="{FF2B5EF4-FFF2-40B4-BE49-F238E27FC236}">
                <a16:creationId xmlns:a16="http://schemas.microsoft.com/office/drawing/2014/main" id="{3A19E788-9103-5372-D34D-BD211E54B100}"/>
              </a:ext>
            </a:extLst>
          </p:cNvPr>
          <p:cNvSpPr/>
          <p:nvPr/>
        </p:nvSpPr>
        <p:spPr>
          <a:xfrm>
            <a:off x="7116609" y="3929455"/>
            <a:ext cx="1458611" cy="228667"/>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案件拡大</a:t>
            </a:r>
          </a:p>
        </p:txBody>
      </p:sp>
      <p:sp>
        <p:nvSpPr>
          <p:cNvPr id="20" name="矢印: 五方向 19">
            <a:extLst>
              <a:ext uri="{FF2B5EF4-FFF2-40B4-BE49-F238E27FC236}">
                <a16:creationId xmlns:a16="http://schemas.microsoft.com/office/drawing/2014/main" id="{6BAB4254-18A2-339A-7BF6-162522AA7084}"/>
              </a:ext>
            </a:extLst>
          </p:cNvPr>
          <p:cNvSpPr/>
          <p:nvPr/>
        </p:nvSpPr>
        <p:spPr>
          <a:xfrm>
            <a:off x="4150542" y="5345368"/>
            <a:ext cx="1462475" cy="121128"/>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採用採用</a:t>
            </a:r>
            <a:r>
              <a:rPr kumimoji="1" lang="en-US" altLang="ja-JP" sz="800" dirty="0"/>
              <a:t>/</a:t>
            </a:r>
            <a:r>
              <a:rPr kumimoji="1" lang="ja-JP" altLang="en-US" sz="800" dirty="0"/>
              <a:t>教育</a:t>
            </a:r>
          </a:p>
        </p:txBody>
      </p:sp>
      <p:sp>
        <p:nvSpPr>
          <p:cNvPr id="22" name="矢印: 五方向 21">
            <a:extLst>
              <a:ext uri="{FF2B5EF4-FFF2-40B4-BE49-F238E27FC236}">
                <a16:creationId xmlns:a16="http://schemas.microsoft.com/office/drawing/2014/main" id="{1C303D11-D7F2-AEE3-C49B-637E293DCD82}"/>
              </a:ext>
            </a:extLst>
          </p:cNvPr>
          <p:cNvSpPr/>
          <p:nvPr/>
        </p:nvSpPr>
        <p:spPr>
          <a:xfrm>
            <a:off x="4150539" y="5872524"/>
            <a:ext cx="4420021" cy="141572"/>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研修等による業務スキルの習得</a:t>
            </a:r>
          </a:p>
        </p:txBody>
      </p:sp>
      <p:sp>
        <p:nvSpPr>
          <p:cNvPr id="23" name="正方形/長方形 22">
            <a:extLst>
              <a:ext uri="{FF2B5EF4-FFF2-40B4-BE49-F238E27FC236}">
                <a16:creationId xmlns:a16="http://schemas.microsoft.com/office/drawing/2014/main" id="{C32D5BA9-75F8-DCCC-A1E6-E5BE0C5C7953}"/>
              </a:ext>
            </a:extLst>
          </p:cNvPr>
          <p:cNvSpPr/>
          <p:nvPr/>
        </p:nvSpPr>
        <p:spPr>
          <a:xfrm>
            <a:off x="4136934" y="3424346"/>
            <a:ext cx="4425106" cy="2861151"/>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五方向 8">
            <a:extLst>
              <a:ext uri="{FF2B5EF4-FFF2-40B4-BE49-F238E27FC236}">
                <a16:creationId xmlns:a16="http://schemas.microsoft.com/office/drawing/2014/main" id="{DD7732FC-A3C1-5D8C-F368-00350AFE88C3}"/>
              </a:ext>
            </a:extLst>
          </p:cNvPr>
          <p:cNvSpPr/>
          <p:nvPr/>
        </p:nvSpPr>
        <p:spPr>
          <a:xfrm>
            <a:off x="7116609" y="4294016"/>
            <a:ext cx="1463690" cy="126746"/>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案件拡大</a:t>
            </a:r>
          </a:p>
        </p:txBody>
      </p:sp>
      <p:sp>
        <p:nvSpPr>
          <p:cNvPr id="11" name="テキスト ボックス 10">
            <a:extLst>
              <a:ext uri="{FF2B5EF4-FFF2-40B4-BE49-F238E27FC236}">
                <a16:creationId xmlns:a16="http://schemas.microsoft.com/office/drawing/2014/main" id="{C0C05FBD-1CDB-069F-16A8-0C722E4DA2D2}"/>
              </a:ext>
            </a:extLst>
          </p:cNvPr>
          <p:cNvSpPr txBox="1"/>
          <p:nvPr/>
        </p:nvSpPr>
        <p:spPr>
          <a:xfrm>
            <a:off x="552103" y="862742"/>
            <a:ext cx="8034261" cy="2554545"/>
          </a:xfrm>
          <a:prstGeom prst="rect">
            <a:avLst/>
          </a:prstGeom>
          <a:noFill/>
          <a:ln>
            <a:solidFill>
              <a:schemeClr val="tx1"/>
            </a:solidFill>
          </a:ln>
        </p:spPr>
        <p:txBody>
          <a:bodyPr wrap="square" rtlCol="0">
            <a:spAutoFit/>
          </a:bodyPr>
          <a:lstStyle/>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■売上拡大</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・ＫＫ原子力発電所の実績から、</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「１Ｆ原子力発電所」</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の新規顧客の獲得は今年度に実施済</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  みのため、</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２０２６年度以降も継続して案件を獲得</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する。</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・新規顧客の獲得は</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営業部門と協力して提案活動</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を行っていくことで案件を獲得する。</a:t>
            </a: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・既存顧客についても</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潜在的なニーズを引き出して取引を拡大</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することで案件を獲得する。</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■中堅層の育成・確報</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・業務負荷を軽減して育成余力を創出し、勉強会等を開いて若手社員を育成する。</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  高度なスキルを保有したプロフェッショナルとすることで</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外注に頼らず内製で業務遂行し、スキルを</a:t>
            </a:r>
            <a:endParaRPr lang="en-US" altLang="ja-JP" sz="1600" b="1" u="sng"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  </a:t>
            </a:r>
            <a:r>
              <a:rPr lang="ja-JP" altLang="en-US" sz="1600" b="1" u="sng" dirty="0">
                <a:latin typeface="Yu Gothic UI" panose="020B0500000000000000" pitchFamily="50" charset="-128"/>
                <a:ea typeface="Yu Gothic UI" panose="020B0500000000000000" pitchFamily="50" charset="-128"/>
                <a:cs typeface="Meiryo UI" panose="020B0604030504040204" pitchFamily="50" charset="-128"/>
              </a:rPr>
              <a:t>蓄積</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できる環境を整備する。</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p:txBody>
      </p:sp>
      <p:sp>
        <p:nvSpPr>
          <p:cNvPr id="21" name="矢印: 五方向 20">
            <a:extLst>
              <a:ext uri="{FF2B5EF4-FFF2-40B4-BE49-F238E27FC236}">
                <a16:creationId xmlns:a16="http://schemas.microsoft.com/office/drawing/2014/main" id="{108B9328-8B77-1610-F645-901F1D5E78FC}"/>
              </a:ext>
            </a:extLst>
          </p:cNvPr>
          <p:cNvSpPr/>
          <p:nvPr/>
        </p:nvSpPr>
        <p:spPr>
          <a:xfrm>
            <a:off x="5633689" y="4299141"/>
            <a:ext cx="1463251" cy="126746"/>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システム開発</a:t>
            </a:r>
          </a:p>
        </p:txBody>
      </p:sp>
      <p:sp>
        <p:nvSpPr>
          <p:cNvPr id="26" name="矢印: 五方向 25">
            <a:extLst>
              <a:ext uri="{FF2B5EF4-FFF2-40B4-BE49-F238E27FC236}">
                <a16:creationId xmlns:a16="http://schemas.microsoft.com/office/drawing/2014/main" id="{99EF3F54-7AF5-F396-EE7C-EDB188CD50DC}"/>
              </a:ext>
            </a:extLst>
          </p:cNvPr>
          <p:cNvSpPr/>
          <p:nvPr/>
        </p:nvSpPr>
        <p:spPr>
          <a:xfrm>
            <a:off x="5628821" y="5345368"/>
            <a:ext cx="1462475" cy="121128"/>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業務移管</a:t>
            </a:r>
          </a:p>
        </p:txBody>
      </p:sp>
      <p:sp>
        <p:nvSpPr>
          <p:cNvPr id="27" name="矢印: 五方向 26">
            <a:extLst>
              <a:ext uri="{FF2B5EF4-FFF2-40B4-BE49-F238E27FC236}">
                <a16:creationId xmlns:a16="http://schemas.microsoft.com/office/drawing/2014/main" id="{8C636887-F570-6D04-D4D2-28AA9FE83D7D}"/>
              </a:ext>
            </a:extLst>
          </p:cNvPr>
          <p:cNvSpPr/>
          <p:nvPr/>
        </p:nvSpPr>
        <p:spPr>
          <a:xfrm>
            <a:off x="7116609" y="5344302"/>
            <a:ext cx="1453952" cy="121128"/>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社員化</a:t>
            </a:r>
          </a:p>
        </p:txBody>
      </p:sp>
      <p:sp>
        <p:nvSpPr>
          <p:cNvPr id="28" name="矢印: 五方向 27">
            <a:extLst>
              <a:ext uri="{FF2B5EF4-FFF2-40B4-BE49-F238E27FC236}">
                <a16:creationId xmlns:a16="http://schemas.microsoft.com/office/drawing/2014/main" id="{692ABB9C-581C-3A9E-EA9A-7A028E992B3A}"/>
              </a:ext>
            </a:extLst>
          </p:cNvPr>
          <p:cNvSpPr/>
          <p:nvPr/>
        </p:nvSpPr>
        <p:spPr>
          <a:xfrm>
            <a:off x="4145458" y="6066385"/>
            <a:ext cx="4420021" cy="135490"/>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プロジェクトメンバーへの参画</a:t>
            </a:r>
            <a:r>
              <a:rPr kumimoji="1" lang="en-US" altLang="ja-JP" sz="800" dirty="0"/>
              <a:t>/</a:t>
            </a:r>
            <a:r>
              <a:rPr kumimoji="1" lang="ja-JP" altLang="en-US" sz="800" dirty="0"/>
              <a:t>教育</a:t>
            </a:r>
          </a:p>
        </p:txBody>
      </p:sp>
      <p:sp>
        <p:nvSpPr>
          <p:cNvPr id="41" name="矢印: 五方向 40">
            <a:extLst>
              <a:ext uri="{FF2B5EF4-FFF2-40B4-BE49-F238E27FC236}">
                <a16:creationId xmlns:a16="http://schemas.microsoft.com/office/drawing/2014/main" id="{5AE2B804-B058-C989-9E7A-52C9697D908B}"/>
              </a:ext>
            </a:extLst>
          </p:cNvPr>
          <p:cNvSpPr/>
          <p:nvPr/>
        </p:nvSpPr>
        <p:spPr>
          <a:xfrm>
            <a:off x="4170016" y="4818803"/>
            <a:ext cx="1463462" cy="121127"/>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提案活動</a:t>
            </a:r>
          </a:p>
        </p:txBody>
      </p:sp>
      <p:sp>
        <p:nvSpPr>
          <p:cNvPr id="42" name="矢印: 五方向 41">
            <a:extLst>
              <a:ext uri="{FF2B5EF4-FFF2-40B4-BE49-F238E27FC236}">
                <a16:creationId xmlns:a16="http://schemas.microsoft.com/office/drawing/2014/main" id="{6A277D1C-F324-840E-7899-40D48C1F5110}"/>
              </a:ext>
            </a:extLst>
          </p:cNvPr>
          <p:cNvSpPr/>
          <p:nvPr/>
        </p:nvSpPr>
        <p:spPr>
          <a:xfrm>
            <a:off x="7116838" y="4813678"/>
            <a:ext cx="1473199" cy="123905"/>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案件拡大</a:t>
            </a:r>
          </a:p>
        </p:txBody>
      </p:sp>
      <p:sp>
        <p:nvSpPr>
          <p:cNvPr id="43" name="矢印: 五方向 42">
            <a:extLst>
              <a:ext uri="{FF2B5EF4-FFF2-40B4-BE49-F238E27FC236}">
                <a16:creationId xmlns:a16="http://schemas.microsoft.com/office/drawing/2014/main" id="{82BA3CEB-C601-0A12-EE51-BEEC930B622C}"/>
              </a:ext>
            </a:extLst>
          </p:cNvPr>
          <p:cNvSpPr/>
          <p:nvPr/>
        </p:nvSpPr>
        <p:spPr>
          <a:xfrm>
            <a:off x="5643427" y="4818803"/>
            <a:ext cx="1463251" cy="123905"/>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システム開発</a:t>
            </a:r>
          </a:p>
        </p:txBody>
      </p:sp>
      <p:sp>
        <p:nvSpPr>
          <p:cNvPr id="45" name="矢印: 五方向 44">
            <a:extLst>
              <a:ext uri="{FF2B5EF4-FFF2-40B4-BE49-F238E27FC236}">
                <a16:creationId xmlns:a16="http://schemas.microsoft.com/office/drawing/2014/main" id="{BB4C8BD7-DEEE-A33A-53D3-7BE5B11EA82D}"/>
              </a:ext>
            </a:extLst>
          </p:cNvPr>
          <p:cNvSpPr/>
          <p:nvPr/>
        </p:nvSpPr>
        <p:spPr>
          <a:xfrm>
            <a:off x="5633478" y="4479334"/>
            <a:ext cx="1463462" cy="123905"/>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提案活動</a:t>
            </a:r>
          </a:p>
        </p:txBody>
      </p:sp>
      <p:sp>
        <p:nvSpPr>
          <p:cNvPr id="46" name="矢印: 五方向 45">
            <a:extLst>
              <a:ext uri="{FF2B5EF4-FFF2-40B4-BE49-F238E27FC236}">
                <a16:creationId xmlns:a16="http://schemas.microsoft.com/office/drawing/2014/main" id="{14324300-A805-B5D3-BE52-0EF3CFE202C6}"/>
              </a:ext>
            </a:extLst>
          </p:cNvPr>
          <p:cNvSpPr/>
          <p:nvPr/>
        </p:nvSpPr>
        <p:spPr>
          <a:xfrm>
            <a:off x="7116609" y="4479335"/>
            <a:ext cx="1468560" cy="126746"/>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システム開発</a:t>
            </a:r>
          </a:p>
        </p:txBody>
      </p:sp>
      <p:sp>
        <p:nvSpPr>
          <p:cNvPr id="47" name="矢印: 五方向 46">
            <a:extLst>
              <a:ext uri="{FF2B5EF4-FFF2-40B4-BE49-F238E27FC236}">
                <a16:creationId xmlns:a16="http://schemas.microsoft.com/office/drawing/2014/main" id="{A5083BDA-57CD-C6A1-AAE1-372C02DAF356}"/>
              </a:ext>
            </a:extLst>
          </p:cNvPr>
          <p:cNvSpPr/>
          <p:nvPr/>
        </p:nvSpPr>
        <p:spPr>
          <a:xfrm>
            <a:off x="7116609" y="4662521"/>
            <a:ext cx="1463462" cy="123905"/>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提案活動</a:t>
            </a:r>
          </a:p>
        </p:txBody>
      </p:sp>
      <p:sp>
        <p:nvSpPr>
          <p:cNvPr id="49" name="矢印: 五方向 48">
            <a:extLst>
              <a:ext uri="{FF2B5EF4-FFF2-40B4-BE49-F238E27FC236}">
                <a16:creationId xmlns:a16="http://schemas.microsoft.com/office/drawing/2014/main" id="{3D5B5DE4-BB21-AA59-443B-88E7A1158D12}"/>
              </a:ext>
            </a:extLst>
          </p:cNvPr>
          <p:cNvSpPr/>
          <p:nvPr/>
        </p:nvSpPr>
        <p:spPr>
          <a:xfrm>
            <a:off x="5633478" y="4993209"/>
            <a:ext cx="1463462" cy="123905"/>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提案活動</a:t>
            </a:r>
          </a:p>
        </p:txBody>
      </p:sp>
      <p:sp>
        <p:nvSpPr>
          <p:cNvPr id="50" name="矢印: 五方向 49">
            <a:extLst>
              <a:ext uri="{FF2B5EF4-FFF2-40B4-BE49-F238E27FC236}">
                <a16:creationId xmlns:a16="http://schemas.microsoft.com/office/drawing/2014/main" id="{0A1E8689-6C71-2BD9-231E-6BDA92AFA175}"/>
              </a:ext>
            </a:extLst>
          </p:cNvPr>
          <p:cNvSpPr/>
          <p:nvPr/>
        </p:nvSpPr>
        <p:spPr>
          <a:xfrm>
            <a:off x="7116609" y="4993210"/>
            <a:ext cx="1468560" cy="126746"/>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システム開発</a:t>
            </a:r>
          </a:p>
        </p:txBody>
      </p:sp>
      <p:sp>
        <p:nvSpPr>
          <p:cNvPr id="51" name="矢印: 五方向 50">
            <a:extLst>
              <a:ext uri="{FF2B5EF4-FFF2-40B4-BE49-F238E27FC236}">
                <a16:creationId xmlns:a16="http://schemas.microsoft.com/office/drawing/2014/main" id="{4846B3D3-6991-07F0-7070-63436ACE2DAC}"/>
              </a:ext>
            </a:extLst>
          </p:cNvPr>
          <p:cNvSpPr/>
          <p:nvPr/>
        </p:nvSpPr>
        <p:spPr>
          <a:xfrm>
            <a:off x="7116609" y="5176396"/>
            <a:ext cx="1463462" cy="123905"/>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提案活動</a:t>
            </a:r>
          </a:p>
        </p:txBody>
      </p:sp>
      <p:sp>
        <p:nvSpPr>
          <p:cNvPr id="52" name="矢印: 五方向 51">
            <a:extLst>
              <a:ext uri="{FF2B5EF4-FFF2-40B4-BE49-F238E27FC236}">
                <a16:creationId xmlns:a16="http://schemas.microsoft.com/office/drawing/2014/main" id="{75E40E0E-D9C5-650D-6279-181D44C8D99B}"/>
              </a:ext>
            </a:extLst>
          </p:cNvPr>
          <p:cNvSpPr/>
          <p:nvPr/>
        </p:nvSpPr>
        <p:spPr>
          <a:xfrm>
            <a:off x="4145458" y="5660854"/>
            <a:ext cx="4425105" cy="121128"/>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シニア活用</a:t>
            </a:r>
          </a:p>
        </p:txBody>
      </p:sp>
      <p:sp>
        <p:nvSpPr>
          <p:cNvPr id="53" name="矢印: 五方向 52">
            <a:extLst>
              <a:ext uri="{FF2B5EF4-FFF2-40B4-BE49-F238E27FC236}">
                <a16:creationId xmlns:a16="http://schemas.microsoft.com/office/drawing/2014/main" id="{C26677C4-BEDE-C6B3-063E-5626AA853DC5}"/>
              </a:ext>
            </a:extLst>
          </p:cNvPr>
          <p:cNvSpPr/>
          <p:nvPr/>
        </p:nvSpPr>
        <p:spPr>
          <a:xfrm>
            <a:off x="5628821" y="5504687"/>
            <a:ext cx="1462475" cy="121128"/>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採用採用</a:t>
            </a:r>
            <a:r>
              <a:rPr kumimoji="1" lang="en-US" altLang="ja-JP" sz="800" dirty="0"/>
              <a:t>/</a:t>
            </a:r>
            <a:r>
              <a:rPr kumimoji="1" lang="ja-JP" altLang="en-US" sz="800" dirty="0"/>
              <a:t>教育</a:t>
            </a:r>
          </a:p>
        </p:txBody>
      </p:sp>
      <p:sp>
        <p:nvSpPr>
          <p:cNvPr id="54" name="矢印: 五方向 53">
            <a:extLst>
              <a:ext uri="{FF2B5EF4-FFF2-40B4-BE49-F238E27FC236}">
                <a16:creationId xmlns:a16="http://schemas.microsoft.com/office/drawing/2014/main" id="{62303BB8-725F-3759-F490-8F20E0C1B83B}"/>
              </a:ext>
            </a:extLst>
          </p:cNvPr>
          <p:cNvSpPr/>
          <p:nvPr/>
        </p:nvSpPr>
        <p:spPr>
          <a:xfrm>
            <a:off x="7107100" y="5504687"/>
            <a:ext cx="1462475" cy="121128"/>
          </a:xfrm>
          <a:prstGeom prst="homePlate">
            <a:avLst>
              <a:gd name="adj" fmla="val 18345"/>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業務移管</a:t>
            </a:r>
          </a:p>
        </p:txBody>
      </p:sp>
    </p:spTree>
    <p:extLst>
      <p:ext uri="{BB962C8B-B14F-4D97-AF65-F5344CB8AC3E}">
        <p14:creationId xmlns:p14="http://schemas.microsoft.com/office/powerpoint/2010/main" val="2813933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FDD22-E276-D2FA-9C05-817EFDDCA5B2}"/>
            </a:ext>
          </a:extLst>
        </p:cNvPr>
        <p:cNvGrpSpPr/>
        <p:nvPr/>
      </p:nvGrpSpPr>
      <p:grpSpPr>
        <a:xfrm>
          <a:off x="0" y="0"/>
          <a:ext cx="0" cy="0"/>
          <a:chOff x="0" y="0"/>
          <a:chExt cx="0" cy="0"/>
        </a:xfrm>
      </p:grpSpPr>
      <p:sp>
        <p:nvSpPr>
          <p:cNvPr id="40" name="テキスト ボックス 39">
            <a:extLst>
              <a:ext uri="{FF2B5EF4-FFF2-40B4-BE49-F238E27FC236}">
                <a16:creationId xmlns:a16="http://schemas.microsoft.com/office/drawing/2014/main" id="{4FCE5C5A-2C30-FE07-A2D5-5C50AD2381BC}"/>
              </a:ext>
            </a:extLst>
          </p:cNvPr>
          <p:cNvSpPr txBox="1"/>
          <p:nvPr/>
        </p:nvSpPr>
        <p:spPr>
          <a:xfrm>
            <a:off x="552102" y="3115928"/>
            <a:ext cx="8034261" cy="3046988"/>
          </a:xfrm>
          <a:prstGeom prst="rect">
            <a:avLst/>
          </a:prstGeom>
          <a:noFill/>
          <a:ln>
            <a:solidFill>
              <a:schemeClr val="tx1"/>
            </a:solidFill>
          </a:ln>
        </p:spPr>
        <p:txBody>
          <a:bodyPr wrap="square" rtlCol="0">
            <a:spAutoFit/>
          </a:bodyPr>
          <a:lstStyle/>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p:txBody>
      </p:sp>
      <p:sp>
        <p:nvSpPr>
          <p:cNvPr id="4" name="スライド番号プレースホルダー 3">
            <a:extLst>
              <a:ext uri="{FF2B5EF4-FFF2-40B4-BE49-F238E27FC236}">
                <a16:creationId xmlns:a16="http://schemas.microsoft.com/office/drawing/2014/main" id="{CD54FEFF-B487-A8D7-718F-7F3FF5FB5A78}"/>
              </a:ext>
            </a:extLst>
          </p:cNvPr>
          <p:cNvSpPr>
            <a:spLocks noGrp="1"/>
          </p:cNvSpPr>
          <p:nvPr>
            <p:ph type="sldNum" sz="quarter" idx="12"/>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9F4BC05-462B-4F19-BE6B-A1043C81AA78}" type="slidenum">
              <a:rPr kumimoji="0" lang="en-GB" sz="800" b="1" i="0" u="none" strike="noStrike" kern="1200" cap="none" spc="0" normalizeH="0" baseline="0" noProof="0" smtClean="0">
                <a:ln>
                  <a:noFill/>
                </a:ln>
                <a:solidFill>
                  <a:prstClr val="black"/>
                </a:solidFill>
                <a:effectLst/>
                <a:uLnTx/>
                <a:uFillTx/>
                <a:latin typeface="+mj-lt"/>
                <a:ea typeface="Yu Gothic UI" panose="020B0500000000000000" pitchFamily="50" charset="-128"/>
              </a:rPr>
              <a:pPr marL="0" marR="0" lvl="0" indent="0" algn="l" defTabSz="457200" rtl="0" eaLnBrk="1" fontAlgn="auto" latinLnBrk="0" hangingPunct="1">
                <a:lnSpc>
                  <a:spcPct val="100000"/>
                </a:lnSpc>
                <a:spcBef>
                  <a:spcPts val="0"/>
                </a:spcBef>
                <a:spcAft>
                  <a:spcPts val="0"/>
                </a:spcAft>
                <a:buClrTx/>
                <a:buSzTx/>
                <a:buFontTx/>
                <a:buNone/>
                <a:tabLst/>
                <a:defRPr/>
              </a:pPr>
              <a:t>9</a:t>
            </a:fld>
            <a:endParaRPr kumimoji="0" lang="en-GB" sz="800" b="1" i="0" u="none" strike="noStrike" kern="1200" cap="none" spc="0" normalizeH="0" baseline="0" noProof="0" dirty="0">
              <a:ln>
                <a:noFill/>
              </a:ln>
              <a:solidFill>
                <a:prstClr val="black"/>
              </a:solidFill>
              <a:effectLst/>
              <a:uLnTx/>
              <a:uFillTx/>
              <a:latin typeface="+mj-lt"/>
              <a:ea typeface="Yu Gothic UI" panose="020B0500000000000000" pitchFamily="50" charset="-128"/>
            </a:endParaRPr>
          </a:p>
        </p:txBody>
      </p:sp>
      <p:sp>
        <p:nvSpPr>
          <p:cNvPr id="36" name="テキスト プレースホルダー 4">
            <a:extLst>
              <a:ext uri="{FF2B5EF4-FFF2-40B4-BE49-F238E27FC236}">
                <a16:creationId xmlns:a16="http://schemas.microsoft.com/office/drawing/2014/main" id="{021F5B96-63DF-16E3-62EE-98290E17F4FD}"/>
              </a:ext>
            </a:extLst>
          </p:cNvPr>
          <p:cNvSpPr>
            <a:spLocks noGrp="1"/>
          </p:cNvSpPr>
          <p:nvPr>
            <p:ph type="body" sz="half" idx="2"/>
          </p:nvPr>
        </p:nvSpPr>
        <p:spPr>
          <a:xfrm>
            <a:off x="463550" y="260617"/>
            <a:ext cx="4339456" cy="373115"/>
          </a:xfrm>
        </p:spPr>
        <p:txBody>
          <a:bodyPr/>
          <a:lstStyle/>
          <a:p>
            <a:r>
              <a:rPr kumimoji="1" lang="ja-JP" altLang="en-US" sz="1800" dirty="0">
                <a:latin typeface="Yu Gothic UI" panose="020B0500000000000000" pitchFamily="50" charset="-128"/>
                <a:ea typeface="Yu Gothic UI" panose="020B0500000000000000" pitchFamily="50" charset="-128"/>
              </a:rPr>
              <a:t>７．振り返りと今後の目標</a:t>
            </a:r>
            <a:endParaRPr kumimoji="1" lang="en-US" altLang="ja-JP" sz="1800" dirty="0">
              <a:latin typeface="Yu Gothic UI" panose="020B0500000000000000" pitchFamily="50" charset="-128"/>
              <a:ea typeface="Yu Gothic UI" panose="020B0500000000000000" pitchFamily="50" charset="-128"/>
            </a:endParaRPr>
          </a:p>
        </p:txBody>
      </p:sp>
      <p:sp>
        <p:nvSpPr>
          <p:cNvPr id="19" name="テキスト ボックス 18">
            <a:extLst>
              <a:ext uri="{FF2B5EF4-FFF2-40B4-BE49-F238E27FC236}">
                <a16:creationId xmlns:a16="http://schemas.microsoft.com/office/drawing/2014/main" id="{14487B09-2FAC-ACE8-4E79-AC32813195A8}"/>
              </a:ext>
            </a:extLst>
          </p:cNvPr>
          <p:cNvSpPr txBox="1"/>
          <p:nvPr/>
        </p:nvSpPr>
        <p:spPr>
          <a:xfrm>
            <a:off x="552103" y="862742"/>
            <a:ext cx="8034261" cy="1077218"/>
          </a:xfrm>
          <a:prstGeom prst="rect">
            <a:avLst/>
          </a:prstGeom>
          <a:noFill/>
          <a:ln>
            <a:solidFill>
              <a:schemeClr val="tx1"/>
            </a:solidFill>
          </a:ln>
        </p:spPr>
        <p:txBody>
          <a:bodyPr wrap="square" rtlCol="0">
            <a:spAutoFit/>
          </a:bodyPr>
          <a:lstStyle/>
          <a:p>
            <a:r>
              <a:rPr lang="en-US" altLang="ja-JP" sz="1600" dirty="0">
                <a:latin typeface="Yu Gothic UI" panose="020B0500000000000000" pitchFamily="50" charset="-128"/>
                <a:ea typeface="Yu Gothic UI" panose="020B0500000000000000" pitchFamily="50" charset="-128"/>
                <a:cs typeface="Meiryo UI" panose="020B0604030504040204" pitchFamily="50" charset="-128"/>
              </a:rPr>
              <a:t>GLOBIS</a:t>
            </a:r>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の研修を振り返って</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今まではあまり意識をしていなかった経営についての考え方、フレームワークを学ぶことができました。</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これにより業務をより俯瞰的に見ることができるようになり、十分な根拠があるのか、顧客から見てどう感じるのか、どのような影響があるのか等、より深く考える意識が付いたと感じています。</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p:txBody>
      </p:sp>
      <p:sp>
        <p:nvSpPr>
          <p:cNvPr id="20" name="テキスト ボックス 19">
            <a:extLst>
              <a:ext uri="{FF2B5EF4-FFF2-40B4-BE49-F238E27FC236}">
                <a16:creationId xmlns:a16="http://schemas.microsoft.com/office/drawing/2014/main" id="{D5156725-DC47-55FC-B4CF-B0E73074FBF9}"/>
              </a:ext>
            </a:extLst>
          </p:cNvPr>
          <p:cNvSpPr txBox="1"/>
          <p:nvPr/>
        </p:nvSpPr>
        <p:spPr>
          <a:xfrm>
            <a:off x="552102" y="2531153"/>
            <a:ext cx="8034261" cy="584775"/>
          </a:xfrm>
          <a:prstGeom prst="rect">
            <a:avLst/>
          </a:prstGeom>
          <a:noFill/>
          <a:ln>
            <a:solidFill>
              <a:schemeClr val="tx1"/>
            </a:solidFill>
          </a:ln>
        </p:spPr>
        <p:txBody>
          <a:bodyPr wrap="square" rtlCol="0">
            <a:spAutoFit/>
          </a:bodyPr>
          <a:lstStyle/>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今後の目標</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a:p>
            <a:r>
              <a:rPr lang="ja-JP" altLang="en-US" sz="1600" dirty="0">
                <a:latin typeface="Yu Gothic UI" panose="020B0500000000000000" pitchFamily="50" charset="-128"/>
                <a:ea typeface="Yu Gothic UI" panose="020B0500000000000000" pitchFamily="50" charset="-128"/>
                <a:cs typeface="Meiryo UI" panose="020B0604030504040204" pitchFamily="50" charset="-128"/>
              </a:rPr>
              <a:t>未来を描き戦略的に行動する力を持つ人材へ成長し、組織に貢献したいと考えています。</a:t>
            </a:r>
            <a:endParaRPr lang="en-US" altLang="ja-JP" sz="1600" dirty="0">
              <a:latin typeface="Yu Gothic UI" panose="020B0500000000000000" pitchFamily="50" charset="-128"/>
              <a:ea typeface="Yu Gothic UI" panose="020B0500000000000000" pitchFamily="50" charset="-128"/>
              <a:cs typeface="Meiryo UI" panose="020B0604030504040204" pitchFamily="50" charset="-128"/>
            </a:endParaRPr>
          </a:p>
        </p:txBody>
      </p:sp>
      <p:grpSp>
        <p:nvGrpSpPr>
          <p:cNvPr id="43" name="グループ化 42">
            <a:extLst>
              <a:ext uri="{FF2B5EF4-FFF2-40B4-BE49-F238E27FC236}">
                <a16:creationId xmlns:a16="http://schemas.microsoft.com/office/drawing/2014/main" id="{17E1080A-AA17-A497-D0E2-6F6006871D21}"/>
              </a:ext>
            </a:extLst>
          </p:cNvPr>
          <p:cNvGrpSpPr/>
          <p:nvPr/>
        </p:nvGrpSpPr>
        <p:grpSpPr>
          <a:xfrm>
            <a:off x="-294565" y="3209597"/>
            <a:ext cx="8527760" cy="2859649"/>
            <a:chOff x="552102" y="3211898"/>
            <a:chExt cx="8527760" cy="2859649"/>
          </a:xfrm>
        </p:grpSpPr>
        <p:graphicFrame>
          <p:nvGraphicFramePr>
            <p:cNvPr id="24" name="図表 23">
              <a:extLst>
                <a:ext uri="{FF2B5EF4-FFF2-40B4-BE49-F238E27FC236}">
                  <a16:creationId xmlns:a16="http://schemas.microsoft.com/office/drawing/2014/main" id="{42607AED-CFF2-4161-82B1-5B75528A7455}"/>
                </a:ext>
              </a:extLst>
            </p:cNvPr>
            <p:cNvGraphicFramePr/>
            <p:nvPr>
              <p:extLst>
                <p:ext uri="{D42A27DB-BD31-4B8C-83A1-F6EECF244321}">
                  <p14:modId xmlns:p14="http://schemas.microsoft.com/office/powerpoint/2010/main" val="3819301868"/>
                </p:ext>
              </p:extLst>
            </p:nvPr>
          </p:nvGraphicFramePr>
          <p:xfrm>
            <a:off x="552102" y="3211898"/>
            <a:ext cx="8287578" cy="26547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5" name="グループ化 24">
              <a:extLst>
                <a:ext uri="{FF2B5EF4-FFF2-40B4-BE49-F238E27FC236}">
                  <a16:creationId xmlns:a16="http://schemas.microsoft.com/office/drawing/2014/main" id="{32E79D78-33E1-82E8-C576-C49F2897B5A9}"/>
                </a:ext>
              </a:extLst>
            </p:cNvPr>
            <p:cNvGrpSpPr/>
            <p:nvPr/>
          </p:nvGrpSpPr>
          <p:grpSpPr>
            <a:xfrm>
              <a:off x="2148876" y="4710925"/>
              <a:ext cx="988735" cy="652735"/>
              <a:chOff x="2060324" y="3240457"/>
              <a:chExt cx="988735" cy="853751"/>
            </a:xfrm>
            <a:solidFill>
              <a:srgbClr val="0070C0"/>
            </a:solidFill>
          </p:grpSpPr>
          <p:sp>
            <p:nvSpPr>
              <p:cNvPr id="26" name="楕円 25">
                <a:extLst>
                  <a:ext uri="{FF2B5EF4-FFF2-40B4-BE49-F238E27FC236}">
                    <a16:creationId xmlns:a16="http://schemas.microsoft.com/office/drawing/2014/main" id="{96806979-0513-B2D6-DCA2-EB8FE9AC76D5}"/>
                  </a:ext>
                </a:extLst>
              </p:cNvPr>
              <p:cNvSpPr/>
              <p:nvPr/>
            </p:nvSpPr>
            <p:spPr>
              <a:xfrm>
                <a:off x="2060324" y="3240457"/>
                <a:ext cx="988735" cy="85375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27" name="テキスト ボックス 26">
                <a:extLst>
                  <a:ext uri="{FF2B5EF4-FFF2-40B4-BE49-F238E27FC236}">
                    <a16:creationId xmlns:a16="http://schemas.microsoft.com/office/drawing/2014/main" id="{C8405703-C63F-9E8D-563D-D6393F639700}"/>
                  </a:ext>
                </a:extLst>
              </p:cNvPr>
              <p:cNvSpPr txBox="1"/>
              <p:nvPr/>
            </p:nvSpPr>
            <p:spPr>
              <a:xfrm>
                <a:off x="2126049" y="3490693"/>
                <a:ext cx="867545" cy="342175"/>
              </a:xfrm>
              <a:prstGeom prst="rect">
                <a:avLst/>
              </a:prstGeom>
              <a:grpFill/>
            </p:spPr>
            <p:txBody>
              <a:bodyPr wrap="none" rtlCol="0">
                <a:spAutoFit/>
              </a:bodyPr>
              <a:lstStyle/>
              <a:p>
                <a:pPr algn="ctr"/>
                <a:r>
                  <a:rPr kumimoji="1" lang="ja-JP" altLang="en-US" sz="1100" b="1" dirty="0">
                    <a:solidFill>
                      <a:schemeClr val="bg1"/>
                    </a:solidFill>
                  </a:rPr>
                  <a:t>現状の分析</a:t>
                </a:r>
              </a:p>
            </p:txBody>
          </p:sp>
        </p:grpSp>
        <p:grpSp>
          <p:nvGrpSpPr>
            <p:cNvPr id="28" name="グループ化 27">
              <a:extLst>
                <a:ext uri="{FF2B5EF4-FFF2-40B4-BE49-F238E27FC236}">
                  <a16:creationId xmlns:a16="http://schemas.microsoft.com/office/drawing/2014/main" id="{A0450FF1-5116-A5FB-48CF-7C4FD67482FF}"/>
                </a:ext>
              </a:extLst>
            </p:cNvPr>
            <p:cNvGrpSpPr/>
            <p:nvPr/>
          </p:nvGrpSpPr>
          <p:grpSpPr>
            <a:xfrm>
              <a:off x="3980940" y="3944741"/>
              <a:ext cx="1162417" cy="703816"/>
              <a:chOff x="3892388" y="2488539"/>
              <a:chExt cx="1162417" cy="1005880"/>
            </a:xfrm>
            <a:solidFill>
              <a:srgbClr val="0070C0"/>
            </a:solidFill>
          </p:grpSpPr>
          <p:sp>
            <p:nvSpPr>
              <p:cNvPr id="29" name="楕円 28">
                <a:extLst>
                  <a:ext uri="{FF2B5EF4-FFF2-40B4-BE49-F238E27FC236}">
                    <a16:creationId xmlns:a16="http://schemas.microsoft.com/office/drawing/2014/main" id="{CE4B4A28-D525-4B63-2D3B-F700CC738D07}"/>
                  </a:ext>
                </a:extLst>
              </p:cNvPr>
              <p:cNvSpPr/>
              <p:nvPr/>
            </p:nvSpPr>
            <p:spPr>
              <a:xfrm>
                <a:off x="3892388" y="2488539"/>
                <a:ext cx="1162417" cy="1005880"/>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solidFill>
                    <a:schemeClr val="bg1"/>
                  </a:solidFill>
                </a:endParaRPr>
              </a:p>
            </p:txBody>
          </p:sp>
          <p:sp>
            <p:nvSpPr>
              <p:cNvPr id="30" name="テキスト ボックス 29">
                <a:extLst>
                  <a:ext uri="{FF2B5EF4-FFF2-40B4-BE49-F238E27FC236}">
                    <a16:creationId xmlns:a16="http://schemas.microsoft.com/office/drawing/2014/main" id="{561B390F-C6E3-5920-66CA-E0240D560D4F}"/>
                  </a:ext>
                </a:extLst>
              </p:cNvPr>
              <p:cNvSpPr txBox="1"/>
              <p:nvPr/>
            </p:nvSpPr>
            <p:spPr>
              <a:xfrm>
                <a:off x="4016450" y="2793538"/>
                <a:ext cx="928459" cy="395882"/>
              </a:xfrm>
              <a:prstGeom prst="rect">
                <a:avLst/>
              </a:prstGeom>
              <a:grpFill/>
            </p:spPr>
            <p:txBody>
              <a:bodyPr wrap="none" rtlCol="0">
                <a:spAutoFit/>
              </a:bodyPr>
              <a:lstStyle/>
              <a:p>
                <a:pPr algn="ctr"/>
                <a:r>
                  <a:rPr kumimoji="1" lang="ja-JP" altLang="en-US" sz="1200" b="1" dirty="0">
                    <a:solidFill>
                      <a:schemeClr val="bg1"/>
                    </a:solidFill>
                  </a:rPr>
                  <a:t>戦略の策定</a:t>
                </a:r>
                <a:endParaRPr kumimoji="1" lang="en-US" altLang="ja-JP" sz="1200" b="1" dirty="0">
                  <a:solidFill>
                    <a:schemeClr val="bg1"/>
                  </a:solidFill>
                </a:endParaRPr>
              </a:p>
            </p:txBody>
          </p:sp>
        </p:grpSp>
        <p:grpSp>
          <p:nvGrpSpPr>
            <p:cNvPr id="31" name="グループ化 30">
              <a:extLst>
                <a:ext uri="{FF2B5EF4-FFF2-40B4-BE49-F238E27FC236}">
                  <a16:creationId xmlns:a16="http://schemas.microsoft.com/office/drawing/2014/main" id="{28B0765C-2A6B-5602-66E7-428A87FFC418}"/>
                </a:ext>
              </a:extLst>
            </p:cNvPr>
            <p:cNvGrpSpPr/>
            <p:nvPr/>
          </p:nvGrpSpPr>
          <p:grpSpPr>
            <a:xfrm>
              <a:off x="6104085" y="3492394"/>
              <a:ext cx="1315097" cy="887006"/>
              <a:chOff x="5972028" y="2078740"/>
              <a:chExt cx="1319669" cy="1140723"/>
            </a:xfrm>
            <a:solidFill>
              <a:srgbClr val="0070C0"/>
            </a:solidFill>
          </p:grpSpPr>
          <p:sp>
            <p:nvSpPr>
              <p:cNvPr id="32" name="楕円 31">
                <a:extLst>
                  <a:ext uri="{FF2B5EF4-FFF2-40B4-BE49-F238E27FC236}">
                    <a16:creationId xmlns:a16="http://schemas.microsoft.com/office/drawing/2014/main" id="{D48EABCB-D8BB-9945-ABF6-343035B6B114}"/>
                  </a:ext>
                </a:extLst>
              </p:cNvPr>
              <p:cNvSpPr/>
              <p:nvPr/>
            </p:nvSpPr>
            <p:spPr>
              <a:xfrm>
                <a:off x="5972028" y="2078740"/>
                <a:ext cx="1319669" cy="1140723"/>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33" name="テキスト ボックス 32">
                <a:extLst>
                  <a:ext uri="{FF2B5EF4-FFF2-40B4-BE49-F238E27FC236}">
                    <a16:creationId xmlns:a16="http://schemas.microsoft.com/office/drawing/2014/main" id="{44BBD7FB-FFFF-09E4-8E8A-274538284715}"/>
                  </a:ext>
                </a:extLst>
              </p:cNvPr>
              <p:cNvSpPr txBox="1"/>
              <p:nvPr/>
            </p:nvSpPr>
            <p:spPr>
              <a:xfrm>
                <a:off x="6160209" y="2430613"/>
                <a:ext cx="1008899" cy="327276"/>
              </a:xfrm>
              <a:prstGeom prst="rect">
                <a:avLst/>
              </a:prstGeom>
              <a:grpFill/>
            </p:spPr>
            <p:txBody>
              <a:bodyPr wrap="none" rtlCol="0">
                <a:spAutoFit/>
              </a:bodyPr>
              <a:lstStyle/>
              <a:p>
                <a:pPr algn="ctr"/>
                <a:r>
                  <a:rPr kumimoji="1" lang="ja-JP" altLang="en-US" sz="1600" b="1" dirty="0">
                    <a:solidFill>
                      <a:schemeClr val="bg1"/>
                    </a:solidFill>
                  </a:rPr>
                  <a:t>戦略実施</a:t>
                </a:r>
                <a:endParaRPr kumimoji="1" lang="en-US" altLang="ja-JP" sz="1600" b="1" dirty="0">
                  <a:solidFill>
                    <a:schemeClr val="bg1"/>
                  </a:solidFill>
                </a:endParaRPr>
              </a:p>
            </p:txBody>
          </p:sp>
        </p:grpSp>
        <p:sp>
          <p:nvSpPr>
            <p:cNvPr id="34" name="テキスト ボックス 33">
              <a:extLst>
                <a:ext uri="{FF2B5EF4-FFF2-40B4-BE49-F238E27FC236}">
                  <a16:creationId xmlns:a16="http://schemas.microsoft.com/office/drawing/2014/main" id="{A4FC09A0-FE02-49C1-3C66-ED22801006A7}"/>
                </a:ext>
              </a:extLst>
            </p:cNvPr>
            <p:cNvSpPr txBox="1"/>
            <p:nvPr/>
          </p:nvSpPr>
          <p:spPr>
            <a:xfrm>
              <a:off x="2315234" y="5363661"/>
              <a:ext cx="1492145" cy="707886"/>
            </a:xfrm>
            <a:prstGeom prst="rect">
              <a:avLst/>
            </a:prstGeom>
            <a:noFill/>
          </p:spPr>
          <p:txBody>
            <a:bodyPr wrap="square" rtlCol="0">
              <a:spAutoFit/>
            </a:bodyPr>
            <a:lstStyle/>
            <a:p>
              <a:pPr marL="171450" indent="-171450">
                <a:buFont typeface="Wingdings" panose="05000000000000000000" pitchFamily="2" charset="2"/>
                <a:buChar char="n"/>
              </a:pPr>
              <a:r>
                <a:rPr kumimoji="1" lang="en-US" altLang="ja-JP" sz="800" dirty="0"/>
                <a:t>3C</a:t>
              </a:r>
              <a:r>
                <a:rPr kumimoji="1" lang="ja-JP" altLang="en-US" sz="800" dirty="0"/>
                <a:t>分析</a:t>
              </a:r>
              <a:endParaRPr kumimoji="1" lang="en-US" altLang="ja-JP" sz="800" dirty="0"/>
            </a:p>
            <a:p>
              <a:pPr marL="171450" indent="-171450">
                <a:buFont typeface="Wingdings" panose="05000000000000000000" pitchFamily="2" charset="2"/>
                <a:buChar char="n"/>
              </a:pPr>
              <a:r>
                <a:rPr kumimoji="1" lang="en-US" altLang="ja-JP" sz="800" dirty="0"/>
                <a:t>PEST</a:t>
              </a:r>
              <a:r>
                <a:rPr kumimoji="1" lang="ja-JP" altLang="en-US" sz="800" dirty="0"/>
                <a:t>分析</a:t>
              </a:r>
              <a:endParaRPr kumimoji="1" lang="en-US" altLang="ja-JP" sz="800" dirty="0"/>
            </a:p>
            <a:p>
              <a:pPr marL="171450" indent="-171450">
                <a:buFont typeface="Wingdings" panose="05000000000000000000" pitchFamily="2" charset="2"/>
                <a:buChar char="n"/>
              </a:pPr>
              <a:r>
                <a:rPr kumimoji="1" lang="en-US" altLang="ja-JP" sz="800" dirty="0"/>
                <a:t>SWOT</a:t>
              </a:r>
              <a:r>
                <a:rPr kumimoji="1" lang="ja-JP" altLang="en-US" sz="800" dirty="0"/>
                <a:t>分析</a:t>
              </a:r>
              <a:endParaRPr kumimoji="1" lang="en-US" altLang="ja-JP" sz="800" dirty="0"/>
            </a:p>
            <a:p>
              <a:pPr marL="171450" indent="-171450">
                <a:buFont typeface="Wingdings" panose="05000000000000000000" pitchFamily="2" charset="2"/>
                <a:buChar char="n"/>
              </a:pPr>
              <a:r>
                <a:rPr kumimoji="1" lang="en-US" altLang="ja-JP" sz="800" dirty="0"/>
                <a:t>5F</a:t>
              </a:r>
              <a:r>
                <a:rPr kumimoji="1" lang="ja-JP" altLang="en-US" sz="800" dirty="0"/>
                <a:t>分析</a:t>
              </a:r>
              <a:endParaRPr kumimoji="1" lang="en-US" altLang="ja-JP" sz="800" dirty="0"/>
            </a:p>
            <a:p>
              <a:pPr marL="171450" indent="-171450">
                <a:buFont typeface="Wingdings" panose="05000000000000000000" pitchFamily="2" charset="2"/>
                <a:buChar char="n"/>
              </a:pPr>
              <a:r>
                <a:rPr kumimoji="1" lang="en-US" altLang="ja-JP" sz="800" dirty="0"/>
                <a:t>VC</a:t>
              </a:r>
              <a:r>
                <a:rPr kumimoji="1" lang="ja-JP" altLang="en-US" sz="800" dirty="0"/>
                <a:t>分析</a:t>
              </a:r>
              <a:endParaRPr kumimoji="1" lang="en-US" altLang="ja-JP" sz="800" dirty="0"/>
            </a:p>
          </p:txBody>
        </p:sp>
        <p:sp>
          <p:nvSpPr>
            <p:cNvPr id="35" name="テキスト ボックス 34">
              <a:extLst>
                <a:ext uri="{FF2B5EF4-FFF2-40B4-BE49-F238E27FC236}">
                  <a16:creationId xmlns:a16="http://schemas.microsoft.com/office/drawing/2014/main" id="{AAEDC981-A06D-5E40-B860-75A67368DBB8}"/>
                </a:ext>
              </a:extLst>
            </p:cNvPr>
            <p:cNvSpPr txBox="1"/>
            <p:nvPr/>
          </p:nvSpPr>
          <p:spPr>
            <a:xfrm>
              <a:off x="4095097" y="4710925"/>
              <a:ext cx="1048260" cy="461665"/>
            </a:xfrm>
            <a:prstGeom prst="rect">
              <a:avLst/>
            </a:prstGeom>
            <a:noFill/>
          </p:spPr>
          <p:txBody>
            <a:bodyPr wrap="square" rtlCol="0">
              <a:spAutoFit/>
            </a:bodyPr>
            <a:lstStyle/>
            <a:p>
              <a:pPr marL="171450" indent="-171450">
                <a:buFont typeface="Wingdings" panose="05000000000000000000" pitchFamily="2" charset="2"/>
                <a:buChar char="n"/>
              </a:pPr>
              <a:r>
                <a:rPr kumimoji="1" lang="ja-JP" altLang="en-US" sz="800" dirty="0"/>
                <a:t>成長戦略</a:t>
              </a:r>
              <a:endParaRPr kumimoji="1" lang="en-US" altLang="ja-JP" sz="800" dirty="0"/>
            </a:p>
            <a:p>
              <a:pPr marL="171450" indent="-171450">
                <a:buFont typeface="Wingdings" panose="05000000000000000000" pitchFamily="2" charset="2"/>
                <a:buChar char="n"/>
              </a:pPr>
              <a:r>
                <a:rPr kumimoji="1" lang="ja-JP" altLang="en-US" sz="800" dirty="0"/>
                <a:t>ポジショニング</a:t>
              </a:r>
              <a:endParaRPr kumimoji="1" lang="en-US" altLang="ja-JP" sz="800" dirty="0"/>
            </a:p>
            <a:p>
              <a:endParaRPr kumimoji="1" lang="en-US" altLang="ja-JP" sz="800" dirty="0"/>
            </a:p>
          </p:txBody>
        </p:sp>
        <p:sp>
          <p:nvSpPr>
            <p:cNvPr id="39" name="テキスト ボックス 38">
              <a:extLst>
                <a:ext uri="{FF2B5EF4-FFF2-40B4-BE49-F238E27FC236}">
                  <a16:creationId xmlns:a16="http://schemas.microsoft.com/office/drawing/2014/main" id="{961A5230-20CC-84EA-1C48-73FDB828EE2E}"/>
                </a:ext>
              </a:extLst>
            </p:cNvPr>
            <p:cNvSpPr txBox="1"/>
            <p:nvPr/>
          </p:nvSpPr>
          <p:spPr>
            <a:xfrm>
              <a:off x="6253447" y="4699214"/>
              <a:ext cx="2826415" cy="261610"/>
            </a:xfrm>
            <a:prstGeom prst="rect">
              <a:avLst/>
            </a:prstGeom>
            <a:noFill/>
          </p:spPr>
          <p:txBody>
            <a:bodyPr wrap="none" rtlCol="0">
              <a:spAutoFit/>
            </a:bodyPr>
            <a:lstStyle/>
            <a:p>
              <a:pPr algn="ctr"/>
              <a:r>
                <a:rPr kumimoji="1" lang="ja-JP" altLang="en-US" sz="1100" b="1" dirty="0">
                  <a:solidFill>
                    <a:schemeClr val="accent1"/>
                  </a:solidFill>
                </a:rPr>
                <a:t>分析から考え根拠のある戦略を策定・実施する</a:t>
              </a:r>
            </a:p>
          </p:txBody>
        </p:sp>
      </p:grpSp>
      <p:sp>
        <p:nvSpPr>
          <p:cNvPr id="41" name="楕円 40">
            <a:extLst>
              <a:ext uri="{FF2B5EF4-FFF2-40B4-BE49-F238E27FC236}">
                <a16:creationId xmlns:a16="http://schemas.microsoft.com/office/drawing/2014/main" id="{B8B79FAF-E7FA-E1AE-D1FE-AA101F5B6E0B}"/>
              </a:ext>
            </a:extLst>
          </p:cNvPr>
          <p:cNvSpPr/>
          <p:nvPr/>
        </p:nvSpPr>
        <p:spPr>
          <a:xfrm>
            <a:off x="7182144" y="3223951"/>
            <a:ext cx="1315097" cy="1134277"/>
          </a:xfrm>
          <a:prstGeom prst="ellipse">
            <a:avLst/>
          </a:prstGeom>
          <a:solidFill>
            <a:srgbClr val="0070C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chemeClr val="bg1"/>
              </a:solidFill>
            </a:endParaRPr>
          </a:p>
        </p:txBody>
      </p:sp>
      <p:sp>
        <p:nvSpPr>
          <p:cNvPr id="42" name="テキスト ボックス 41">
            <a:extLst>
              <a:ext uri="{FF2B5EF4-FFF2-40B4-BE49-F238E27FC236}">
                <a16:creationId xmlns:a16="http://schemas.microsoft.com/office/drawing/2014/main" id="{DB58DCD1-067B-8801-82BB-60D4EB2562CF}"/>
              </a:ext>
            </a:extLst>
          </p:cNvPr>
          <p:cNvSpPr txBox="1"/>
          <p:nvPr/>
        </p:nvSpPr>
        <p:spPr>
          <a:xfrm>
            <a:off x="7336990" y="3625475"/>
            <a:ext cx="1005403" cy="338554"/>
          </a:xfrm>
          <a:prstGeom prst="rect">
            <a:avLst/>
          </a:prstGeom>
          <a:solidFill>
            <a:srgbClr val="0070C0"/>
          </a:solidFill>
        </p:spPr>
        <p:txBody>
          <a:bodyPr wrap="none" rtlCol="0">
            <a:spAutoFit/>
          </a:bodyPr>
          <a:lstStyle/>
          <a:p>
            <a:pPr algn="ctr"/>
            <a:r>
              <a:rPr kumimoji="1" lang="ja-JP" altLang="en-US" sz="1600" b="1" dirty="0">
                <a:solidFill>
                  <a:schemeClr val="bg1"/>
                </a:solidFill>
              </a:rPr>
              <a:t>組織成長</a:t>
            </a:r>
            <a:endParaRPr kumimoji="1" lang="en-US" altLang="ja-JP" sz="1600" b="1" dirty="0">
              <a:solidFill>
                <a:schemeClr val="bg1"/>
              </a:solidFill>
            </a:endParaRPr>
          </a:p>
        </p:txBody>
      </p:sp>
    </p:spTree>
    <p:extLst>
      <p:ext uri="{BB962C8B-B14F-4D97-AF65-F5344CB8AC3E}">
        <p14:creationId xmlns:p14="http://schemas.microsoft.com/office/powerpoint/2010/main" val="2378212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9388914"/>
      </p:ext>
    </p:extLst>
  </p:cSld>
  <p:clrMapOvr>
    <a:masterClrMapping/>
  </p:clrMapOvr>
</p:sld>
</file>

<file path=ppt/theme/theme1.xml><?xml version="1.0" encoding="utf-8"?>
<a:theme xmlns:a="http://schemas.openxmlformats.org/drawingml/2006/main" name="HISYS Theme">
  <a:themeElements>
    <a:clrScheme name="Hitachi">
      <a:dk1>
        <a:sysClr val="windowText" lastClr="000000"/>
      </a:dk1>
      <a:lt1>
        <a:sysClr val="window" lastClr="FFFFFF"/>
      </a:lt1>
      <a:dk2>
        <a:srgbClr val="222222"/>
      </a:dk2>
      <a:lt2>
        <a:srgbClr val="CC0000"/>
      </a:lt2>
      <a:accent1>
        <a:srgbClr val="FA000F"/>
      </a:accent1>
      <a:accent2>
        <a:srgbClr val="4D4D4D"/>
      </a:accent2>
      <a:accent3>
        <a:srgbClr val="737373"/>
      </a:accent3>
      <a:accent4>
        <a:srgbClr val="B3B3B3"/>
      </a:accent4>
      <a:accent5>
        <a:srgbClr val="D9D9D9"/>
      </a:accent5>
      <a:accent6>
        <a:srgbClr val="F4F4F4"/>
      </a:accent6>
      <a:hlink>
        <a:srgbClr val="000000"/>
      </a:hlink>
      <a:folHlink>
        <a:srgbClr val="222222"/>
      </a:folHlink>
    </a:clrScheme>
    <a:fontScheme name="Hitachi Yu Gothic UI">
      <a:majorFont>
        <a:latin typeface="Yu Gothic UI"/>
        <a:ea typeface=""/>
        <a:cs typeface=""/>
      </a:majorFont>
      <a:minorFont>
        <a:latin typeface="Yu Gothic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itachi PPT Template 4x3 (Yu Gothic UI)  2025 Apr.pptx" id="{4D4D634D-BE01-4F92-8B68-1F40D9F28F44}" vid="{492D3255-D0F5-481A-9256-9C061F9343C2}"/>
    </a:ext>
  </a:extLst>
</a:theme>
</file>

<file path=ppt/theme/theme2.xml><?xml version="1.0" encoding="utf-8"?>
<a:theme xmlns:a="http://schemas.openxmlformats.org/drawingml/2006/main" name="Hitachi Theme">
  <a:themeElements>
    <a:clrScheme name="Hitachi">
      <a:dk1>
        <a:sysClr val="windowText" lastClr="000000"/>
      </a:dk1>
      <a:lt1>
        <a:sysClr val="window" lastClr="FFFFFF"/>
      </a:lt1>
      <a:dk2>
        <a:srgbClr val="222222"/>
      </a:dk2>
      <a:lt2>
        <a:srgbClr val="CC0000"/>
      </a:lt2>
      <a:accent1>
        <a:srgbClr val="FA000F"/>
      </a:accent1>
      <a:accent2>
        <a:srgbClr val="4D4D4D"/>
      </a:accent2>
      <a:accent3>
        <a:srgbClr val="737373"/>
      </a:accent3>
      <a:accent4>
        <a:srgbClr val="B3B3B3"/>
      </a:accent4>
      <a:accent5>
        <a:srgbClr val="D9D9D9"/>
      </a:accent5>
      <a:accent6>
        <a:srgbClr val="F4F4F4"/>
      </a:accent6>
      <a:hlink>
        <a:srgbClr val="000000"/>
      </a:hlink>
      <a:folHlink>
        <a:srgbClr val="222222"/>
      </a:folHlink>
    </a:clrScheme>
    <a:fontScheme name="Hitachi Yu Gothic UI">
      <a:majorFont>
        <a:latin typeface="Yu Gothic UI"/>
        <a:ea typeface=""/>
        <a:cs typeface=""/>
      </a:majorFont>
      <a:minorFont>
        <a:latin typeface="Yu Gothic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itachi PPT Template 4x3 (Yu Gothic UI)  2025 Apr.pptx" id="{4D4D634D-BE01-4F92-8B68-1F40D9F28F44}" vid="{492D3255-D0F5-481A-9256-9C061F9343C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dlc_DocId xmlns="1655773d-b758-4ea4-ac9c-d4b72e5f347d">7TXQJR5DTNMN-1399603119-267</_dlc_DocId>
    <_dlc_DocIdUrl xmlns="1655773d-b758-4ea4-ac9c-d4b72e5f347d">
      <Url>https://hitachigroup.sharepoint.com/sites/HISYS-PS_Portal/eigyou/_layouts/15/DocIdRedir.aspx?ID=7TXQJR5DTNMN-1399603119-267</Url>
      <Description>7TXQJR5DTNMN-1399603119-267</Description>
    </_dlc_DocIdUrl>
    <_x65e5__x4ed8_ xmlns="a1630142-6f6c-4ce7-a84d-f3e61da0dd16" xsi:nil="true"/>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C0F351341F56CF4089A08E4E4C9B5DE8" ma:contentTypeVersion="7" ma:contentTypeDescription="新しいドキュメントを作成します。" ma:contentTypeScope="" ma:versionID="536f3cedc9d352b235052b791ac0a50f">
  <xsd:schema xmlns:xsd="http://www.w3.org/2001/XMLSchema" xmlns:xs="http://www.w3.org/2001/XMLSchema" xmlns:p="http://schemas.microsoft.com/office/2006/metadata/properties" xmlns:ns2="1655773d-b758-4ea4-ac9c-d4b72e5f347d" xmlns:ns3="a1630142-6f6c-4ce7-a84d-f3e61da0dd16" xmlns:ns4="0994dee3-97fd-48f8-a50e-5e5c41b68531" targetNamespace="http://schemas.microsoft.com/office/2006/metadata/properties" ma:root="true" ma:fieldsID="74fe98f69ac213b9622f60d3b57e2208" ns2:_="" ns3:_="" ns4:_="">
    <xsd:import namespace="1655773d-b758-4ea4-ac9c-d4b72e5f347d"/>
    <xsd:import namespace="a1630142-6f6c-4ce7-a84d-f3e61da0dd16"/>
    <xsd:import namespace="0994dee3-97fd-48f8-a50e-5e5c41b68531"/>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element ref="ns4:SharedWithUsers" minOccurs="0"/>
                <xsd:element ref="ns4:SharedWithDetails" minOccurs="0"/>
                <xsd:element ref="ns3:_x65e5__x4ed8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655773d-b758-4ea4-ac9c-d4b72e5f347d" elementFormDefault="qualified">
    <xsd:import namespace="http://schemas.microsoft.com/office/2006/documentManagement/types"/>
    <xsd:import namespace="http://schemas.microsoft.com/office/infopath/2007/PartnerControls"/>
    <xsd:element name="_dlc_DocId" ma:index="8" nillable="true" ma:displayName="ドキュメント ID 値" ma:default="" ma:description="このアイテムに割り当てられているドキュメント ID の値です。" ma:internalName="_dlc_DocId" ma:readOnly="true">
      <xsd:simpleType>
        <xsd:restriction base="dms:Text"/>
      </xsd:simpleType>
    </xsd:element>
    <xsd:element name="_dlc_DocIdUrl" ma:index="9" nillable="true" ma:displayName="ドキュメントID:" ma:default="" ma:description="このドキュメントへの常時接続リンクです。"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fault=""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a1630142-6f6c-4ce7-a84d-f3e61da0dd1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_x65e5__x4ed8_" ma:index="17" nillable="true" ma:displayName="日付" ma:format="DateOnly" ma:internalName="_x65e5__x4ed8_">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0994dee3-97fd-48f8-a50e-5e5c41b68531" elementFormDefault="qualified">
    <xsd:import namespace="http://schemas.microsoft.com/office/2006/documentManagement/types"/>
    <xsd:import namespace="http://schemas.microsoft.com/office/infopath/2007/PartnerControls"/>
    <xsd:element name="SharedWithUsers" ma:index="15"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116F45-4EA7-4592-BEE8-1B6C5F8C5B3A}">
  <ds:schemaRefs>
    <ds:schemaRef ds:uri="c5f14c58-723a-4d1d-9da0-dd2656a86f13"/>
    <ds:schemaRef ds:uri="http://schemas.microsoft.com/office/2006/documentManagement/types"/>
    <ds:schemaRef ds:uri="http://schemas.microsoft.com/office/2006/metadata/properties"/>
    <ds:schemaRef ds:uri="643d4fed-90b1-41d1-98b9-7096c47735d4"/>
    <ds:schemaRef ds:uri="http://www.w3.org/XML/1998/namespace"/>
    <ds:schemaRef ds:uri="http://purl.org/dc/elements/1.1/"/>
    <ds:schemaRef ds:uri="http://schemas.microsoft.com/office/infopath/2007/PartnerControls"/>
    <ds:schemaRef ds:uri="http://purl.org/dc/terms/"/>
    <ds:schemaRef ds:uri="http://schemas.openxmlformats.org/package/2006/metadata/core-properties"/>
    <ds:schemaRef ds:uri="9f0163f9-01f6-45a0-8c79-f71ef48b3ea8"/>
    <ds:schemaRef ds:uri="http://purl.org/dc/dcmitype/"/>
    <ds:schemaRef ds:uri="1655773d-b758-4ea4-ac9c-d4b72e5f347d"/>
    <ds:schemaRef ds:uri="a1630142-6f6c-4ce7-a84d-f3e61da0dd16"/>
  </ds:schemaRefs>
</ds:datastoreItem>
</file>

<file path=customXml/itemProps2.xml><?xml version="1.0" encoding="utf-8"?>
<ds:datastoreItem xmlns:ds="http://schemas.openxmlformats.org/officeDocument/2006/customXml" ds:itemID="{AEBC2F50-9546-43D8-A0FD-5A09337CE2EE}">
  <ds:schemaRefs>
    <ds:schemaRef ds:uri="http://schemas.microsoft.com/sharepoint/events"/>
  </ds:schemaRefs>
</ds:datastoreItem>
</file>

<file path=customXml/itemProps3.xml><?xml version="1.0" encoding="utf-8"?>
<ds:datastoreItem xmlns:ds="http://schemas.openxmlformats.org/officeDocument/2006/customXml" ds:itemID="{518F8BFB-EA31-45F5-B29A-E77EADB758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655773d-b758-4ea4-ac9c-d4b72e5f347d"/>
    <ds:schemaRef ds:uri="a1630142-6f6c-4ce7-a84d-f3e61da0dd16"/>
    <ds:schemaRef ds:uri="0994dee3-97fd-48f8-a50e-5e5c41b685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AF71BF7-2509-41E5-95F1-A1AE0B88A699}">
  <ds:schemaRefs>
    <ds:schemaRef ds:uri="http://schemas.microsoft.com/sharepoint/v3/contenttype/forms"/>
  </ds:schemaRefs>
</ds:datastoreItem>
</file>

<file path=docMetadata/LabelInfo.xml><?xml version="1.0" encoding="utf-8"?>
<clbl:labelList xmlns:clbl="http://schemas.microsoft.com/office/2020/mipLabelMetadata">
  <clbl:label id="{abef13c3-ec84-4360-afc1-346329e5c56e}" enabled="1" method="Standard" siteId="{f54277c9-dafe-44aa-85a4-73d5c7c52450}" removed="0"/>
</clbl:labelList>
</file>

<file path=docProps/app.xml><?xml version="1.0" encoding="utf-8"?>
<Properties xmlns="http://schemas.openxmlformats.org/officeDocument/2006/extended-properties" xmlns:vt="http://schemas.openxmlformats.org/officeDocument/2006/docPropsVTypes">
  <Template/>
  <TotalTime>7394</TotalTime>
  <Words>1542</Words>
  <Application>Microsoft Office PowerPoint</Application>
  <PresentationFormat>画面に合わせる (4:3)</PresentationFormat>
  <Paragraphs>400</Paragraphs>
  <Slides>10</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10</vt:i4>
      </vt:variant>
    </vt:vector>
  </HeadingPairs>
  <TitlesOfParts>
    <vt:vector size="19" baseType="lpstr">
      <vt:lpstr>HGPｺﾞｼｯｸE</vt:lpstr>
      <vt:lpstr>Meiryo UI</vt:lpstr>
      <vt:lpstr>ＭＳ Ｐゴシック</vt:lpstr>
      <vt:lpstr>ＭＳ ゴシック</vt:lpstr>
      <vt:lpstr>Yu Gothic UI</vt:lpstr>
      <vt:lpstr>Arial</vt:lpstr>
      <vt:lpstr>Wingdings</vt:lpstr>
      <vt:lpstr>HISYS Theme</vt:lpstr>
      <vt:lpstr>Hitachi Theme</vt:lpstr>
      <vt:lpstr>運用システム先進グループの現状と課題、成長に向けた戦略について</vt:lpstr>
      <vt:lpstr>目次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運用システム先進グループの現状と課題、成長に向けた戦略について</dc:title>
  <dc:creator>Klair Clarke</dc:creator>
  <cp:lastModifiedBy>尾方哲紀 / Ogata，Tetsunori</cp:lastModifiedBy>
  <cp:revision>151</cp:revision>
  <dcterms:created xsi:type="dcterms:W3CDTF">2024-07-17T12:29:18Z</dcterms:created>
  <dcterms:modified xsi:type="dcterms:W3CDTF">2026-01-20T11:51:33Z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0x010100C0F351341F56CF4089A08E4E4C9B5DE8</vt:lpwstr>
  </property>
  <property fmtid="{D5CDD505-2E9C-101B-9397-08002B2CF9AE}" pid="3" name="MediaServiceImageTags">
    <vt:lpwstr/>
  </property>
  <property fmtid="{D5CDD505-2E9C-101B-9397-08002B2CF9AE}" pid="4" name="_dlc_DocIdItemGuid">
    <vt:lpwstr>8f75af9e-b2ce-469b-b325-4eb00a63498e</vt:lpwstr>
  </property>
</Properties>
</file>